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85455" y="0"/>
            <a:ext cx="457200" cy="6858000"/>
          </a:xfrm>
          <a:prstGeom prst="rect">
            <a:avLst/>
          </a:prstGeom>
          <a:solidFill>
            <a:srgbClr val="21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08415" y="0"/>
            <a:ext cx="457200" cy="6858000"/>
          </a:xfrm>
          <a:prstGeom prst="rect">
            <a:avLst/>
          </a:prstGeom>
          <a:solidFill>
            <a:srgbClr val="21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31375" y="0"/>
            <a:ext cx="457200" cy="6858000"/>
          </a:xfrm>
          <a:prstGeom prst="rect">
            <a:avLst/>
          </a:prstGeom>
          <a:solidFill>
            <a:srgbClr val="21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51560"/>
            <a:ext cx="1207008" cy="12070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2487168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FFFFFF"/>
                </a:solidFill>
                <a:latin typeface="Arial"/>
              </a:rPr>
              <a:t>ПВ-Система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52044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 i="0">
                <a:solidFill>
                  <a:srgbClr val="7CB8FB"/>
                </a:solidFill>
                <a:latin typeface="Arial"/>
              </a:rPr>
              <a:t>Программный комплекс расчёта вентиляции</a:t>
            </a:r>
          </a:p>
          <a:p>
            <a:pPr algn="l">
              <a:lnSpc>
                <a:spcPct val="125000"/>
              </a:lnSpc>
            </a:pPr>
            <a:r>
              <a:rPr sz="2100" b="0" i="0">
                <a:solidFill>
                  <a:srgbClr val="7CB8FB"/>
                </a:solidFill>
                <a:latin typeface="Arial"/>
              </a:rPr>
              <a:t>и противопожарной защиты рудников и шахт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617720"/>
            <a:ext cx="274320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86460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B8CAE6"/>
                </a:solidFill>
                <a:latin typeface="Arial"/>
              </a:rPr>
              <a:t>Проектирование вентсети · Планы ликвидации аварий · Расчёты для ВГСЧ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B8CAE6"/>
                </a:solidFill>
                <a:latin typeface="Arial"/>
              </a:rPr>
              <a:t>Отечественная разработка · Работа без интернета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897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ABD4"/>
                </a:solidFill>
                <a:latin typeface="Arial"/>
              </a:rPr>
              <a:t>Версия 2.121 · 2026 год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Что такое ПВ-Система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Единая среда вместо разрозненных расчётов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1F1F1F"/>
                </a:solidFill>
                <a:latin typeface="Arial"/>
              </a:rPr>
              <a:t>Комплекс объединяет вентиляционную сеть рудника, противопожарный водопровод и план ликвидации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1F1F1F"/>
                </a:solidFill>
                <a:latin typeface="Arial"/>
              </a:rPr>
              <a:t>аварий в одной модели. Изменили сечение выработки — сразу видно, как это отразилось на расходах</a:t>
            </a:r>
          </a:p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1F1F1F"/>
                </a:solidFill>
                <a:latin typeface="Arial"/>
              </a:rPr>
              <a:t>воздуха, на устойчивости проветривания при пожаре и на времени выхода людей.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487168"/>
            <a:ext cx="352044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487168"/>
            <a:ext cx="68580" cy="1783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66090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Единая модель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044952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Одна схема — все расчёты. Узлы, выработки, вентиляторы,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перемычки, трубопроводы и позиции ПЛА живут вместе.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2487168"/>
            <a:ext cx="352044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2487168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66090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Расчёты по нормативам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3044952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ФНиП № 505 и № 494, РД 15-11-2007,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методики ВНИМИ и ВостНИИ — не «примерно», а по правилам.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1583" y="2487168"/>
            <a:ext cx="352044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1583" y="2487168"/>
            <a:ext cx="68580" cy="1783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66090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Готовые документы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3044952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Таблицы воздухораспределения, акты устойчивости,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чертежи со штампом — выгрузка в Excel и на печать.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572000"/>
            <a:ext cx="3520440" cy="16002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572000"/>
            <a:ext cx="68580" cy="16002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74573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Работает офлайн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5129784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Настольная версия считает на рабочем месте.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Интернет не нужен — важно для режимных объектов.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4572000"/>
            <a:ext cx="3520440" cy="16002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34256" y="4572000"/>
            <a:ext cx="68580" cy="16002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26864" y="474573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Российский продукт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6864" y="5129784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Разработка в РФ, серверы в РФ, СУБД PostgreSQL.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Без иностранных сервисов и шрифтов.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01583" y="4572000"/>
            <a:ext cx="3520440" cy="16002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01583" y="4572000"/>
            <a:ext cx="68580" cy="16002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94192" y="474573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Понятный интерфейс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5129784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Привычная лента вкладок как в офисных программах.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Обучение специалиста — 5 дней.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Назначение комплекса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Какие задачи закрывает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От проекта вентиляции до действий горноспасателей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4859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5344" y="14859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делает ПВ-Система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30384" y="14859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Кому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19431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Проектирование вентиляции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5344" y="19431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Сетевой расчёт воздухораспределения, подбор вентиляторов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0384" y="19431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331720"/>
            <a:ext cx="11064240" cy="4572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24003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Нормирование воздуха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4003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Потребность по людям, технике, газам, пыли — ФНиП № 505 п.155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30384" y="24003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28575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Депрессионная съёмка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5344" y="28575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Ввод замеров, сверка модели с фактом, поиск расхождений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0384" y="28575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246120"/>
            <a:ext cx="11064240" cy="4572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33147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План ликвидации аварий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95344" y="33147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Позиции ПЛА, вентрежимы, реверсирование, маршруты выхода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0384" y="33147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 + ВГСЧ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37719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Пожар в выработке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37719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Мощность очага, тепловая депрессия, газы, задымление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30384" y="37719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 + ВГСЧ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160520"/>
            <a:ext cx="11064240" cy="4572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42291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Устойчивость проветривания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95344" y="42291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Проверка опрокидывания струи, акт устойчивости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42291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 + ВГСЧ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" y="46863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Взрывные явления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5344" y="46863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Зоны поражения ударной волной по газу и по массе ВВ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46863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ВГСЧ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5074920"/>
            <a:ext cx="11064240" cy="4572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51435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Действия отделений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95344" y="51435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Время хода, расход кислорода ИДА, выбор базы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0384" y="51435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ВГСЧ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" y="56007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Противопожарный водопровод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95344" y="5600700"/>
            <a:ext cx="58521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Проверка напора и расхода на каждом пожарном кране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0384" y="56007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Рудник + ВГСЧ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Область применения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Сетевой расчёт воздухораспределения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Ядро комплекса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53312"/>
            <a:ext cx="6675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Расчёт ведётся методом контурных расходов с итерациями по Ньютону. Программа сама находит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независимые контуры сети и доводит решение до заданной точности по расходу и депрессии.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12848"/>
            <a:ext cx="6675120" cy="402336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281428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получаем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3824" y="2281428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По каждому элементу сети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683764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Расход воздуха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63824" y="2683764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м³/с и м³/мин в каждой выработке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017520"/>
            <a:ext cx="6675120" cy="402336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3086100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Скорость воздуха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3824" y="3086100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сверка с максимально допустимой по типу выработки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3488436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Депрессия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3824" y="3488436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перепад на выработке, на вентсооружении, полный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822191"/>
            <a:ext cx="6675120" cy="402336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890772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Сопротивление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63824" y="3890772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трению и местное, коэффициент 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4293108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Давление в узлах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3824" y="4293108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абсолютное и доля напора вентилятора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626864"/>
            <a:ext cx="6675120" cy="402336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695444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Направление струи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63824" y="4695444"/>
            <a:ext cx="40233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 подсветкой опрокинутых ветвей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43800" y="1353312"/>
            <a:ext cx="4087368" cy="20574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543800" y="1353312"/>
            <a:ext cx="68580" cy="205740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36408" y="1527048"/>
            <a:ext cx="358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Естественная тяга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36408" y="1911095"/>
            <a:ext cx="358444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Учитывается разность плотностей воздуха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по высоте: температура, влажность,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барометрическое давление.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3800" y="3566160"/>
            <a:ext cx="4087368" cy="214884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543800" y="3566160"/>
            <a:ext cx="68580" cy="21488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36408" y="3739896"/>
            <a:ext cx="358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Контроль сходимости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36408" y="4123944"/>
            <a:ext cx="358444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Если сеть не сошлась или разорвана —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программа прямо укажет узел с дисбалансом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вентилятор вне паспортной зоны,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а не выдаст молча неверный результат.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029200"/>
            <a:ext cx="667512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5230368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Расчётное ядро вынесено отдельно и работает как на сервере, так и локально</a:t>
            </a:r>
          </a:p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на компьютере пользователя — схемы в сотни узлов и ветвей считаются штатно.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Расчёт вентиляционной сети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Схема рудника: пять видов одной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План, фронт, профиль, изометрия, 3D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371600"/>
            <a:ext cx="2121408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68580" cy="1783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545336"/>
            <a:ext cx="161848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План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1929384"/>
            <a:ext cx="161848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Вид сверху — привычная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вентиляционная схема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98064" y="1371600"/>
            <a:ext cx="2121408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98064" y="1371600"/>
            <a:ext cx="68580" cy="1783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90672" y="1545336"/>
            <a:ext cx="161848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Фронт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0672" y="1929384"/>
            <a:ext cx="161848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Вертикальный разрез: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видно горизонты и стволы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1371600"/>
            <a:ext cx="2121408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0" y="1371600"/>
            <a:ext cx="68580" cy="1783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21808" y="1545336"/>
            <a:ext cx="161848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Профиль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8" y="1929384"/>
            <a:ext cx="161848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Разрез вдоль другой оси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для протяжённых участков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0336" y="1371600"/>
            <a:ext cx="2121408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60336" y="1371600"/>
            <a:ext cx="68580" cy="1783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2944" y="1545336"/>
            <a:ext cx="161848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Изометрия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2944" y="1929384"/>
            <a:ext cx="161848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Косоугольная проекция —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как в горной графике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91472" y="1371600"/>
            <a:ext cx="2121408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91472" y="137160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0" y="1545336"/>
            <a:ext cx="161848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3D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1929384"/>
            <a:ext cx="161848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Полноценная трёхмерная</a:t>
            </a:r>
          </a:p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модель с вращением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42900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Инструменты работы со схемой</a:t>
            </a:r>
          </a:p>
        </p:txBody>
      </p:sp>
      <p:sp>
        <p:nvSpPr>
          <p:cNvPr id="29" name="Oval 28"/>
          <p:cNvSpPr/>
          <p:nvPr/>
        </p:nvSpPr>
        <p:spPr>
          <a:xfrm>
            <a:off x="566928" y="3977640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3877056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Индикаторы прямо на схеме: расход, скорость, депрессия, сечение, концентрации газов</a:t>
            </a:r>
          </a:p>
        </p:txBody>
      </p:sp>
      <p:sp>
        <p:nvSpPr>
          <p:cNvPr id="31" name="Oval 30"/>
          <p:cNvSpPr/>
          <p:nvPr/>
        </p:nvSpPr>
        <p:spPr>
          <a:xfrm>
            <a:off x="566928" y="4379976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4279392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Анимация движения воздуха — направление струй видно без чтения таблиц</a:t>
            </a:r>
          </a:p>
        </p:txBody>
      </p:sp>
      <p:sp>
        <p:nvSpPr>
          <p:cNvPr id="33" name="Oval 32"/>
          <p:cNvSpPr/>
          <p:nvPr/>
        </p:nvSpPr>
        <p:spPr>
          <a:xfrm>
            <a:off x="566928" y="4782312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681728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Заливка выработок по значению: где узко, где превышена скорость, где загазовано</a:t>
            </a:r>
          </a:p>
        </p:txBody>
      </p:sp>
      <p:sp>
        <p:nvSpPr>
          <p:cNvPr id="35" name="Oval 34"/>
          <p:cNvSpPr/>
          <p:nvPr/>
        </p:nvSpPr>
        <p:spPr>
          <a:xfrm>
            <a:off x="566928" y="5184648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5084064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Горизонты как слои: включаются и отключаются по отдельности</a:t>
            </a:r>
          </a:p>
        </p:txBody>
      </p:sp>
      <p:sp>
        <p:nvSpPr>
          <p:cNvPr id="37" name="Oval 36"/>
          <p:cNvSpPr/>
          <p:nvPr/>
        </p:nvSpPr>
        <p:spPr>
          <a:xfrm>
            <a:off x="566928" y="5586984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5486400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Условные обозначения по горной графике, текстовые блоки и выноски</a:t>
            </a:r>
          </a:p>
        </p:txBody>
      </p:sp>
      <p:sp>
        <p:nvSpPr>
          <p:cNvPr id="39" name="Oval 38"/>
          <p:cNvSpPr/>
          <p:nvPr/>
        </p:nvSpPr>
        <p:spPr>
          <a:xfrm>
            <a:off x="566928" y="5989320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" y="5888736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Масштабирование от 1:100 до 1:10000, привязка к листу при печати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Работа со схемой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Расчёт количества воздуха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ФНиП № 505, пункт 155 — позабойный расчёт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Потребность считается по каждому фактору отдельно, в зачёт идёт наибольшее значение —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именно так, как требуют Правила безопасности. Расчёт ведётся позабойно с суммированием по участкам.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57400"/>
            <a:ext cx="6309360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12598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Фактор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4" y="212598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Основание расчёта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53746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людям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253746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6 м³/мин на человека, наибольшее число в смену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880360"/>
            <a:ext cx="6309360" cy="411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94894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газовыделению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704" y="294894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метан, углекислый газ — по фактическому выделению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336042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взрывным работам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6704" y="336042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масса и тип ВВ, время проветривания забоя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703320"/>
            <a:ext cx="6309360" cy="411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77190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дизельной технике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6704" y="377190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мощность двигателей и норма на киловатт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418338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пыли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418338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допустимая скорость воздуха в выработке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526280"/>
            <a:ext cx="6309360" cy="411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594860"/>
            <a:ext cx="2468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минимальной скорости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46704" y="459486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нижний предел скорости струи по типу выработки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2057400"/>
            <a:ext cx="4453128" cy="146304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8040" y="2057400"/>
            <a:ext cx="68580" cy="146304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70648" y="2231136"/>
            <a:ext cx="3950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Коэффициенты запаса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70648" y="2615184"/>
            <a:ext cx="39502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ФНиП требует обоснованных коэффициентов запаса —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они задаются явно и попадают в отчёт,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чтобы расчёт можно было защитить.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78040" y="3657600"/>
            <a:ext cx="4453128" cy="14173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78040" y="3657600"/>
            <a:ext cx="68580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70648" y="3831336"/>
            <a:ext cx="3950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Вентиляционные участки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70648" y="4215384"/>
            <a:ext cx="39502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Рудник делится на участки со своими нормами.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Программа сверяет норму с фактическим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расходом из сетевого расчёта.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78040" y="5212080"/>
            <a:ext cx="4453128" cy="11430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78040" y="5212080"/>
            <a:ext cx="68580" cy="1143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70648" y="5385816"/>
            <a:ext cx="3950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Выгрузка в Excel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70648" y="5769864"/>
            <a:ext cx="3950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Готовая таблица расчёта потребности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 раскладкой по факторам и участкам.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Нормирование воздуха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Вентиляторы и вентиляционные сооружения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Подбор, режимы, регулирование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3A6B"/>
                </a:solidFill>
                <a:latin typeface="Arial"/>
              </a:rPr>
              <a:t>Вентиляторы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1856231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55648"/>
            <a:ext cx="524865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Три категории: главного проветривания, вспомогательные и местного проветривания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331720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231136"/>
            <a:ext cx="524865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Паспортные характеристики Q-H: рабочая точка находится пересечением с кривой сети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2807208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706624"/>
            <a:ext cx="524865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Предупреждение, если вентилятор вышел за пределы паспортной зоны</a:t>
            </a:r>
          </a:p>
        </p:txBody>
      </p:sp>
      <p:sp>
        <p:nvSpPr>
          <p:cNvPr id="15" name="Oval 14"/>
          <p:cNvSpPr/>
          <p:nvPr/>
        </p:nvSpPr>
        <p:spPr>
          <a:xfrm>
            <a:off x="566928" y="3282696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182112"/>
            <a:ext cx="524865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Реверсирование струи для аварийных режимов</a:t>
            </a:r>
          </a:p>
        </p:txBody>
      </p:sp>
      <p:sp>
        <p:nvSpPr>
          <p:cNvPr id="17" name="Oval 16"/>
          <p:cNvSpPr/>
          <p:nvPr/>
        </p:nvSpPr>
        <p:spPr>
          <a:xfrm>
            <a:off x="566928" y="3758184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657600"/>
            <a:ext cx="524865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Диаграмма Q-H с выгрузкой в Excel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32588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3A6B"/>
                </a:solidFill>
                <a:latin typeface="Arial"/>
              </a:rPr>
              <a:t>Вентиляционные сооружения</a:t>
            </a:r>
          </a:p>
        </p:txBody>
      </p:sp>
      <p:sp>
        <p:nvSpPr>
          <p:cNvPr id="20" name="Oval 19"/>
          <p:cNvSpPr/>
          <p:nvPr/>
        </p:nvSpPr>
        <p:spPr>
          <a:xfrm>
            <a:off x="6355080" y="1856231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92824" y="1755648"/>
            <a:ext cx="506577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Перемычки: глухие, с дверями, с регулируемым окном, паруса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2331720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92824" y="2231136"/>
            <a:ext cx="506577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Сопротивление считается по типу и по воздухопроницаемости</a:t>
            </a:r>
          </a:p>
        </p:txBody>
      </p:sp>
      <p:sp>
        <p:nvSpPr>
          <p:cNvPr id="24" name="Oval 23"/>
          <p:cNvSpPr/>
          <p:nvPr/>
        </p:nvSpPr>
        <p:spPr>
          <a:xfrm>
            <a:off x="6355080" y="2807208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92824" y="2706624"/>
            <a:ext cx="506577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Регуляторы: подбор окна под нужный расход в выработке</a:t>
            </a:r>
          </a:p>
        </p:txBody>
      </p:sp>
      <p:sp>
        <p:nvSpPr>
          <p:cNvPr id="26" name="Oval 25"/>
          <p:cNvSpPr/>
          <p:nvPr/>
        </p:nvSpPr>
        <p:spPr>
          <a:xfrm>
            <a:off x="6355080" y="3282696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92824" y="3182112"/>
            <a:ext cx="506577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Кроссинги, шлюзы и замерные станции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3758184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92824" y="3657600"/>
            <a:ext cx="506577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Водоподпорные перемычки с признаком непроходимости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25196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3A6B"/>
                </a:solidFill>
                <a:latin typeface="Arial"/>
              </a:rPr>
              <a:t>Вентиляционные трубопроводы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4681728"/>
            <a:ext cx="3520440" cy="15087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681728"/>
            <a:ext cx="68580" cy="15087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485546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3A6B"/>
                </a:solidFill>
                <a:latin typeface="Arial"/>
              </a:rPr>
              <a:t>Расчёт става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5239512"/>
            <a:ext cx="301752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Диаметр, длина, число звеньев,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местные сопротивления и фасонные части.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34256" y="4681728"/>
            <a:ext cx="3520440" cy="15087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34256" y="4681728"/>
            <a:ext cx="68580" cy="15087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26864" y="485546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3A6B"/>
                </a:solidFill>
                <a:latin typeface="Arial"/>
              </a:rPr>
              <a:t>Утечки по таблицам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6864" y="5239512"/>
            <a:ext cx="301752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Коэффициент доставки воздуха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по типу трубы и качеству стыков.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01583" y="4681728"/>
            <a:ext cx="3520440" cy="15087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01583" y="4681728"/>
            <a:ext cx="68580" cy="15087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94192" y="485546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3A6B"/>
                </a:solidFill>
                <a:latin typeface="Arial"/>
              </a:rPr>
              <a:t>Отчёт по вентпроводу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4192" y="5239512"/>
            <a:ext cx="301752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Готовый документ с подбором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вентилятора местного проветривания.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Оборудование вентиляции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Расчёт пожара в горной выработке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Методики ВНИМИ и ИГД им. А.А. Скочинского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Программа моделирует очаг, считает мощность и температуру, распространяет продукты горения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по сети строго вниз по потоку и показывает, куда пойдёт дым.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6766560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03454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Этап расчёта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8144" y="203454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Результат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44602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Горючая нагрузка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8144" y="244602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техника, кабель, конвейерная лента, крепь, ГСМ, уголь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788920"/>
            <a:ext cx="6766560" cy="411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8575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Мощность пожара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8144" y="285750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МВт — из теплоты сгорания и интенсивности выгорания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326898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Температура продуктов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8144" y="32689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°C в очаге и остывание по длине выработки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611880"/>
            <a:ext cx="6766560" cy="411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68046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Тепловая депрессия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38144" y="368046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Па — влияние горячего воздуха на распределение струй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409194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Продукты горения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38144" y="409194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оксид углерода, углекислый газ, оптическая плотность дыма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434840"/>
            <a:ext cx="6766560" cy="411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50342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Дальность видимости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38144" y="450342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закону Бугера — зона задымления по РД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35240" y="1965960"/>
            <a:ext cx="3995928" cy="20116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35240" y="1965960"/>
            <a:ext cx="68580" cy="2011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7848" y="2139696"/>
            <a:ext cx="34930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Опрокидывание струи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7848" y="2523744"/>
            <a:ext cx="349300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Отдельно проверяется, перевернёт ли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тепловая депрессия пожара нисходящую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струю — это ключевой вопрос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безопасности при пожаре в стволе.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35240" y="4160520"/>
            <a:ext cx="3995928" cy="1874519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635240" y="4160520"/>
            <a:ext cx="68580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7848" y="4334256"/>
            <a:ext cx="34930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Другие газы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7848" y="4718304"/>
            <a:ext cx="3493008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Помимо продуктов горения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модель разносит по сети метан,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водород, оксид углерода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оксиды азота.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Аварийные режимы: пожар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Устойчивость проветривания при пожаре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РД 15-11-2007, приложения 3, 5 и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Комплекс проверяет каждую выработку на опрокидывание струи и формирует акт — документ,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который требуется при согласовании плана ликвидации аварий.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5394960" cy="21031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68580" cy="21031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185416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A3A6B"/>
                </a:solidFill>
                <a:latin typeface="Arial"/>
              </a:rPr>
              <a:t>Нисходящие выработки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569464"/>
            <a:ext cx="4892040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Считается критическая тепловая депрессия —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тот порог, при котором струя опрокидывается.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Учитываются параллельные выработки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и их сопротивление.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2011680"/>
            <a:ext cx="5394960" cy="21031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6208" y="2011680"/>
            <a:ext cx="68580" cy="21031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2185416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A3A6B"/>
                </a:solidFill>
                <a:latin typeface="Arial"/>
              </a:rPr>
              <a:t>Восходящие выработки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569464"/>
            <a:ext cx="4892040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Проверяется условие устойчивости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через критический расход воздуха.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Если условие нарушено — программа считает,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какая перемычка нужна для сохранения режима.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Что даёт руднику и ВГСЧ</a:t>
            </a:r>
          </a:p>
        </p:txBody>
      </p:sp>
      <p:sp>
        <p:nvSpPr>
          <p:cNvPr id="18" name="Oval 17"/>
          <p:cNvSpPr/>
          <p:nvPr/>
        </p:nvSpPr>
        <p:spPr>
          <a:xfrm>
            <a:off x="566928" y="4873752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773168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Перечень выработок с риском опрокидывания — до того, как это произойдёт на самом деле</a:t>
            </a:r>
          </a:p>
        </p:txBody>
      </p:sp>
      <p:sp>
        <p:nvSpPr>
          <p:cNvPr id="20" name="Oval 19"/>
          <p:cNvSpPr/>
          <p:nvPr/>
        </p:nvSpPr>
        <p:spPr>
          <a:xfrm>
            <a:off x="566928" y="5285232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5184648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Обоснование выбранного аварийного вентиляционного режима в ПЛА</a:t>
            </a:r>
          </a:p>
        </p:txBody>
      </p:sp>
      <p:sp>
        <p:nvSpPr>
          <p:cNvPr id="22" name="Oval 21"/>
          <p:cNvSpPr/>
          <p:nvPr/>
        </p:nvSpPr>
        <p:spPr>
          <a:xfrm>
            <a:off x="566928" y="5696712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5596128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Готовый акт проверки устойчивости проветривания с выгрузкой в документ</a:t>
            </a:r>
          </a:p>
        </p:txBody>
      </p:sp>
      <p:sp>
        <p:nvSpPr>
          <p:cNvPr id="24" name="Oval 23"/>
          <p:cNvSpPr/>
          <p:nvPr/>
        </p:nvSpPr>
        <p:spPr>
          <a:xfrm>
            <a:off x="566928" y="6108192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6007608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Проверка тепловой депрессии от нескольких очагов одновременно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Устойчивость проветривания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Расчёт зон поражения при взрыве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ФНиП № 494 и методика Садовского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Источник взрыва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737360"/>
            <a:ext cx="557784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1805939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газу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8144" y="1805939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объём и концентрация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18998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Метан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8144" y="218998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предел 5,0 – 15,0 %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505456"/>
            <a:ext cx="557784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57403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Водород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8144" y="2574036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предел 4,0 – 75,0 %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295808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Угольная пыль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8144" y="2958084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60 – 400 г/м³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273551"/>
            <a:ext cx="557784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34213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 массе ВВ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38144" y="3342132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масса заряда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3726179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Аммонит, гранулит, ЭВВ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38144" y="3726179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пересчёт в тротиловый эквивалент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325880"/>
            <a:ext cx="5184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Зоны поражения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1737360"/>
            <a:ext cx="51846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46520" y="1737360"/>
            <a:ext cx="128016" cy="40233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1837943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1F1F"/>
                </a:solidFill>
                <a:latin typeface="Arial"/>
              </a:rPr>
              <a:t>Летальная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1837943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свыше 100 кПа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2194560"/>
            <a:ext cx="51846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46520" y="2194560"/>
            <a:ext cx="128016" cy="402336"/>
          </a:xfrm>
          <a:prstGeom prst="rect">
            <a:avLst/>
          </a:prstGeom>
          <a:solidFill>
            <a:srgbClr val="D95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0840" y="229514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1F1F"/>
                </a:solidFill>
                <a:latin typeface="Arial"/>
              </a:rPr>
              <a:t>Тяжёлая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2951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30 – 100 кПа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2651760"/>
            <a:ext cx="51846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46520" y="2651760"/>
            <a:ext cx="128016" cy="40233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0840" y="275234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1F1F"/>
                </a:solidFill>
                <a:latin typeface="Arial"/>
              </a:rPr>
              <a:t>Средняя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7523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15 – 30 кПа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46520" y="3108960"/>
            <a:ext cx="51846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46520" y="3108960"/>
            <a:ext cx="128016" cy="402336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20840" y="320954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1F1F"/>
                </a:solidFill>
                <a:latin typeface="Arial"/>
              </a:rPr>
              <a:t>Лёгкая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2095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5 – 15 кПа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46520" y="3566160"/>
            <a:ext cx="518464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46520" y="3566160"/>
            <a:ext cx="128016" cy="402336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20840" y="366674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1F1F"/>
                </a:solidFill>
                <a:latin typeface="Arial"/>
              </a:rPr>
              <a:t>Безопасная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3666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менее 5 кПа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20624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Что рассчитывается</a:t>
            </a:r>
          </a:p>
        </p:txBody>
      </p:sp>
      <p:sp>
        <p:nvSpPr>
          <p:cNvPr id="46" name="Oval 45"/>
          <p:cNvSpPr/>
          <p:nvPr/>
        </p:nvSpPr>
        <p:spPr>
          <a:xfrm>
            <a:off x="566928" y="474573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" y="4645152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Избыточное давление во фронте ударной волны на заданном удалении от очага</a:t>
            </a:r>
          </a:p>
        </p:txBody>
      </p:sp>
      <p:sp>
        <p:nvSpPr>
          <p:cNvPr id="48" name="Oval 47"/>
          <p:cNvSpPr/>
          <p:nvPr/>
        </p:nvSpPr>
        <p:spPr>
          <a:xfrm>
            <a:off x="566928" y="515721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4672" y="5056632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Импульс волны и скорость её фронта по выработкам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6869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4672" y="5468112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Распространение по сети выработок с учётом их геометрии, а не по прямой линии</a:t>
            </a:r>
          </a:p>
        </p:txBody>
      </p:sp>
      <p:sp>
        <p:nvSpPr>
          <p:cNvPr id="52" name="Oval 51"/>
          <p:cNvSpPr/>
          <p:nvPr/>
        </p:nvSpPr>
        <p:spPr>
          <a:xfrm>
            <a:off x="566928" y="598017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4672" y="5879592"/>
            <a:ext cx="107350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Границы зон поражения прямо на схеме рудника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Аварийные режимы: взрыв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План ликвидации аварий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Позиции, режимы, маршруты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5331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ПЛА строится не отдельным документом, а на той же расчётной модели: каждая позиция привязана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к конкретным выработкам и к своему вентиляционному режиму.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68580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1854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Позиции аварий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569464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Нумерация, тип аварии, привязка к выработкам,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выноски на схеме, цвет и оформление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по горной графике.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2011680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2011680"/>
            <a:ext cx="68580" cy="182880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1854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Вентиляционные режимы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2569464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Для каждой позиции — свой режим: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нормальный, реверсивный, с перекрытием.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Расчёт показывает, что получится.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1583" y="2011680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1583" y="2011680"/>
            <a:ext cx="68580" cy="18288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1854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Данные ОПО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2569464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Сведения об опасном производственном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объекте подставляются в документы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автоматически.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069080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069080"/>
            <a:ext cx="68580" cy="18288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2428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Маршруты выхода людей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626864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Путь до поверхности ищется по времени,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а не по расстоянию — с учётом уклонов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задымлённых участков.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4069080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34256" y="4069080"/>
            <a:ext cx="68580" cy="18288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26864" y="42428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Рабочие места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6864" y="4626864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Численность людей по узлам,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сменность, привязка к выработкам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к путям отхода.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01583" y="4069080"/>
            <a:ext cx="3520440" cy="18288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01583" y="4069080"/>
            <a:ext cx="68580" cy="18288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94192" y="42428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Проверка схемы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626864"/>
            <a:ext cx="3017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Контроль топологии, висящих узлов,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незаданных параметров —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до сдачи документа.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План ликвидации аварий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Эвакуация людей: успеют ли выйти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Проверка самоспасателей по каждому рабочему месту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Для каждого рабочего места программа сравнивает время выхода на поверхность со временем защитного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действия самоспасателя и учитывает пункты переключения на пути.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12140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2121408" cy="9144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6771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1F1F1F"/>
                </a:solidFill>
                <a:latin typeface="Arial"/>
              </a:rPr>
              <a:t>Успевают с запасом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98064" y="2011680"/>
            <a:ext cx="212140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98064" y="2011680"/>
            <a:ext cx="2121408" cy="914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80944" y="226771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1F1F1F"/>
                </a:solidFill>
                <a:latin typeface="Arial"/>
              </a:rPr>
              <a:t>Успевают впритык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2011680"/>
            <a:ext cx="212140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0" y="2011680"/>
            <a:ext cx="2121408" cy="91440"/>
          </a:xfrm>
          <a:prstGeom prst="rect">
            <a:avLst/>
          </a:prstGeom>
          <a:solidFill>
            <a:srgbClr val="D95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226771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1F1F1F"/>
                </a:solidFill>
                <a:latin typeface="Arial"/>
              </a:rPr>
              <a:t>Спасает переключение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0336" y="2011680"/>
            <a:ext cx="212140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0336" y="2011680"/>
            <a:ext cx="2121408" cy="914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43215" y="226771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1F1F1F"/>
                </a:solidFill>
                <a:latin typeface="Arial"/>
              </a:rPr>
              <a:t>Не успевают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91472" y="2011680"/>
            <a:ext cx="212140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91472" y="2011680"/>
            <a:ext cx="2121408" cy="91440"/>
          </a:xfrm>
          <a:prstGeom prst="rect">
            <a:avLst/>
          </a:prstGeom>
          <a:solidFill>
            <a:srgbClr val="5A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74351" y="2267712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 i="0">
                <a:solidFill>
                  <a:srgbClr val="1F1F1F"/>
                </a:solidFill>
                <a:latin typeface="Arial"/>
              </a:rPr>
              <a:t>Маршрут не найден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063240"/>
            <a:ext cx="5669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Справочник самоспасателей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456432"/>
            <a:ext cx="5669280" cy="3657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52501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Марка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40864" y="352501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Тип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95344" y="35250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В движении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75503" y="352501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В покое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389077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ПСС-90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40864" y="389077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сжатый O₂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95344" y="38907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90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75503" y="389077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360 мин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187952"/>
            <a:ext cx="5669280" cy="3657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" y="425653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ШСС-1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40864" y="42565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химический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95344" y="425653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60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75503" y="425653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300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" y="462229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СПП-4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40864" y="46222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химический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95344" y="462229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50 мин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75503" y="462229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200 мин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4919472"/>
            <a:ext cx="5669280" cy="3657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49880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СИП-М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40864" y="498805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сжатый O₂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95344" y="498805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60 мин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75503" y="49880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1F1F"/>
                </a:solidFill>
                <a:latin typeface="Arial"/>
              </a:rPr>
              <a:t>240 мин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7960" y="3063240"/>
            <a:ext cx="5093208" cy="123444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37960" y="3063240"/>
            <a:ext cx="68580" cy="1234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30568" y="3236976"/>
            <a:ext cx="45902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Скорости по нормативу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30568" y="3621024"/>
            <a:ext cx="45902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Скорость движения берётся из РД 15-11-2007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 учётом угла наклона выработки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плотности задымления.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37960" y="4434840"/>
            <a:ext cx="5093208" cy="123444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537960" y="4434840"/>
            <a:ext cx="68580" cy="123444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30568" y="4608576"/>
            <a:ext cx="45902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Пункты переключения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30568" y="4992624"/>
            <a:ext cx="45902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Программа проверяет, есть ли ПВП или убежище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на пути следования, и продлевает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время защиты соответственно.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53212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Итог — таблица по рабочим местам: сколько людей, куда выходят, за какое время и что нужно исправить.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Безопасность людей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7A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82880"/>
            <a:ext cx="96926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Отдельный блок для ВГСЧ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836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0B0B4"/>
                </a:solidFill>
                <a:latin typeface="Arial"/>
              </a:rPr>
              <a:t>Расчёты, которые нужны именно горноспасателям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B86066"/>
                </a:solidFill>
                <a:latin typeface="Arial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Комплекс считает движение отделений по задымлённым выработкам на основании Инструкции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по организации горноспасательных работ и РД 15-11-2007.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011680"/>
            <a:ext cx="5760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Зоны задымления и скорость хода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14016"/>
            <a:ext cx="5760720" cy="38404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48259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Зона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0944" y="2482596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Видимость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8303" y="2482596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Скорость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86664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Чистый воздух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0944" y="2866644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более 10 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8303" y="2866644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полная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182112"/>
            <a:ext cx="576072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25069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Слабое задымление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80944" y="325069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5 – 10 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3" y="325069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ниже в 1,43 раза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634740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Густое задымление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80944" y="3634740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менее 5 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18303" y="3634740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ниже в 2 раза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931920"/>
            <a:ext cx="5760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Что получает командир</a:t>
            </a:r>
          </a:p>
        </p:txBody>
      </p:sp>
      <p:sp>
        <p:nvSpPr>
          <p:cNvPr id="25" name="Oval 24"/>
          <p:cNvSpPr/>
          <p:nvPr/>
        </p:nvSpPr>
        <p:spPr>
          <a:xfrm>
            <a:off x="566928" y="4443984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343400"/>
            <a:ext cx="5522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Маршрут отделения туда и обратно по сети выработок</a:t>
            </a:r>
          </a:p>
        </p:txBody>
      </p:sp>
      <p:sp>
        <p:nvSpPr>
          <p:cNvPr id="27" name="Oval 26"/>
          <p:cNvSpPr/>
          <p:nvPr/>
        </p:nvSpPr>
        <p:spPr>
          <a:xfrm>
            <a:off x="566928" y="4846320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745736"/>
            <a:ext cx="5522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Время выполнения операции с учётом уклонов и дыма</a:t>
            </a:r>
          </a:p>
        </p:txBody>
      </p:sp>
      <p:sp>
        <p:nvSpPr>
          <p:cNvPr id="29" name="Oval 28"/>
          <p:cNvSpPr/>
          <p:nvPr/>
        </p:nvSpPr>
        <p:spPr>
          <a:xfrm>
            <a:off x="566928" y="524865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5148072"/>
            <a:ext cx="5522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Расход кислорода ИДА и процент его использования</a:t>
            </a:r>
          </a:p>
        </p:txBody>
      </p:sp>
      <p:sp>
        <p:nvSpPr>
          <p:cNvPr id="31" name="Oval 30"/>
          <p:cNvSpPr/>
          <p:nvPr/>
        </p:nvSpPr>
        <p:spPr>
          <a:xfrm>
            <a:off x="566928" y="5650992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550408"/>
            <a:ext cx="5522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Проверка проходимости перемычек на пути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29400" y="2011680"/>
            <a:ext cx="5001768" cy="15544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29400" y="2011680"/>
            <a:ext cx="68580" cy="15544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22008" y="2185416"/>
            <a:ext cx="4498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Виды операций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22008" y="2569464"/>
            <a:ext cx="44988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Разведка, разведка с возвратом,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транспортировка пострадавшего,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ликвидация очага — у каждой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свои нормативные скорости.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29400" y="3703320"/>
            <a:ext cx="5001768" cy="137160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629400" y="3703320"/>
            <a:ext cx="68580" cy="13716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22008" y="3877056"/>
            <a:ext cx="4498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Выбор базы ВГСЧ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22008" y="4261104"/>
            <a:ext cx="44988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Расчёт показывает, откуда отделение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успевает дойти до очага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 пределах защитного действия ИДА.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29400" y="5212080"/>
            <a:ext cx="5001768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629400" y="5212080"/>
            <a:ext cx="68580" cy="96012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22008" y="5385816"/>
            <a:ext cx="44988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Единая оценка дыма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22008" y="5769864"/>
            <a:ext cx="4498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Видимость считается одинаково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во всех расчётах комплекса.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Горноспасательные работы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Противопожарный водопровод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Проверка каждого пожарного крана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2588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Программа перебирает все краны сети по очереди, для каждого выполняет гидравлический расчёт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1F1F"/>
                </a:solidFill>
                <a:latin typeface="Arial"/>
              </a:rPr>
              <a:t>и сверяет полученный напор и расход с нормативом. Слабые места видно сразу.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011680"/>
            <a:ext cx="5669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Контролируемые параметры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14016"/>
            <a:ext cx="5669280" cy="38404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482596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Параметр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48259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Типовое требование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866644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Минимальный напор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86664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0,6 МПа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82112"/>
            <a:ext cx="566928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250692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Максимальный напор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325069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1,5 МПа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3634740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Расход на ствол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1024" y="363474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от 30 м³/ч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950208"/>
            <a:ext cx="566928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4018788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Длительность подачи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21024" y="401878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от 180 мин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" y="4402836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Скорость воды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21024" y="440283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до 5 м/с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718304"/>
            <a:ext cx="5669280" cy="3840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4786884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Одновременно стволов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21024" y="478688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2011680"/>
            <a:ext cx="50932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Причины отказа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255117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75704" y="2450592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Вода не дотягивается — напор ниже нормы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00837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75704" y="2907792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Давление выше нормы — порвёт рукав, нужен редуктор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346557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75704" y="3364992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Расход меньше требуемого для ствола</a:t>
            </a:r>
          </a:p>
        </p:txBody>
      </p:sp>
      <p:sp>
        <p:nvSpPr>
          <p:cNvPr id="35" name="Oval 34"/>
          <p:cNvSpPr/>
          <p:nvPr/>
        </p:nvSpPr>
        <p:spPr>
          <a:xfrm>
            <a:off x="6537960" y="392277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75704" y="3822191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Запаса резервуара не хватает на нормативное время</a:t>
            </a:r>
          </a:p>
        </p:txBody>
      </p:sp>
      <p:sp>
        <p:nvSpPr>
          <p:cNvPr id="37" name="Oval 36"/>
          <p:cNvSpPr/>
          <p:nvPr/>
        </p:nvSpPr>
        <p:spPr>
          <a:xfrm>
            <a:off x="6537960" y="4379976"/>
            <a:ext cx="91440" cy="9144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75704" y="4279392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1F1F"/>
                </a:solidFill>
                <a:latin typeface="Arial"/>
              </a:rPr>
              <a:t>Вода вообще не поступает к крану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484632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Режим «по очагу пожара»</a:t>
            </a:r>
          </a:p>
        </p:txBody>
      </p:sp>
      <p:sp>
        <p:nvSpPr>
          <p:cNvPr id="40" name="Oval 39"/>
          <p:cNvSpPr/>
          <p:nvPr/>
        </p:nvSpPr>
        <p:spPr>
          <a:xfrm>
            <a:off x="566928" y="5358384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5257800"/>
            <a:ext cx="107350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Какие краны достают до очага рукавами — по длине выработок, а не по прямой</a:t>
            </a:r>
          </a:p>
        </p:txBody>
      </p:sp>
      <p:sp>
        <p:nvSpPr>
          <p:cNvPr id="42" name="Oval 41"/>
          <p:cNvSpPr/>
          <p:nvPr/>
        </p:nvSpPr>
        <p:spPr>
          <a:xfrm>
            <a:off x="566928" y="5742432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5641848"/>
            <a:ext cx="107350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Время хода отделения ВГСЧ от базы до ближайшего крана и развёртывания рукавов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6126480"/>
            <a:ext cx="91440" cy="914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6025896"/>
            <a:ext cx="107350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Суммарный расход воды, который реально поступит на очаг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Противопожарная защита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Встроенные справочники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Не нужно искать характеристики вручную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37160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68580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54533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Типы выработок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192938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Сечения, формы, коэффициент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аэродинамического сопротивления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37160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371600"/>
            <a:ext cx="68580" cy="120700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8" y="154533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Виды крепи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8" y="192938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Коэффициент α для разных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типов крепления выработок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137160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1371600"/>
            <a:ext cx="68580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54533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Вентиляторы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192938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Паспортные характеристики Q-H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главных и местных вентиляторов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137160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1371600"/>
            <a:ext cx="68580" cy="120700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08592" y="154533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Перемычки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192938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Типы вентсооружений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и их воздухопроницаемость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269748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2697480"/>
            <a:ext cx="68580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287121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Самоспасатели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325526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Время защитного действия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в движении и в покое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269748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83280" y="2697480"/>
            <a:ext cx="68580" cy="120700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5888" y="287121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Пожарные стволы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75888" y="325526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Расход, диаметр насадки,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дальность струи, рабочее давление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9632" y="269748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99632" y="2697480"/>
            <a:ext cx="68580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287121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Насосы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25526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Секционные, консольные,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дренажные — характеристики H(Q)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15984" y="269748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15984" y="2697480"/>
            <a:ext cx="68580" cy="120700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08592" y="287121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Редукционные клапаны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08592" y="325526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Диапазон давления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и пропускная способность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402336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4023360"/>
            <a:ext cx="68580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9536" y="419709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Взрывчатые вещества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" y="458114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Тротиловый эквивалент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и параметры взрыва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83280" y="402336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383280" y="4023360"/>
            <a:ext cx="68580" cy="120700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5888" y="419709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Горючие материалы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75888" y="458114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Теплота сгорания, выход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оксида углерода и дыма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99632" y="402336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99632" y="4023360"/>
            <a:ext cx="68580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92240" y="419709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Вентиляционные трубы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58114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Утечки и коэффициент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доставки воздуха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15984" y="4023360"/>
            <a:ext cx="2697480" cy="1207008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15984" y="4023360"/>
            <a:ext cx="68580" cy="120700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08592" y="4197096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Условные обозначения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08592" y="4581144"/>
            <a:ext cx="219456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Символы схем</a:t>
            </a:r>
          </a:p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5A6372"/>
                </a:solidFill>
                <a:latin typeface="Arial"/>
              </a:rPr>
              <a:t>по горной графике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Справочная база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Импорт данных и обмен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Переход на комплекс без потери наработок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Существующие схемы не нужно перерисовывать заново — комплекс читает файлы популярных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форматов и переносит геометрию вместе с параметрами выработок.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57400"/>
            <a:ext cx="11064240" cy="5669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12598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Формат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1024" y="2125980"/>
            <a:ext cx="7955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Что переносится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692908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Проекты АэроСеть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2692908"/>
            <a:ext cx="7955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узлы с отметками, выработки, сечения, сопротивления, вентиляторы, перемычки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191256"/>
            <a:ext cx="11064240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3259836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Ventsim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3259836"/>
            <a:ext cx="7955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трёхмерная геометрия сети и параметры выработок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3826764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Чертежи DXF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3826764"/>
            <a:ext cx="7955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геометрия схемы из систем автоматизированного проектирования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325112"/>
            <a:ext cx="11064240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393692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Таблицы Excel и 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21024" y="4393692"/>
            <a:ext cx="7955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1F1F"/>
                </a:solidFill>
                <a:latin typeface="Arial"/>
              </a:rPr>
              <a:t>узлы и ветви из ведомостей и результатов замеров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66344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A3A6B"/>
                </a:solidFill>
                <a:latin typeface="Arial"/>
              </a:rPr>
              <a:t>Контроль качества переноса</a:t>
            </a:r>
          </a:p>
        </p:txBody>
      </p:sp>
      <p:sp>
        <p:nvSpPr>
          <p:cNvPr id="23" name="Oval 22"/>
          <p:cNvSpPr/>
          <p:nvPr/>
        </p:nvSpPr>
        <p:spPr>
          <a:xfrm>
            <a:off x="566928" y="5202936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102352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После импорта показывается протокол: сколько узлов, ветвей, вентиляторов и перемычек перенесено</a:t>
            </a:r>
          </a:p>
        </p:txBody>
      </p:sp>
      <p:sp>
        <p:nvSpPr>
          <p:cNvPr id="25" name="Oval 24"/>
          <p:cNvSpPr/>
          <p:nvPr/>
        </p:nvSpPr>
        <p:spPr>
          <a:xfrm>
            <a:off x="566928" y="5605272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504688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Отдельно перечисляются выработки без сечения, без длины или без периметра</a:t>
            </a:r>
          </a:p>
        </p:txBody>
      </p:sp>
      <p:sp>
        <p:nvSpPr>
          <p:cNvPr id="27" name="Oval 26"/>
          <p:cNvSpPr/>
          <p:nvPr/>
        </p:nvSpPr>
        <p:spPr>
          <a:xfrm>
            <a:off x="566928" y="6007608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907024"/>
            <a:ext cx="107350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Правила пересчёта единиц измерения выводятся явно — результат можно сверить с исходной программой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Совместимость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Документы и отчётность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Результат расчёта — готовый документ, а не только картинка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17320"/>
            <a:ext cx="3611880" cy="19659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417320"/>
            <a:ext cx="68580" cy="19659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5910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Воздухораспределение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1975104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Таблица по всем выработкам: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расход, скорость, депрессия,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сопротивление — в Excel.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17320"/>
            <a:ext cx="3611880" cy="19659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417320"/>
            <a:ext cx="68580" cy="1965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5910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Расчёт количества воздуха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975104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Потребность по факторам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по участкам с коэффициентами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запаса — в Excel.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8432" y="1417320"/>
            <a:ext cx="3611880" cy="19659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432" y="1417320"/>
            <a:ext cx="68580" cy="19659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5910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Акт устойчивости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975104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Проверка проветривания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при пожаре в виде документа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для согласования.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520439"/>
            <a:ext cx="3611880" cy="19659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520439"/>
            <a:ext cx="68580" cy="1965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69417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Проверка водопровода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4078224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Таблица по всем пожарным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кранам с указанием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проблемных точек.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3520439"/>
            <a:ext cx="3611880" cy="19659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3520439"/>
            <a:ext cx="68580" cy="19659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369417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Диаграмма Q-H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0288" y="4078224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Характеристика вентилятора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 рабочей точкой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и кривой сети.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28432" y="3520439"/>
            <a:ext cx="3611880" cy="196596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28432" y="3520439"/>
            <a:ext cx="68580" cy="1965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69417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Чертежи схемы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078224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Печать с рамкой и штампом,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масштаб, подписи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согласующих лиц.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57607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A6372"/>
                </a:solidFill>
                <a:latin typeface="Arial"/>
              </a:rPr>
              <a:t>Экспорт схемы в графические файлы и печать напрямую из настольной версии.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Выходные документы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Нормативная база расчётов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На что опирается комплекс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Каждый расчёт привязан к действующему документу — это позволяет защитить результат при проверке.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11064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74519"/>
            <a:ext cx="68580" cy="71323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93391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ФНиП № 505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956815"/>
            <a:ext cx="74066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Правила безопасности при ведении горных работ и переработке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твёрдых полезных ископаемых. Приказ Ростехнадзора от 08.12.2020.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Расчёт количества воздуха по пункту 155.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633472"/>
            <a:ext cx="1106424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633472"/>
            <a:ext cx="68580" cy="71323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52344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ФНиП № 494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715768"/>
            <a:ext cx="74066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Правила безопасности при производстве, хранении и применении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взрывчатых материалов промышленного назначения.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Расчёт зон поражения ударной волной.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392424"/>
            <a:ext cx="11064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392424"/>
            <a:ext cx="68580" cy="71323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511296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ФНиП № 467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3474720"/>
            <a:ext cx="74066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Требования для угольных шахт: инструкции по проветриванию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и контролю газового режима.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151376"/>
            <a:ext cx="1106424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151376"/>
            <a:ext cx="68580" cy="71323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27024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РД 15-11-2007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4233672"/>
            <a:ext cx="74066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Методические рекомендации по устойчивости проветривания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при пожаре. Приложения 3, 5 и 7 — основа расчёта опрокидывания.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910328"/>
            <a:ext cx="11064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910328"/>
            <a:ext cx="68580" cy="71323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0292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Методики ВНИМИ и ВостНИИ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992624"/>
            <a:ext cx="74066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Расчёт параметров пожара, тепловой депрессии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и взрывных явлений в горных выработках.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5669280"/>
            <a:ext cx="1106424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5669280"/>
            <a:ext cx="68580" cy="71323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788152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3A6B"/>
                </a:solidFill>
                <a:latin typeface="Arial"/>
              </a:rPr>
              <a:t>Инструкция по горноспасательным работам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5751576"/>
            <a:ext cx="74066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Нормативные скорости передвижения отделений</a:t>
            </a:r>
          </a:p>
          <a:p>
            <a:pPr algn="l">
              <a:lnSpc>
                <a:spcPct val="113000"/>
              </a:lnSpc>
            </a:pPr>
            <a:r>
              <a:rPr sz="1050" b="0" i="0">
                <a:solidFill>
                  <a:srgbClr val="5A6372"/>
                </a:solidFill>
                <a:latin typeface="Arial"/>
              </a:rPr>
              <a:t>и зоны задымления.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Соответствие нормативам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Отечественная разработка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Готовность к включению в реестр российского ПО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Проведён аудит исходного кода: обращения к иностранным доменам, внешним сетям доставки контента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1F1F"/>
                </a:solidFill>
                <a:latin typeface="Arial"/>
              </a:rPr>
              <a:t>и зарубежным онлайн-сервисам отсутствуют.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18541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Разработка в России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56946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Программа создана на территории РФ,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исключительное право принадлежит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российскому лицу.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01168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201168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0288" y="218541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Российский контур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256946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Вычисления, интерфейсы, файловое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хранилище и база данных размещены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на российской инфраструктуре.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28432" y="201168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2" y="201168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18541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Свободные библиотеки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56946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Сторонние компоненты распространяются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под свободными лицензиями и не создают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зависимости от иностранных правообладателей.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93192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93192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1056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PostgreSQL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48970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Система управления базами данных —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свободное программное обеспечение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с открытым исходным кодом.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93192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7680" y="393192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90288" y="41056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Шрифты в дистрибутиве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0288" y="448970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Шрифты и графика поставляются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в составе программы, внешняя загрузка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не выполняется.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28432" y="3931920"/>
            <a:ext cx="3611880" cy="17830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28432" y="3931920"/>
            <a:ext cx="68580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4105656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A3A6B"/>
                </a:solidFill>
                <a:latin typeface="Arial"/>
              </a:rPr>
              <a:t>Работа без интернета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489704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Настольная версия считает локально —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подходит для объектов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5A6372"/>
                </a:solidFill>
                <a:latin typeface="Arial"/>
              </a:rPr>
              <a:t>с ограничением доступа в сеть.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5852160"/>
            <a:ext cx="11064240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9893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A3A6B"/>
                </a:solidFill>
                <a:latin typeface="Arial"/>
              </a:rPr>
              <a:t>В комплект поставки входит справка об импортозамещении и техническая документация.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Импортозамещение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194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Поставка и внедрение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7CB8FB"/>
                </a:solidFill>
                <a:latin typeface="Arial"/>
              </a:rPr>
              <a:t>Как начать работать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31089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4A6BA0"/>
                </a:solidFill>
                <a:latin typeface="Arial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Варианты работы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783080"/>
            <a:ext cx="5486400" cy="15544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783080"/>
            <a:ext cx="68580" cy="1554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956816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Настольная версия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340864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Устанавливается на рабочее место инженера.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Расчёты выполняются локально,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постоянное подключение к сети не требуется.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429000"/>
            <a:ext cx="5486400" cy="1554480"/>
          </a:xfrm>
          <a:prstGeom prst="rect">
            <a:avLst/>
          </a:prstGeom>
          <a:solidFill>
            <a:srgbClr val="FFFFFF"/>
          </a:solidFill>
          <a:ln w="1397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429000"/>
            <a:ext cx="68580" cy="15544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602736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3A6B"/>
                </a:solidFill>
                <a:latin typeface="Arial"/>
              </a:rPr>
              <a:t>Работа в браузере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3986784"/>
            <a:ext cx="4983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Доступ с любого компьютера предприятия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без установки — удобно для</a:t>
            </a:r>
          </a:p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372"/>
                </a:solidFill>
                <a:latin typeface="Arial"/>
              </a:rPr>
              <a:t>руководства и смежных служб.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371600"/>
            <a:ext cx="5230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3A6B"/>
                </a:solidFill>
                <a:latin typeface="Arial"/>
              </a:rPr>
              <a:t>Сопровождение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0" y="1911095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810512"/>
            <a:ext cx="4992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Программа обучения специалистов — 5 дней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0" y="2414016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313432"/>
            <a:ext cx="4992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Техническая документация в комплекте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0" y="2916936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4" y="2816352"/>
            <a:ext cx="4992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Лицензирование с возможностью офлайн-активации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0" y="3419856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38544" y="3319272"/>
            <a:ext cx="4992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Встроенный механизм обновления версий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0" y="3922776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3822191"/>
            <a:ext cx="4992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Справка об импортозамещении для закупок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0" y="4425696"/>
            <a:ext cx="91440" cy="91440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8544" y="4325112"/>
            <a:ext cx="4992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1F1F"/>
                </a:solidFill>
                <a:latin typeface="Arial"/>
              </a:rPr>
              <a:t>Настройка под условия конкретного рудника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120640"/>
            <a:ext cx="11064240" cy="10515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321808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Порядок внедрения: перенос существующей схемы из АэроСети или Excel → сверка модели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с данными депрессионной съёмки → настройка справочников под предприятие → обучение специалистов.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928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A6372"/>
                </a:solidFill>
                <a:latin typeface="Arial"/>
              </a:rPr>
              <a:t>Внедрение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65615" y="6592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 i="0">
                <a:solidFill>
                  <a:srgbClr val="1A3A6B"/>
                </a:solidFill>
                <a:latin typeface="Arial"/>
              </a:rPr>
              <a:t>ПВ-Система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68580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8288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Что получает предприятие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514600"/>
            <a:ext cx="2377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Вентиляция рудника считается в одной программе —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от нормирования воздуха до аварийных режимов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План ликвидации аварий строится на расчёте,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а не на экспертной оценке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Расчёты для ВГСЧ — время хода отделений,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запас кислорода, зоны задымления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926080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Противопожарный водопровод проверяется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по каждому крану, а не выборочно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Документы формируются автоматически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и соответствуют действующим правилам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Отечественный продукт, работает офлайн,</a:t>
            </a:r>
          </a:p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D5E2F5"/>
                </a:solidFill>
                <a:latin typeface="Arial"/>
              </a:rPr>
              <a:t>подходит для режимных объектов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623560"/>
            <a:ext cx="10744200" cy="45720"/>
          </a:xfrm>
          <a:prstGeom prst="rect">
            <a:avLst/>
          </a:prstGeom>
          <a:solidFill>
            <a:srgbClr val="2E5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897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B8FB"/>
                </a:solidFill>
                <a:latin typeface="Arial"/>
              </a:rPr>
              <a:t>ПВ-Система · программный комплекс расчёта вентиляции и противопожарной защиты рудников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