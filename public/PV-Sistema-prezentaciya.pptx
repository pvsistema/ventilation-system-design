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7" r:id="rId28"/>
    <p:sldId id="278" r:id="rId29"/>
    <p:sldId id="261" r:id="rId12"/>
    <p:sldId id="262" r:id="rId13"/>
    <p:sldId id="279" r:id="rId30"/>
    <p:sldId id="263" r:id="rId14"/>
    <p:sldId id="264" r:id="rId15"/>
    <p:sldId id="265" r:id="rId16"/>
    <p:sldId id="266" r:id="rId17"/>
    <p:sldId id="267" r:id="rId18"/>
    <p:sldId id="268" r:id="rId19"/>
    <p:sldId id="280" r:id="rId31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10.xml"/><Relationship Id="rId31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85455" y="0"/>
            <a:ext cx="457200" cy="6858000"/>
          </a:xfrm>
          <a:prstGeom prst="rect">
            <a:avLst/>
          </a:prstGeom>
          <a:solidFill>
            <a:srgbClr val="21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08415" y="0"/>
            <a:ext cx="457200" cy="6858000"/>
          </a:xfrm>
          <a:prstGeom prst="rect">
            <a:avLst/>
          </a:prstGeom>
          <a:solidFill>
            <a:srgbClr val="21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31375" y="0"/>
            <a:ext cx="457200" cy="6858000"/>
          </a:xfrm>
          <a:prstGeom prst="rect">
            <a:avLst/>
          </a:prstGeom>
          <a:solidFill>
            <a:srgbClr val="21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51560"/>
            <a:ext cx="1207008" cy="1207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248716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Arial"/>
              </a:rPr>
              <a:t>ПВ-Система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7CB8FB"/>
                </a:solidFill>
                <a:latin typeface="Arial"/>
              </a:rPr>
              <a:t>Программный комплекс расчёта вентиляции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7CB8FB"/>
                </a:solidFill>
                <a:latin typeface="Arial"/>
              </a:rPr>
              <a:t>и противопожарной защиты рудников и шахт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617720"/>
            <a:ext cx="274320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86460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B8CAE6"/>
                </a:solidFill>
                <a:latin typeface="Arial"/>
              </a:rPr>
              <a:t>Проектирование вентсети · Планы ликвидации аварий · Расчёты для ВГСЧ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B8CAE6"/>
                </a:solidFill>
                <a:latin typeface="Arial"/>
              </a:rPr>
              <a:t>Отечественная разработка · Работа без интернета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978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ABD4"/>
                </a:solidFill>
                <a:latin typeface="Arial"/>
              </a:rPr>
              <a:t>Версия 2.160 · 2026 год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Что такое ПВ-Система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Единая среда вместо разрозненных расчётов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F1F1F"/>
                </a:solidFill>
                <a:latin typeface="Arial"/>
              </a:rPr>
              <a:t>Комплекс объединяет вентиляционную сеть рудника, противопожарный водопровод и план ликвидации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F1F1F"/>
                </a:solidFill>
                <a:latin typeface="Arial"/>
              </a:rPr>
              <a:t>аварий в одной модели. Изменили сечение выработки — сразу видно, как это отразилось на расходах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F1F1F"/>
                </a:solidFill>
                <a:latin typeface="Arial"/>
              </a:rPr>
              <a:t>воздуха, на устойчивости проветривания при пожаре и на времени выхода людей.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487168"/>
            <a:ext cx="352044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487168"/>
            <a:ext cx="68580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66090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Единая модель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044952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Одна схема — все расчёты. Узлы, выработки, вентиляторы,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перемычки, трубопроводы и позиции ПЛА живут вместе.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2487168"/>
            <a:ext cx="352044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2487168"/>
            <a:ext cx="68580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66090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Расчёты по нормативам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3044952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ФНиП № 505 и № 494, РД 15-11-2007,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методики ВНИМИ и ВостНИИ — не «примерно», а по правилам.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3" y="2487168"/>
            <a:ext cx="352044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2487168"/>
            <a:ext cx="68580" cy="17830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66090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Готовые документы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044952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Таблицы воздухораспределения, акты устойчивости,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чертежи со штампом — выгрузка в Excel и на печать.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572000"/>
            <a:ext cx="352044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572000"/>
            <a:ext cx="68580" cy="16002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74573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Работает офлайн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512978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Настольная версия считает на рабочем месте.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Интернет не нужен — важно для режимных объектов.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4572000"/>
            <a:ext cx="352044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4256" y="4572000"/>
            <a:ext cx="68580" cy="16002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6864" y="474573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Российский продукт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6864" y="512978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Разработка в РФ, серверы в РФ, СУБД PostgreSQL.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Без иностранных сервисов и шрифтов.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1583" y="4572000"/>
            <a:ext cx="3520440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4572000"/>
            <a:ext cx="68580" cy="16002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474573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Понятный интерфейс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512978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Привычная лента вкладок как в офисных программах.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Обучение специалиста — 5 дней.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Назначение комплекса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Какие задачи закрывает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От проекта вентиляции до действий горноспасателей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11064240" cy="4572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859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5344" y="1485900"/>
            <a:ext cx="58521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Что делает ПВ-Система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30384" y="14859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Кому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9431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Проектирование вентиляции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5344" y="1943100"/>
            <a:ext cx="58521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Сетевой расчёт воздухораспределения, подбор вентиляторов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0384" y="19431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Рудник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331720"/>
            <a:ext cx="1106424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4003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Нормирование воздуха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344" y="2400300"/>
            <a:ext cx="58521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Потребность по людям, технике, газам, пыли — ФНиП № 505 п.155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30384" y="24003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Рудник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28575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Депрессионная съёмка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5344" y="2857500"/>
            <a:ext cx="58521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Ввод замеров, сверка модели с фактом, поиск расхождений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30384" y="28575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Рудник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246120"/>
            <a:ext cx="1106424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3147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План ликвидации аварий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5344" y="3314700"/>
            <a:ext cx="58521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Позиции ПЛА, вентрежимы, реверсирование, маршруты выхода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0384" y="33147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Рудник + ВГСЧ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37719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Пожар в выработке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5344" y="3771900"/>
            <a:ext cx="58521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Мощность очага, тепловая депрессия, газы, задымление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0384" y="37719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Рудник + ВГСЧ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160520"/>
            <a:ext cx="1106424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42291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Устойчивость проветривания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95344" y="4229100"/>
            <a:ext cx="58521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Проверка опрокидывания струи, акт устойчивости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42291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Рудник + ВГСЧ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46863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Взрывные явления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95344" y="4686300"/>
            <a:ext cx="58521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Зоны поражения ударной волной по газу и по массе ВВ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46863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ВГСЧ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074920"/>
            <a:ext cx="1106424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51435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Действия отделений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95344" y="5143500"/>
            <a:ext cx="58521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Время хода, расход кислорода ИДА, выбор базы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0384" y="51435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ВГСЧ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56007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Противопожарный водопровод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95344" y="5600700"/>
            <a:ext cx="58521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Проверка напора и расхода на каждом пожарном кране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0384" y="56007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Рудник + ВГСЧ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Область применения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Сетевой расчёт воздухораспределения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Ядро комплекса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53312"/>
            <a:ext cx="6675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Расчёт ведётся методом контурных расходов с итерациями по Ньютону. Программа сама находит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независимые контуры сети и доводит решение до заданной точности по расходу и депрессии.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12848"/>
            <a:ext cx="6675120" cy="402336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281428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Что получаем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3824" y="2281428"/>
            <a:ext cx="40233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По каждому элементу сети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83764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Расход воздуха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2683764"/>
            <a:ext cx="40233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м³/с и м³/мин в каждой выработке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017520"/>
            <a:ext cx="6675120" cy="40233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086100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Скорость воздуха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3824" y="3086100"/>
            <a:ext cx="40233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сверка с максимально допустимой по типу выработки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488436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Депрессия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3488436"/>
            <a:ext cx="40233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перепад на выработке, на вентсооружении, полный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822191"/>
            <a:ext cx="6675120" cy="40233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890772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Сопротивление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3824" y="3890772"/>
            <a:ext cx="40233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по трению и местное, коэффициент 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293108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Давление в узлах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3824" y="4293108"/>
            <a:ext cx="40233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абсолютное и доля напора вентилятора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626864"/>
            <a:ext cx="6675120" cy="40233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695444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Направление струи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3824" y="4695444"/>
            <a:ext cx="40233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с подсветкой опрокинутых ветвей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1353312"/>
            <a:ext cx="4087368" cy="20574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43800" y="1353312"/>
            <a:ext cx="68580" cy="20574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1527048"/>
            <a:ext cx="358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Естественная тяга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1911095"/>
            <a:ext cx="358444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Учитывается разность плотностей воздуха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по высоте: температура, влажность,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барометрическое давление.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3566160"/>
            <a:ext cx="4087368" cy="214884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43800" y="3566160"/>
            <a:ext cx="68580" cy="21488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3739896"/>
            <a:ext cx="358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Контроль сходимости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4123944"/>
            <a:ext cx="358444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Если сеть не сошлась или разорвана —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программа прямо укажет узел с дисбалансом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и вентилятор вне паспортной зоны,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а не выдаст молча неверный результат.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029200"/>
            <a:ext cx="66751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230368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Расчётное ядро вынесено отдельно и работает как на сервере, так и локально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на компьютере пользователя — схемы в тысячи узлов и ветвей открываются и считаются штатно.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Расчёт вентиляционной сети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Схема рудника: пять видов одной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План, фронт, профиль, изометрия и объёмная модель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2121408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68580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545336"/>
            <a:ext cx="16184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3A6B"/>
                </a:solidFill>
                <a:latin typeface="Arial"/>
              </a:rPr>
              <a:t>План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29384"/>
            <a:ext cx="161848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Вид сверху — привычная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вентиляционная схема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8064" y="1371600"/>
            <a:ext cx="2121408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1371600"/>
            <a:ext cx="68580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1545336"/>
            <a:ext cx="16184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3A6B"/>
                </a:solidFill>
                <a:latin typeface="Arial"/>
              </a:rPr>
              <a:t>Фронт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1929384"/>
            <a:ext cx="161848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Вертикальный разрез: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видно горизонты и стволы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371600"/>
            <a:ext cx="2121408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371600"/>
            <a:ext cx="68580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8" y="1545336"/>
            <a:ext cx="16184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3A6B"/>
                </a:solidFill>
                <a:latin typeface="Arial"/>
              </a:rPr>
              <a:t>Профиль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1929384"/>
            <a:ext cx="161848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Разрез вдоль другой оси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для протяжённых участков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0336" y="1371600"/>
            <a:ext cx="2121408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0336" y="1371600"/>
            <a:ext cx="68580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1545336"/>
            <a:ext cx="16184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3A6B"/>
                </a:solidFill>
                <a:latin typeface="Arial"/>
              </a:rPr>
              <a:t>Изометрия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1929384"/>
            <a:ext cx="161848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Косоугольная проекция —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как в горной графике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91472" y="1371600"/>
            <a:ext cx="2121408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91472" y="1371600"/>
            <a:ext cx="68580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1545336"/>
            <a:ext cx="16184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3A6B"/>
                </a:solidFill>
                <a:latin typeface="Arial"/>
              </a:rPr>
              <a:t>3D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1929384"/>
            <a:ext cx="161848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Объёмная модель: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вращение, облёт, полупрозрачность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42900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3A6B"/>
                </a:solidFill>
                <a:latin typeface="Arial"/>
              </a:rPr>
              <a:t>Инструменты работы со схемой</a:t>
            </a:r>
          </a:p>
        </p:txBody>
      </p:sp>
      <p:sp>
        <p:nvSpPr>
          <p:cNvPr id="29" name="Oval 28"/>
          <p:cNvSpPr/>
          <p:nvPr/>
        </p:nvSpPr>
        <p:spPr>
          <a:xfrm>
            <a:off x="566928" y="397764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877056"/>
            <a:ext cx="107350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Индикаторы прямо на схеме: расход, скорость, депрессия, сечение, концентрации газов</a:t>
            </a:r>
          </a:p>
        </p:txBody>
      </p:sp>
      <p:sp>
        <p:nvSpPr>
          <p:cNvPr id="31" name="Oval 30"/>
          <p:cNvSpPr/>
          <p:nvPr/>
        </p:nvSpPr>
        <p:spPr>
          <a:xfrm>
            <a:off x="566928" y="437997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279392"/>
            <a:ext cx="107350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Анимация движения воздуха — направление струй видно и на чертеже, и в объёмной модели</a:t>
            </a:r>
          </a:p>
        </p:txBody>
      </p:sp>
      <p:sp>
        <p:nvSpPr>
          <p:cNvPr id="33" name="Oval 32"/>
          <p:cNvSpPr/>
          <p:nvPr/>
        </p:nvSpPr>
        <p:spPr>
          <a:xfrm>
            <a:off x="566928" y="478231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681728"/>
            <a:ext cx="107350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Заливка выработок по значению: где узко, где превышена скорость, где загазовано; проектируемые — пунктиром</a:t>
            </a:r>
          </a:p>
        </p:txBody>
      </p:sp>
      <p:sp>
        <p:nvSpPr>
          <p:cNvPr id="35" name="Oval 34"/>
          <p:cNvSpPr/>
          <p:nvPr/>
        </p:nvSpPr>
        <p:spPr>
          <a:xfrm>
            <a:off x="566928" y="518464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5084064"/>
            <a:ext cx="107350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Горизонты как слои: включаются и отключаются по отдельности</a:t>
            </a:r>
          </a:p>
        </p:txBody>
      </p:sp>
      <p:sp>
        <p:nvSpPr>
          <p:cNvPr id="37" name="Oval 36"/>
          <p:cNvSpPr/>
          <p:nvPr/>
        </p:nvSpPr>
        <p:spPr>
          <a:xfrm>
            <a:off x="566928" y="558698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486400"/>
            <a:ext cx="107350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Условные обозначения по горной графике — на чертеже и в объёме: перемычки, двери, регуляторы, замерные станции</a:t>
            </a:r>
          </a:p>
        </p:txBody>
      </p:sp>
      <p:sp>
        <p:nvSpPr>
          <p:cNvPr id="39" name="Oval 38"/>
          <p:cNvSpPr/>
          <p:nvPr/>
        </p:nvSpPr>
        <p:spPr>
          <a:xfrm>
            <a:off x="566928" y="598932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5888736"/>
            <a:ext cx="107350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Вентиляторы в объёме с вращением лопастей по фактическим оборотам, клик по выработке прямо в модели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Работа со схемой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Рабочий экран: схема рудника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Вертикальный разрез — стволы, горизонты, направление струй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35024"/>
            <a:ext cx="11183112" cy="4882896"/>
          </a:xfrm>
          <a:prstGeom prst="rect">
            <a:avLst/>
          </a:prstGeom>
          <a:solidFill>
            <a:srgbClr val="FFFFFF"/>
          </a:solidFill>
          <a:ln w="15240">
            <a:solidFill>
              <a:srgbClr val="D4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11183112" cy="27432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38531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ПВ-Система  —  Рудник «Северный» — гор. −320.vproj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1385316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C8D6EA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73384" y="1385316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C8D6EA"/>
                </a:solidFill>
                <a:latin typeface="Arial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29416" y="1385316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C8D6EA"/>
                </a:solidFill>
                <a:latin typeface="Arial"/>
              </a:rPr>
              <a:t>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609344"/>
            <a:ext cx="11183112" cy="274320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668780"/>
            <a:ext cx="5559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Файл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0315" y="1668780"/>
            <a:ext cx="7808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Главная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31212" y="1609344"/>
            <a:ext cx="630936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1212" y="1609344"/>
            <a:ext cx="630936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31212" y="1668780"/>
            <a:ext cx="630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Схема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2148" y="166878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Вентиляция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7988" y="1668780"/>
            <a:ext cx="7059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Аварии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3905" y="1668780"/>
            <a:ext cx="10808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Справочники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4726" y="1668780"/>
            <a:ext cx="7059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Печать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883664"/>
            <a:ext cx="1118311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502920" y="2359152"/>
            <a:ext cx="11183112" cy="0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0936" y="1965960"/>
            <a:ext cx="310896" cy="310896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" y="1965960"/>
            <a:ext cx="310896" cy="310896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99032" y="1965960"/>
            <a:ext cx="310896" cy="310896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99032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83080" y="1965960"/>
            <a:ext cx="310896" cy="310896"/>
          </a:xfrm>
          <a:prstGeom prst="roundRect">
            <a:avLst/>
          </a:prstGeom>
          <a:solidFill>
            <a:srgbClr val="5A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83080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67128" y="1965960"/>
            <a:ext cx="310896" cy="310896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67128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▦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569464" y="1956816"/>
            <a:ext cx="0" cy="329184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02920" y="2359152"/>
            <a:ext cx="1965960" cy="362102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2468880" y="2359152"/>
            <a:ext cx="0" cy="3621024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02920" y="2359152"/>
            <a:ext cx="1965960" cy="237744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2359152"/>
            <a:ext cx="45720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240030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A3A6B"/>
                </a:solidFill>
                <a:latin typeface="Arial"/>
              </a:rPr>
              <a:t>Свойства выработки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" y="2670048"/>
            <a:ext cx="1140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Наименование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84198" y="2670048"/>
            <a:ext cx="6976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F1F1F"/>
                </a:solidFill>
                <a:latin typeface="Arial"/>
              </a:rPr>
              <a:t>Квершлаг 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2894076"/>
            <a:ext cx="1140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Тип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84198" y="2894076"/>
            <a:ext cx="6976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Квершлаг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" y="3118104"/>
            <a:ext cx="1140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Сечение, м²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84198" y="3118104"/>
            <a:ext cx="6976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16,5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3342132"/>
            <a:ext cx="1140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Периметр, 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84198" y="3342132"/>
            <a:ext cx="6976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15,8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" y="3566160"/>
            <a:ext cx="1140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Длина, 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84198" y="3566160"/>
            <a:ext cx="6976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486,0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3790188"/>
            <a:ext cx="1140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Угол, 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84198" y="3790188"/>
            <a:ext cx="6976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+2,4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" y="4014216"/>
            <a:ext cx="1140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Крепь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84198" y="4014216"/>
            <a:ext cx="6976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Набрызг-бетон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" y="4238244"/>
            <a:ext cx="1140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α ×10⁻⁴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84198" y="4238244"/>
            <a:ext cx="6976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9,2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" y="4462272"/>
            <a:ext cx="1140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R, кМюрг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84198" y="4462272"/>
            <a:ext cx="6976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A3A6B"/>
                </a:solidFill>
                <a:latin typeface="Arial"/>
              </a:rPr>
              <a:t>0,0104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" y="4686300"/>
            <a:ext cx="1140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Расход, м³/с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84198" y="4686300"/>
            <a:ext cx="6976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2563EB"/>
                </a:solidFill>
                <a:latin typeface="Arial"/>
              </a:rPr>
              <a:t>64,2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" y="4910328"/>
            <a:ext cx="1140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Скорость, м/с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84198" y="4910328"/>
            <a:ext cx="6976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5803D"/>
                </a:solidFill>
                <a:latin typeface="Arial"/>
              </a:rPr>
              <a:t>3,89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" y="5134356"/>
            <a:ext cx="1140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Депрессия, Па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84198" y="5134356"/>
            <a:ext cx="6976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A3A6B"/>
                </a:solidFill>
                <a:latin typeface="Arial"/>
              </a:rPr>
              <a:t>420,5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94360" y="5376672"/>
            <a:ext cx="1783080" cy="0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12648" y="5468112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5803D"/>
                </a:solidFill>
                <a:latin typeface="Arial"/>
              </a:rPr>
              <a:t>Скорость в норме (v ≤ 8 м/с)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82912" y="2359152"/>
            <a:ext cx="2103120" cy="362102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9582912" y="2359152"/>
            <a:ext cx="0" cy="3621024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9582912" y="2359152"/>
            <a:ext cx="2103120" cy="237744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82912" y="2359152"/>
            <a:ext cx="45720" cy="23774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10928" y="2400300"/>
            <a:ext cx="192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A3A6B"/>
                </a:solidFill>
                <a:latin typeface="Arial"/>
              </a:rPr>
              <a:t>Панель информации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10928" y="2670048"/>
            <a:ext cx="13039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Узлы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119104" y="2656332"/>
            <a:ext cx="420624" cy="18288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119104" y="2683764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вкл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10928" y="2907791"/>
            <a:ext cx="13039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Ветви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1119104" y="2894075"/>
            <a:ext cx="420624" cy="18288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119104" y="2921508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вкл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10928" y="3145535"/>
            <a:ext cx="13039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Расход Q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1119104" y="3131819"/>
            <a:ext cx="420624" cy="18288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119104" y="3159251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вкл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10928" y="3383279"/>
            <a:ext cx="13039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Скорость v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1119104" y="3369563"/>
            <a:ext cx="420624" cy="182880"/>
          </a:xfrm>
          <a:prstGeom prst="roundRect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119104" y="3396995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5A6372"/>
                </a:solidFill>
                <a:latin typeface="Arial"/>
              </a:rPr>
              <a:t>выкл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10928" y="3621023"/>
            <a:ext cx="13039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Депрессия h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1119104" y="3607307"/>
            <a:ext cx="420624" cy="18288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119104" y="3634739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вкл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10928" y="3858767"/>
            <a:ext cx="13039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Перемычки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1119104" y="3845051"/>
            <a:ext cx="420624" cy="18288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119104" y="3872483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вкл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710928" y="4096511"/>
            <a:ext cx="13039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Позиции ПЛА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1119104" y="4082795"/>
            <a:ext cx="420624" cy="182880"/>
          </a:xfrm>
          <a:prstGeom prst="roundRect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119104" y="4110227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5A6372"/>
                </a:solidFill>
                <a:latin typeface="Arial"/>
              </a:rPr>
              <a:t>выкл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10928" y="4334255"/>
            <a:ext cx="13039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Стрелки потока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1119104" y="4320539"/>
            <a:ext cx="420624" cy="18288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119104" y="4347971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вкл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9674352" y="4626863"/>
            <a:ext cx="1920240" cy="0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9582912" y="4736591"/>
            <a:ext cx="2103120" cy="237744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582912" y="4736591"/>
            <a:ext cx="45720" cy="2377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10928" y="4777739"/>
            <a:ext cx="192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A3A6B"/>
                </a:solidFill>
                <a:latin typeface="Arial"/>
              </a:rPr>
              <a:t>Горизонты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10928" y="5074919"/>
            <a:ext cx="128016" cy="128016"/>
          </a:xfrm>
          <a:prstGeom prst="rect">
            <a:avLst/>
          </a:prstGeom>
          <a:solidFill>
            <a:srgbClr val="5A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12096" y="5047487"/>
            <a:ext cx="16459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Поверхность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710928" y="5294375"/>
            <a:ext cx="128016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12096" y="5266943"/>
            <a:ext cx="16459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гор. −160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710928" y="5513831"/>
            <a:ext cx="128016" cy="128016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12096" y="5486399"/>
            <a:ext cx="16459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гор. −320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10928" y="5733287"/>
            <a:ext cx="128016" cy="1280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912096" y="5705855"/>
            <a:ext cx="16459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гор. −480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692640" y="6016751"/>
            <a:ext cx="1883663" cy="384048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692640" y="6121907"/>
            <a:ext cx="18836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▷  Расчёт  (F9)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468880" y="2359152"/>
            <a:ext cx="7114032" cy="3621024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2977025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485170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993315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501460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5009605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5517750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025896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534041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042186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550331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8058476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566621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074766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468880" y="2761488"/>
            <a:ext cx="7114032" cy="0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468880" y="3163824"/>
            <a:ext cx="7114032" cy="0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468880" y="3566160"/>
            <a:ext cx="7114032" cy="0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468880" y="3968496"/>
            <a:ext cx="7114032" cy="0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68880" y="4370832"/>
            <a:ext cx="7114032" cy="0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68880" y="4773168"/>
            <a:ext cx="7114032" cy="0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468880" y="5175504"/>
            <a:ext cx="7114032" cy="0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468880" y="5577840"/>
            <a:ext cx="7114032" cy="0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578608" y="2855244"/>
            <a:ext cx="6894576" cy="0"/>
          </a:xfrm>
          <a:prstGeom prst="line">
            <a:avLst/>
          </a:prstGeom>
          <a:ln w="20320">
            <a:solidFill>
              <a:srgbClr val="8A6D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615184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877546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139908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402271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664633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926996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4189358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4451721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4714083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4976446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5238808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5501171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5763533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6025896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288258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6550620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812983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7075345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7337708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7600070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7862433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8124795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8387158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8649520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8911883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174245" y="2772948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2615184" y="256263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8A6D3B"/>
                </a:solidFill>
                <a:latin typeface="Arial"/>
              </a:rPr>
              <a:t>поверхность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3399739" y="2855244"/>
            <a:ext cx="0" cy="735299"/>
          </a:xfrm>
          <a:prstGeom prst="line">
            <a:avLst/>
          </a:prstGeom>
          <a:ln w="162991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3399739" y="2855244"/>
            <a:ext cx="0" cy="735299"/>
          </a:xfrm>
          <a:prstGeom prst="line">
            <a:avLst/>
          </a:prstGeom>
          <a:ln w="105156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Freeform 162"/>
          <p:cNvSpPr/>
          <p:nvPr/>
        </p:nvSpPr>
        <p:spPr>
          <a:xfrm>
            <a:off x="3350251" y="3051260"/>
            <a:ext cx="98975" cy="128967"/>
          </a:xfrm>
          <a:custGeom>
            <a:avLst/>
            <a:gdLst/>
            <a:ahLst/>
            <a:cxnLst/>
            <a:rect l="l" t="t" r="r" b="b"/>
            <a:pathLst>
              <a:path w="98975" h="128967">
                <a:moveTo>
                  <a:pt x="49488" y="128967"/>
                </a:moveTo>
                <a:lnTo>
                  <a:pt x="0" y="0"/>
                </a:lnTo>
                <a:lnTo>
                  <a:pt x="98975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3350251" y="3286555"/>
            <a:ext cx="98975" cy="128967"/>
          </a:xfrm>
          <a:custGeom>
            <a:avLst/>
            <a:gdLst/>
            <a:ahLst/>
            <a:cxnLst/>
            <a:rect l="l" t="t" r="r" b="b"/>
            <a:pathLst>
              <a:path w="98975" h="128967">
                <a:moveTo>
                  <a:pt x="49488" y="128967"/>
                </a:moveTo>
                <a:lnTo>
                  <a:pt x="0" y="0"/>
                </a:lnTo>
                <a:lnTo>
                  <a:pt x="98975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308299" y="3145170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118,4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3399739" y="3590543"/>
            <a:ext cx="0" cy="745237"/>
          </a:xfrm>
          <a:prstGeom prst="line">
            <a:avLst/>
          </a:prstGeom>
          <a:ln w="141732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3399739" y="3590543"/>
            <a:ext cx="0" cy="745237"/>
          </a:xfrm>
          <a:prstGeom prst="line">
            <a:avLst/>
          </a:prstGeom>
          <a:ln w="91440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Freeform 167"/>
          <p:cNvSpPr/>
          <p:nvPr/>
        </p:nvSpPr>
        <p:spPr>
          <a:xfrm>
            <a:off x="3350251" y="3789938"/>
            <a:ext cx="98975" cy="128967"/>
          </a:xfrm>
          <a:custGeom>
            <a:avLst/>
            <a:gdLst/>
            <a:ahLst/>
            <a:cxnLst/>
            <a:rect l="l" t="t" r="r" b="b"/>
            <a:pathLst>
              <a:path w="98975" h="128967">
                <a:moveTo>
                  <a:pt x="49488" y="128967"/>
                </a:moveTo>
                <a:lnTo>
                  <a:pt x="0" y="0"/>
                </a:lnTo>
                <a:lnTo>
                  <a:pt x="98975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3350251" y="4028413"/>
            <a:ext cx="98975" cy="128967"/>
          </a:xfrm>
          <a:custGeom>
            <a:avLst/>
            <a:gdLst/>
            <a:ahLst/>
            <a:cxnLst/>
            <a:rect l="l" t="t" r="r" b="b"/>
            <a:pathLst>
              <a:path w="98975" h="128967">
                <a:moveTo>
                  <a:pt x="49488" y="128967"/>
                </a:moveTo>
                <a:lnTo>
                  <a:pt x="0" y="0"/>
                </a:lnTo>
                <a:lnTo>
                  <a:pt x="98975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308299" y="3885438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74,6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3399739" y="4335780"/>
            <a:ext cx="0" cy="745236"/>
          </a:xfrm>
          <a:prstGeom prst="line">
            <a:avLst/>
          </a:prstGeom>
          <a:ln w="106298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3399739" y="4335780"/>
            <a:ext cx="0" cy="745236"/>
          </a:xfrm>
          <a:prstGeom prst="line">
            <a:avLst/>
          </a:prstGeom>
          <a:ln w="68580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Freeform 172"/>
          <p:cNvSpPr/>
          <p:nvPr/>
        </p:nvSpPr>
        <p:spPr>
          <a:xfrm>
            <a:off x="3350251" y="4535174"/>
            <a:ext cx="98975" cy="128967"/>
          </a:xfrm>
          <a:custGeom>
            <a:avLst/>
            <a:gdLst/>
            <a:ahLst/>
            <a:cxnLst/>
            <a:rect l="l" t="t" r="r" b="b"/>
            <a:pathLst>
              <a:path w="98975" h="128967">
                <a:moveTo>
                  <a:pt x="49488" y="128967"/>
                </a:moveTo>
                <a:lnTo>
                  <a:pt x="0" y="0"/>
                </a:lnTo>
                <a:lnTo>
                  <a:pt x="98975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3350251" y="4773649"/>
            <a:ext cx="98975" cy="128967"/>
          </a:xfrm>
          <a:custGeom>
            <a:avLst/>
            <a:gdLst/>
            <a:ahLst/>
            <a:cxnLst/>
            <a:rect l="l" t="t" r="r" b="b"/>
            <a:pathLst>
              <a:path w="98975" h="128967">
                <a:moveTo>
                  <a:pt x="49488" y="128967"/>
                </a:moveTo>
                <a:lnTo>
                  <a:pt x="0" y="0"/>
                </a:lnTo>
                <a:lnTo>
                  <a:pt x="98975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308299" y="4630673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36,2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3399739" y="3590543"/>
            <a:ext cx="1575694" cy="0"/>
          </a:xfrm>
          <a:prstGeom prst="line">
            <a:avLst/>
          </a:prstGeom>
          <a:ln w="120472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99739" y="3590543"/>
            <a:ext cx="1575694" cy="0"/>
          </a:xfrm>
          <a:prstGeom prst="line">
            <a:avLst/>
          </a:prstGeom>
          <a:ln w="77724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Freeform 177"/>
          <p:cNvSpPr/>
          <p:nvPr/>
        </p:nvSpPr>
        <p:spPr>
          <a:xfrm>
            <a:off x="3881489" y="3541056"/>
            <a:ext cx="128966" cy="98975"/>
          </a:xfrm>
          <a:custGeom>
            <a:avLst/>
            <a:gdLst/>
            <a:ahLst/>
            <a:cxnLst/>
            <a:rect l="l" t="t" r="r" b="b"/>
            <a:pathLst>
              <a:path w="128966" h="98975">
                <a:moveTo>
                  <a:pt x="128966" y="49487"/>
                </a:moveTo>
                <a:lnTo>
                  <a:pt x="0" y="9897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4385711" y="3541056"/>
            <a:ext cx="128967" cy="98975"/>
          </a:xfrm>
          <a:custGeom>
            <a:avLst/>
            <a:gdLst/>
            <a:ahLst/>
            <a:cxnLst/>
            <a:rect l="l" t="t" r="r" b="b"/>
            <a:pathLst>
              <a:path w="128967" h="98975">
                <a:moveTo>
                  <a:pt x="128967" y="49487"/>
                </a:moveTo>
                <a:lnTo>
                  <a:pt x="0" y="9897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913266" y="3668268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43,8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4975433" y="3590543"/>
            <a:ext cx="1707002" cy="0"/>
          </a:xfrm>
          <a:prstGeom prst="line">
            <a:avLst/>
          </a:prstGeom>
          <a:ln w="106298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4975433" y="3590543"/>
            <a:ext cx="1707002" cy="0"/>
          </a:xfrm>
          <a:prstGeom prst="line">
            <a:avLst/>
          </a:prstGeom>
          <a:ln w="68580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Freeform 182"/>
          <p:cNvSpPr/>
          <p:nvPr/>
        </p:nvSpPr>
        <p:spPr>
          <a:xfrm>
            <a:off x="5501827" y="3541056"/>
            <a:ext cx="128967" cy="98975"/>
          </a:xfrm>
          <a:custGeom>
            <a:avLst/>
            <a:gdLst/>
            <a:ahLst/>
            <a:cxnLst/>
            <a:rect l="l" t="t" r="r" b="b"/>
            <a:pathLst>
              <a:path w="128967" h="98975">
                <a:moveTo>
                  <a:pt x="128967" y="49487"/>
                </a:moveTo>
                <a:lnTo>
                  <a:pt x="0" y="9897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6048068" y="3541056"/>
            <a:ext cx="128967" cy="98975"/>
          </a:xfrm>
          <a:custGeom>
            <a:avLst/>
            <a:gdLst/>
            <a:ahLst/>
            <a:cxnLst/>
            <a:rect l="l" t="t" r="r" b="b"/>
            <a:pathLst>
              <a:path w="128967" h="98975">
                <a:moveTo>
                  <a:pt x="128967" y="49487"/>
                </a:moveTo>
                <a:lnTo>
                  <a:pt x="0" y="9897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54614" y="3668268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31,5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6682435" y="3590543"/>
            <a:ext cx="1707002" cy="0"/>
          </a:xfrm>
          <a:prstGeom prst="line">
            <a:avLst/>
          </a:prstGeom>
          <a:ln w="120472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6682435" y="3590543"/>
            <a:ext cx="1707002" cy="0"/>
          </a:xfrm>
          <a:prstGeom prst="line">
            <a:avLst/>
          </a:prstGeom>
          <a:ln w="77724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Freeform 187"/>
          <p:cNvSpPr/>
          <p:nvPr/>
        </p:nvSpPr>
        <p:spPr>
          <a:xfrm>
            <a:off x="7208829" y="3541056"/>
            <a:ext cx="128967" cy="98975"/>
          </a:xfrm>
          <a:custGeom>
            <a:avLst/>
            <a:gdLst/>
            <a:ahLst/>
            <a:cxnLst/>
            <a:rect l="l" t="t" r="r" b="b"/>
            <a:pathLst>
              <a:path w="128967" h="98975">
                <a:moveTo>
                  <a:pt x="128967" y="49487"/>
                </a:moveTo>
                <a:lnTo>
                  <a:pt x="0" y="9897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7755070" y="3541056"/>
            <a:ext cx="128967" cy="98975"/>
          </a:xfrm>
          <a:custGeom>
            <a:avLst/>
            <a:gdLst/>
            <a:ahLst/>
            <a:cxnLst/>
            <a:rect l="l" t="t" r="r" b="b"/>
            <a:pathLst>
              <a:path w="128967" h="98975">
                <a:moveTo>
                  <a:pt x="128967" y="49487"/>
                </a:moveTo>
                <a:lnTo>
                  <a:pt x="0" y="9897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261616" y="3668268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38,1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3399739" y="4335780"/>
            <a:ext cx="1575694" cy="0"/>
          </a:xfrm>
          <a:prstGeom prst="line">
            <a:avLst/>
          </a:prstGeom>
          <a:ln w="106298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3399739" y="4335780"/>
            <a:ext cx="1575694" cy="0"/>
          </a:xfrm>
          <a:prstGeom prst="line">
            <a:avLst/>
          </a:prstGeom>
          <a:ln w="68580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Freeform 192"/>
          <p:cNvSpPr/>
          <p:nvPr/>
        </p:nvSpPr>
        <p:spPr>
          <a:xfrm>
            <a:off x="3881489" y="4286292"/>
            <a:ext cx="128966" cy="98975"/>
          </a:xfrm>
          <a:custGeom>
            <a:avLst/>
            <a:gdLst/>
            <a:ahLst/>
            <a:cxnLst/>
            <a:rect l="l" t="t" r="r" b="b"/>
            <a:pathLst>
              <a:path w="128966" h="98975">
                <a:moveTo>
                  <a:pt x="128966" y="49488"/>
                </a:moveTo>
                <a:lnTo>
                  <a:pt x="0" y="9897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4385711" y="4286292"/>
            <a:ext cx="128967" cy="98975"/>
          </a:xfrm>
          <a:custGeom>
            <a:avLst/>
            <a:gdLst/>
            <a:ahLst/>
            <a:cxnLst/>
            <a:rect l="l" t="t" r="r" b="b"/>
            <a:pathLst>
              <a:path w="128967" h="98975">
                <a:moveTo>
                  <a:pt x="128967" y="49488"/>
                </a:moveTo>
                <a:lnTo>
                  <a:pt x="0" y="9897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3913266" y="4413504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24,4</a:t>
            </a:r>
          </a:p>
        </p:txBody>
      </p:sp>
      <p:cxnSp>
        <p:nvCxnSpPr>
          <p:cNvPr id="196" name="Connector 195"/>
          <p:cNvCxnSpPr/>
          <p:nvPr/>
        </p:nvCxnSpPr>
        <p:spPr>
          <a:xfrm>
            <a:off x="4975433" y="4335780"/>
            <a:ext cx="1707002" cy="0"/>
          </a:xfrm>
          <a:prstGeom prst="line">
            <a:avLst/>
          </a:prstGeom>
          <a:ln w="92125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4975433" y="4335780"/>
            <a:ext cx="1707002" cy="0"/>
          </a:xfrm>
          <a:prstGeom prst="line">
            <a:avLst/>
          </a:prstGeom>
          <a:ln w="59436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Freeform 197"/>
          <p:cNvSpPr/>
          <p:nvPr/>
        </p:nvSpPr>
        <p:spPr>
          <a:xfrm>
            <a:off x="5501827" y="4286292"/>
            <a:ext cx="128967" cy="98975"/>
          </a:xfrm>
          <a:custGeom>
            <a:avLst/>
            <a:gdLst/>
            <a:ahLst/>
            <a:cxnLst/>
            <a:rect l="l" t="t" r="r" b="b"/>
            <a:pathLst>
              <a:path w="128967" h="98975">
                <a:moveTo>
                  <a:pt x="128967" y="49488"/>
                </a:moveTo>
                <a:lnTo>
                  <a:pt x="0" y="9897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6048068" y="4286292"/>
            <a:ext cx="128967" cy="98975"/>
          </a:xfrm>
          <a:custGeom>
            <a:avLst/>
            <a:gdLst/>
            <a:ahLst/>
            <a:cxnLst/>
            <a:rect l="l" t="t" r="r" b="b"/>
            <a:pathLst>
              <a:path w="128967" h="98975">
                <a:moveTo>
                  <a:pt x="128967" y="49488"/>
                </a:moveTo>
                <a:lnTo>
                  <a:pt x="0" y="9897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5554614" y="4413504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18,7</a:t>
            </a:r>
          </a:p>
        </p:txBody>
      </p:sp>
      <p:cxnSp>
        <p:nvCxnSpPr>
          <p:cNvPr id="201" name="Connector 200"/>
          <p:cNvCxnSpPr/>
          <p:nvPr/>
        </p:nvCxnSpPr>
        <p:spPr>
          <a:xfrm>
            <a:off x="6682435" y="4335780"/>
            <a:ext cx="1707002" cy="0"/>
          </a:xfrm>
          <a:prstGeom prst="line">
            <a:avLst/>
          </a:prstGeom>
          <a:ln w="106298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6682435" y="4335780"/>
            <a:ext cx="1707002" cy="0"/>
          </a:xfrm>
          <a:prstGeom prst="line">
            <a:avLst/>
          </a:prstGeom>
          <a:ln w="68580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Freeform 202"/>
          <p:cNvSpPr/>
          <p:nvPr/>
        </p:nvSpPr>
        <p:spPr>
          <a:xfrm>
            <a:off x="7208829" y="4286292"/>
            <a:ext cx="128967" cy="98975"/>
          </a:xfrm>
          <a:custGeom>
            <a:avLst/>
            <a:gdLst/>
            <a:ahLst/>
            <a:cxnLst/>
            <a:rect l="l" t="t" r="r" b="b"/>
            <a:pathLst>
              <a:path w="128967" h="98975">
                <a:moveTo>
                  <a:pt x="128967" y="49488"/>
                </a:moveTo>
                <a:lnTo>
                  <a:pt x="0" y="9897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7755070" y="4286292"/>
            <a:ext cx="128967" cy="98975"/>
          </a:xfrm>
          <a:custGeom>
            <a:avLst/>
            <a:gdLst/>
            <a:ahLst/>
            <a:cxnLst/>
            <a:rect l="l" t="t" r="r" b="b"/>
            <a:pathLst>
              <a:path w="128967" h="98975">
                <a:moveTo>
                  <a:pt x="128967" y="49488"/>
                </a:moveTo>
                <a:lnTo>
                  <a:pt x="0" y="9897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7261616" y="4413504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22,9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3399739" y="5081016"/>
            <a:ext cx="2429195" cy="0"/>
          </a:xfrm>
          <a:prstGeom prst="line">
            <a:avLst/>
          </a:prstGeom>
          <a:ln w="87873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3399739" y="5081016"/>
            <a:ext cx="2429195" cy="0"/>
          </a:xfrm>
          <a:prstGeom prst="line">
            <a:avLst/>
          </a:prstGeom>
          <a:ln w="56692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Freeform 207"/>
          <p:cNvSpPr/>
          <p:nvPr/>
        </p:nvSpPr>
        <p:spPr>
          <a:xfrm>
            <a:off x="4171679" y="5031528"/>
            <a:ext cx="128967" cy="98975"/>
          </a:xfrm>
          <a:custGeom>
            <a:avLst/>
            <a:gdLst/>
            <a:ahLst/>
            <a:cxnLst/>
            <a:rect l="l" t="t" r="r" b="b"/>
            <a:pathLst>
              <a:path w="128967" h="98975">
                <a:moveTo>
                  <a:pt x="128967" y="49488"/>
                </a:moveTo>
                <a:lnTo>
                  <a:pt x="0" y="9897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4949021" y="5031528"/>
            <a:ext cx="128967" cy="98975"/>
          </a:xfrm>
          <a:custGeom>
            <a:avLst/>
            <a:gdLst/>
            <a:ahLst/>
            <a:cxnLst/>
            <a:rect l="l" t="t" r="r" b="b"/>
            <a:pathLst>
              <a:path w="128967" h="98975">
                <a:moveTo>
                  <a:pt x="128967" y="49488"/>
                </a:moveTo>
                <a:lnTo>
                  <a:pt x="0" y="9897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4340016" y="5158740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12,4</a:t>
            </a:r>
          </a:p>
        </p:txBody>
      </p:sp>
      <p:cxnSp>
        <p:nvCxnSpPr>
          <p:cNvPr id="211" name="Connector 210"/>
          <p:cNvCxnSpPr/>
          <p:nvPr/>
        </p:nvCxnSpPr>
        <p:spPr>
          <a:xfrm>
            <a:off x="5828934" y="5081016"/>
            <a:ext cx="2560503" cy="0"/>
          </a:xfrm>
          <a:prstGeom prst="line">
            <a:avLst/>
          </a:prstGeom>
          <a:ln w="87873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5828934" y="5081016"/>
            <a:ext cx="2560503" cy="0"/>
          </a:xfrm>
          <a:prstGeom prst="line">
            <a:avLst/>
          </a:prstGeom>
          <a:ln w="56692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Freeform 212"/>
          <p:cNvSpPr/>
          <p:nvPr/>
        </p:nvSpPr>
        <p:spPr>
          <a:xfrm>
            <a:off x="6645519" y="5031528"/>
            <a:ext cx="128967" cy="98975"/>
          </a:xfrm>
          <a:custGeom>
            <a:avLst/>
            <a:gdLst/>
            <a:ahLst/>
            <a:cxnLst/>
            <a:rect l="l" t="t" r="r" b="b"/>
            <a:pathLst>
              <a:path w="128967" h="98975">
                <a:moveTo>
                  <a:pt x="128967" y="49488"/>
                </a:moveTo>
                <a:lnTo>
                  <a:pt x="0" y="9897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7464879" y="5031528"/>
            <a:ext cx="128967" cy="98975"/>
          </a:xfrm>
          <a:custGeom>
            <a:avLst/>
            <a:gdLst/>
            <a:ahLst/>
            <a:cxnLst/>
            <a:rect l="l" t="t" r="r" b="b"/>
            <a:pathLst>
              <a:path w="128967" h="98975">
                <a:moveTo>
                  <a:pt x="128967" y="49488"/>
                </a:moveTo>
                <a:lnTo>
                  <a:pt x="0" y="9897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6834865" y="5158740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12,4</a:t>
            </a:r>
          </a:p>
        </p:txBody>
      </p:sp>
      <p:cxnSp>
        <p:nvCxnSpPr>
          <p:cNvPr id="216" name="Connector 215"/>
          <p:cNvCxnSpPr/>
          <p:nvPr/>
        </p:nvCxnSpPr>
        <p:spPr>
          <a:xfrm>
            <a:off x="4975433" y="3590543"/>
            <a:ext cx="0" cy="745237"/>
          </a:xfrm>
          <a:prstGeom prst="line">
            <a:avLst/>
          </a:prstGeom>
          <a:ln w="77952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4975433" y="3590543"/>
            <a:ext cx="0" cy="745237"/>
          </a:xfrm>
          <a:prstGeom prst="line">
            <a:avLst/>
          </a:prstGeom>
          <a:ln w="50292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Freeform 217"/>
          <p:cNvSpPr/>
          <p:nvPr/>
        </p:nvSpPr>
        <p:spPr>
          <a:xfrm>
            <a:off x="4925945" y="3789938"/>
            <a:ext cx="98975" cy="128967"/>
          </a:xfrm>
          <a:custGeom>
            <a:avLst/>
            <a:gdLst/>
            <a:ahLst/>
            <a:cxnLst/>
            <a:rect l="l" t="t" r="r" b="b"/>
            <a:pathLst>
              <a:path w="98975" h="128967">
                <a:moveTo>
                  <a:pt x="49488" y="128967"/>
                </a:moveTo>
                <a:lnTo>
                  <a:pt x="0" y="0"/>
                </a:lnTo>
                <a:lnTo>
                  <a:pt x="98975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4925945" y="4028413"/>
            <a:ext cx="98975" cy="128967"/>
          </a:xfrm>
          <a:custGeom>
            <a:avLst/>
            <a:gdLst/>
            <a:ahLst/>
            <a:cxnLst/>
            <a:rect l="l" t="t" r="r" b="b"/>
            <a:pathLst>
              <a:path w="98975" h="128967">
                <a:moveTo>
                  <a:pt x="49488" y="128967"/>
                </a:moveTo>
                <a:lnTo>
                  <a:pt x="0" y="0"/>
                </a:lnTo>
                <a:lnTo>
                  <a:pt x="98975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883993" y="3885438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9,6</a:t>
            </a:r>
          </a:p>
        </p:txBody>
      </p:sp>
      <p:cxnSp>
        <p:nvCxnSpPr>
          <p:cNvPr id="221" name="Connector 220"/>
          <p:cNvCxnSpPr/>
          <p:nvPr/>
        </p:nvCxnSpPr>
        <p:spPr>
          <a:xfrm>
            <a:off x="6682435" y="3590543"/>
            <a:ext cx="0" cy="745237"/>
          </a:xfrm>
          <a:prstGeom prst="line">
            <a:avLst/>
          </a:prstGeom>
          <a:ln w="77952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6682435" y="3590543"/>
            <a:ext cx="0" cy="745237"/>
          </a:xfrm>
          <a:prstGeom prst="line">
            <a:avLst/>
          </a:prstGeom>
          <a:ln w="50292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Freeform 222"/>
          <p:cNvSpPr/>
          <p:nvPr/>
        </p:nvSpPr>
        <p:spPr>
          <a:xfrm>
            <a:off x="6632947" y="3789938"/>
            <a:ext cx="98975" cy="128967"/>
          </a:xfrm>
          <a:custGeom>
            <a:avLst/>
            <a:gdLst/>
            <a:ahLst/>
            <a:cxnLst/>
            <a:rect l="l" t="t" r="r" b="b"/>
            <a:pathLst>
              <a:path w="98975" h="128967">
                <a:moveTo>
                  <a:pt x="49488" y="128967"/>
                </a:moveTo>
                <a:lnTo>
                  <a:pt x="0" y="0"/>
                </a:lnTo>
                <a:lnTo>
                  <a:pt x="98975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6632947" y="4028413"/>
            <a:ext cx="98975" cy="128967"/>
          </a:xfrm>
          <a:custGeom>
            <a:avLst/>
            <a:gdLst/>
            <a:ahLst/>
            <a:cxnLst/>
            <a:rect l="l" t="t" r="r" b="b"/>
            <a:pathLst>
              <a:path w="98975" h="128967">
                <a:moveTo>
                  <a:pt x="49488" y="128967"/>
                </a:moveTo>
                <a:lnTo>
                  <a:pt x="0" y="0"/>
                </a:lnTo>
                <a:lnTo>
                  <a:pt x="98975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590995" y="3885438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8,8</a:t>
            </a:r>
          </a:p>
        </p:txBody>
      </p:sp>
      <p:cxnSp>
        <p:nvCxnSpPr>
          <p:cNvPr id="226" name="Connector 225"/>
          <p:cNvCxnSpPr/>
          <p:nvPr/>
        </p:nvCxnSpPr>
        <p:spPr>
          <a:xfrm flipV="1">
            <a:off x="8389437" y="2855244"/>
            <a:ext cx="0" cy="735299"/>
          </a:xfrm>
          <a:prstGeom prst="line">
            <a:avLst/>
          </a:prstGeom>
          <a:ln w="162991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8389437" y="2855244"/>
            <a:ext cx="0" cy="735299"/>
          </a:xfrm>
          <a:prstGeom prst="line">
            <a:avLst/>
          </a:prstGeom>
          <a:ln w="105156">
            <a:solidFill>
              <a:srgbClr val="2196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Freeform 227"/>
          <p:cNvSpPr/>
          <p:nvPr/>
        </p:nvSpPr>
        <p:spPr>
          <a:xfrm>
            <a:off x="8339949" y="3265561"/>
            <a:ext cx="98975" cy="128967"/>
          </a:xfrm>
          <a:custGeom>
            <a:avLst/>
            <a:gdLst/>
            <a:ahLst/>
            <a:cxnLst/>
            <a:rect l="l" t="t" r="r" b="b"/>
            <a:pathLst>
              <a:path w="98975" h="128967">
                <a:moveTo>
                  <a:pt x="49488" y="0"/>
                </a:moveTo>
                <a:lnTo>
                  <a:pt x="98975" y="128967"/>
                </a:lnTo>
                <a:lnTo>
                  <a:pt x="0" y="128967"/>
                </a:lnTo>
                <a:close/>
              </a:path>
            </a:pathLst>
          </a:cu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8339949" y="3030265"/>
            <a:ext cx="98975" cy="128967"/>
          </a:xfrm>
          <a:custGeom>
            <a:avLst/>
            <a:gdLst/>
            <a:ahLst/>
            <a:cxnLst/>
            <a:rect l="l" t="t" r="r" b="b"/>
            <a:pathLst>
              <a:path w="98975" h="128967">
                <a:moveTo>
                  <a:pt x="49488" y="0"/>
                </a:moveTo>
                <a:lnTo>
                  <a:pt x="98975" y="128967"/>
                </a:lnTo>
                <a:lnTo>
                  <a:pt x="0" y="128967"/>
                </a:lnTo>
                <a:close/>
              </a:path>
            </a:pathLst>
          </a:cu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8297997" y="3145170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96,8</a:t>
            </a:r>
          </a:p>
        </p:txBody>
      </p:sp>
      <p:cxnSp>
        <p:nvCxnSpPr>
          <p:cNvPr id="231" name="Connector 230"/>
          <p:cNvCxnSpPr/>
          <p:nvPr/>
        </p:nvCxnSpPr>
        <p:spPr>
          <a:xfrm flipV="1">
            <a:off x="8389437" y="3590543"/>
            <a:ext cx="0" cy="745237"/>
          </a:xfrm>
          <a:prstGeom prst="line">
            <a:avLst/>
          </a:prstGeom>
          <a:ln w="141732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8389437" y="3590543"/>
            <a:ext cx="0" cy="745237"/>
          </a:xfrm>
          <a:prstGeom prst="line">
            <a:avLst/>
          </a:prstGeom>
          <a:ln w="91440">
            <a:solidFill>
              <a:srgbClr val="2196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Freeform 232"/>
          <p:cNvSpPr/>
          <p:nvPr/>
        </p:nvSpPr>
        <p:spPr>
          <a:xfrm>
            <a:off x="8339949" y="4007418"/>
            <a:ext cx="98975" cy="128967"/>
          </a:xfrm>
          <a:custGeom>
            <a:avLst/>
            <a:gdLst/>
            <a:ahLst/>
            <a:cxnLst/>
            <a:rect l="l" t="t" r="r" b="b"/>
            <a:pathLst>
              <a:path w="98975" h="128967">
                <a:moveTo>
                  <a:pt x="49488" y="0"/>
                </a:moveTo>
                <a:lnTo>
                  <a:pt x="98975" y="128967"/>
                </a:lnTo>
                <a:lnTo>
                  <a:pt x="0" y="128967"/>
                </a:lnTo>
                <a:close/>
              </a:path>
            </a:pathLst>
          </a:cu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8339949" y="3768943"/>
            <a:ext cx="98975" cy="128967"/>
          </a:xfrm>
          <a:custGeom>
            <a:avLst/>
            <a:gdLst/>
            <a:ahLst/>
            <a:cxnLst/>
            <a:rect l="l" t="t" r="r" b="b"/>
            <a:pathLst>
              <a:path w="98975" h="128967">
                <a:moveTo>
                  <a:pt x="49488" y="0"/>
                </a:moveTo>
                <a:lnTo>
                  <a:pt x="98975" y="128967"/>
                </a:lnTo>
                <a:lnTo>
                  <a:pt x="0" y="128967"/>
                </a:lnTo>
                <a:close/>
              </a:path>
            </a:pathLst>
          </a:cu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8297997" y="3885438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59,4</a:t>
            </a:r>
          </a:p>
        </p:txBody>
      </p:sp>
      <p:cxnSp>
        <p:nvCxnSpPr>
          <p:cNvPr id="236" name="Connector 235"/>
          <p:cNvCxnSpPr/>
          <p:nvPr/>
        </p:nvCxnSpPr>
        <p:spPr>
          <a:xfrm flipV="1">
            <a:off x="8389437" y="4335780"/>
            <a:ext cx="0" cy="745236"/>
          </a:xfrm>
          <a:prstGeom prst="line">
            <a:avLst/>
          </a:prstGeom>
          <a:ln w="106298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8389437" y="4335780"/>
            <a:ext cx="0" cy="745236"/>
          </a:xfrm>
          <a:prstGeom prst="line">
            <a:avLst/>
          </a:prstGeom>
          <a:ln w="68580">
            <a:solidFill>
              <a:srgbClr val="2196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Freeform 237"/>
          <p:cNvSpPr/>
          <p:nvPr/>
        </p:nvSpPr>
        <p:spPr>
          <a:xfrm>
            <a:off x="8339949" y="4752654"/>
            <a:ext cx="98975" cy="128967"/>
          </a:xfrm>
          <a:custGeom>
            <a:avLst/>
            <a:gdLst/>
            <a:ahLst/>
            <a:cxnLst/>
            <a:rect l="l" t="t" r="r" b="b"/>
            <a:pathLst>
              <a:path w="98975" h="128967">
                <a:moveTo>
                  <a:pt x="49488" y="0"/>
                </a:moveTo>
                <a:lnTo>
                  <a:pt x="98975" y="128967"/>
                </a:lnTo>
                <a:lnTo>
                  <a:pt x="0" y="128967"/>
                </a:lnTo>
                <a:close/>
              </a:path>
            </a:pathLst>
          </a:cu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8339949" y="4514179"/>
            <a:ext cx="98975" cy="128967"/>
          </a:xfrm>
          <a:custGeom>
            <a:avLst/>
            <a:gdLst/>
            <a:ahLst/>
            <a:cxnLst/>
            <a:rect l="l" t="t" r="r" b="b"/>
            <a:pathLst>
              <a:path w="98975" h="128967">
                <a:moveTo>
                  <a:pt x="49488" y="0"/>
                </a:moveTo>
                <a:lnTo>
                  <a:pt x="98975" y="128967"/>
                </a:lnTo>
                <a:lnTo>
                  <a:pt x="0" y="128967"/>
                </a:lnTo>
                <a:close/>
              </a:path>
            </a:pathLst>
          </a:cu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8297997" y="4630673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31,2</a:t>
            </a:r>
          </a:p>
        </p:txBody>
      </p:sp>
      <p:sp>
        <p:nvSpPr>
          <p:cNvPr id="241" name="Oval 240"/>
          <p:cNvSpPr/>
          <p:nvPr/>
        </p:nvSpPr>
        <p:spPr>
          <a:xfrm>
            <a:off x="3331159" y="2786664"/>
            <a:ext cx="137160" cy="1371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331159" y="2807695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1</a:t>
            </a:r>
          </a:p>
        </p:txBody>
      </p:sp>
      <p:sp>
        <p:nvSpPr>
          <p:cNvPr id="243" name="Oval 242"/>
          <p:cNvSpPr/>
          <p:nvPr/>
        </p:nvSpPr>
        <p:spPr>
          <a:xfrm>
            <a:off x="3331159" y="3521963"/>
            <a:ext cx="137160" cy="1371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3331159" y="3542995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2</a:t>
            </a:r>
          </a:p>
        </p:txBody>
      </p:sp>
      <p:sp>
        <p:nvSpPr>
          <p:cNvPr id="245" name="Oval 244"/>
          <p:cNvSpPr/>
          <p:nvPr/>
        </p:nvSpPr>
        <p:spPr>
          <a:xfrm>
            <a:off x="3331159" y="4267199"/>
            <a:ext cx="137160" cy="1371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331159" y="4288231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3</a:t>
            </a:r>
          </a:p>
        </p:txBody>
      </p:sp>
      <p:sp>
        <p:nvSpPr>
          <p:cNvPr id="247" name="Oval 246"/>
          <p:cNvSpPr/>
          <p:nvPr/>
        </p:nvSpPr>
        <p:spPr>
          <a:xfrm>
            <a:off x="3331159" y="5012436"/>
            <a:ext cx="137160" cy="1371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3331159" y="5033467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4</a:t>
            </a:r>
          </a:p>
        </p:txBody>
      </p:sp>
      <p:sp>
        <p:nvSpPr>
          <p:cNvPr id="249" name="Oval 248"/>
          <p:cNvSpPr/>
          <p:nvPr/>
        </p:nvSpPr>
        <p:spPr>
          <a:xfrm>
            <a:off x="8320857" y="2786664"/>
            <a:ext cx="137160" cy="1371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8320857" y="2807695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5</a:t>
            </a:r>
          </a:p>
        </p:txBody>
      </p:sp>
      <p:sp>
        <p:nvSpPr>
          <p:cNvPr id="251" name="Oval 250"/>
          <p:cNvSpPr/>
          <p:nvPr/>
        </p:nvSpPr>
        <p:spPr>
          <a:xfrm>
            <a:off x="8320857" y="3521963"/>
            <a:ext cx="137160" cy="1371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8320857" y="3542995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6</a:t>
            </a:r>
          </a:p>
        </p:txBody>
      </p:sp>
      <p:sp>
        <p:nvSpPr>
          <p:cNvPr id="253" name="Oval 252"/>
          <p:cNvSpPr/>
          <p:nvPr/>
        </p:nvSpPr>
        <p:spPr>
          <a:xfrm>
            <a:off x="8320857" y="4267199"/>
            <a:ext cx="137160" cy="1371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8320857" y="4288231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7</a:t>
            </a:r>
          </a:p>
        </p:txBody>
      </p:sp>
      <p:sp>
        <p:nvSpPr>
          <p:cNvPr id="255" name="Oval 254"/>
          <p:cNvSpPr/>
          <p:nvPr/>
        </p:nvSpPr>
        <p:spPr>
          <a:xfrm>
            <a:off x="8320857" y="5012436"/>
            <a:ext cx="137160" cy="1371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320857" y="5033467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8</a:t>
            </a:r>
          </a:p>
        </p:txBody>
      </p:sp>
      <p:sp>
        <p:nvSpPr>
          <p:cNvPr id="257" name="Oval 256"/>
          <p:cNvSpPr/>
          <p:nvPr/>
        </p:nvSpPr>
        <p:spPr>
          <a:xfrm>
            <a:off x="4906853" y="3521963"/>
            <a:ext cx="137160" cy="1371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4906853" y="3542995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9</a:t>
            </a:r>
          </a:p>
        </p:txBody>
      </p:sp>
      <p:sp>
        <p:nvSpPr>
          <p:cNvPr id="259" name="Oval 258"/>
          <p:cNvSpPr/>
          <p:nvPr/>
        </p:nvSpPr>
        <p:spPr>
          <a:xfrm>
            <a:off x="6613855" y="3521963"/>
            <a:ext cx="137160" cy="1371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6613855" y="3542995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10</a:t>
            </a:r>
          </a:p>
        </p:txBody>
      </p:sp>
      <p:sp>
        <p:nvSpPr>
          <p:cNvPr id="261" name="Oval 260"/>
          <p:cNvSpPr/>
          <p:nvPr/>
        </p:nvSpPr>
        <p:spPr>
          <a:xfrm>
            <a:off x="4906853" y="4267199"/>
            <a:ext cx="137160" cy="1371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4906853" y="4288231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11</a:t>
            </a:r>
          </a:p>
        </p:txBody>
      </p:sp>
      <p:sp>
        <p:nvSpPr>
          <p:cNvPr id="263" name="Oval 262"/>
          <p:cNvSpPr/>
          <p:nvPr/>
        </p:nvSpPr>
        <p:spPr>
          <a:xfrm>
            <a:off x="6613855" y="4267199"/>
            <a:ext cx="137160" cy="1371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6613855" y="4288231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12</a:t>
            </a:r>
          </a:p>
        </p:txBody>
      </p:sp>
      <p:sp>
        <p:nvSpPr>
          <p:cNvPr id="265" name="Oval 264"/>
          <p:cNvSpPr/>
          <p:nvPr/>
        </p:nvSpPr>
        <p:spPr>
          <a:xfrm>
            <a:off x="5760354" y="5012436"/>
            <a:ext cx="137160" cy="1371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5760354" y="5033467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13</a:t>
            </a:r>
          </a:p>
        </p:txBody>
      </p:sp>
      <p:sp>
        <p:nvSpPr>
          <p:cNvPr id="267" name="Oval 266"/>
          <p:cNvSpPr/>
          <p:nvPr/>
        </p:nvSpPr>
        <p:spPr>
          <a:xfrm>
            <a:off x="8233989" y="3017763"/>
            <a:ext cx="310896" cy="310896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8320857" y="3104631"/>
            <a:ext cx="137160" cy="13716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8608893" y="3081771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222222"/>
                </a:solidFill>
                <a:latin typeface="Arial"/>
              </a:rPr>
              <a:t>ГВУ  ВОД-30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5790529" y="3467099"/>
            <a:ext cx="76809" cy="246888"/>
          </a:xfrm>
          <a:prstGeom prst="rect">
            <a:avLst/>
          </a:prstGeom>
          <a:solidFill>
            <a:srgbClr val="4CAF50"/>
          </a:solidFill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5920374" y="329793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2E7D32"/>
                </a:solidFill>
                <a:latin typeface="Arial"/>
              </a:rPr>
              <a:t>перемычка бетонная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2468880" y="326136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5A6372"/>
                </a:solidFill>
                <a:latin typeface="Arial"/>
              </a:rPr>
              <a:t>гор. −160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2468880" y="4006595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5A6372"/>
                </a:solidFill>
                <a:latin typeface="Arial"/>
              </a:rPr>
              <a:t>гор. −320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2468880" y="475183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5A6372"/>
                </a:solidFill>
                <a:latin typeface="Arial"/>
              </a:rPr>
              <a:t>гор. −480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2633472" y="5701284"/>
            <a:ext cx="256032" cy="0"/>
          </a:xfrm>
          <a:prstGeom prst="line">
            <a:avLst/>
          </a:prstGeom>
          <a:ln w="27940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Freeform 275"/>
          <p:cNvSpPr/>
          <p:nvPr/>
        </p:nvSpPr>
        <p:spPr>
          <a:xfrm>
            <a:off x="2878677" y="5657831"/>
            <a:ext cx="113239" cy="86905"/>
          </a:xfrm>
          <a:custGeom>
            <a:avLst/>
            <a:gdLst/>
            <a:ahLst/>
            <a:cxnLst/>
            <a:rect l="l" t="t" r="r" b="b"/>
            <a:pathLst>
              <a:path w="113239" h="86905">
                <a:moveTo>
                  <a:pt x="113239" y="43453"/>
                </a:moveTo>
                <a:lnTo>
                  <a:pt x="0" y="8690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3035808" y="561441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A6372"/>
                </a:solidFill>
                <a:latin typeface="Arial"/>
              </a:rPr>
              <a:t>струя входящая</a:t>
            </a:r>
          </a:p>
        </p:txBody>
      </p:sp>
      <p:cxnSp>
        <p:nvCxnSpPr>
          <p:cNvPr id="278" name="Connector 277"/>
          <p:cNvCxnSpPr/>
          <p:nvPr/>
        </p:nvCxnSpPr>
        <p:spPr>
          <a:xfrm>
            <a:off x="4626864" y="5701284"/>
            <a:ext cx="256032" cy="0"/>
          </a:xfrm>
          <a:prstGeom prst="line">
            <a:avLst/>
          </a:prstGeom>
          <a:ln w="27940">
            <a:solidFill>
              <a:srgbClr val="2196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Freeform 278"/>
          <p:cNvSpPr/>
          <p:nvPr/>
        </p:nvSpPr>
        <p:spPr>
          <a:xfrm>
            <a:off x="4872069" y="5657831"/>
            <a:ext cx="113239" cy="86905"/>
          </a:xfrm>
          <a:custGeom>
            <a:avLst/>
            <a:gdLst/>
            <a:ahLst/>
            <a:cxnLst/>
            <a:rect l="l" t="t" r="r" b="b"/>
            <a:pathLst>
              <a:path w="113239" h="86905">
                <a:moveTo>
                  <a:pt x="113239" y="43453"/>
                </a:moveTo>
                <a:lnTo>
                  <a:pt x="0" y="86905"/>
                </a:lnTo>
                <a:lnTo>
                  <a:pt x="0" y="0"/>
                </a:lnTo>
                <a:close/>
              </a:path>
            </a:pathLst>
          </a:cu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5029200" y="561441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A6372"/>
                </a:solidFill>
                <a:latin typeface="Arial"/>
              </a:rPr>
              <a:t>струя исходящая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7982712" y="561441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A6372"/>
                </a:solidFill>
                <a:latin typeface="Arial"/>
              </a:rPr>
              <a:t>М 1:5000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02920" y="5980176"/>
            <a:ext cx="11183112" cy="237744"/>
          </a:xfrm>
          <a:prstGeom prst="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3" name="Connector 282"/>
          <p:cNvCxnSpPr/>
          <p:nvPr/>
        </p:nvCxnSpPr>
        <p:spPr>
          <a:xfrm>
            <a:off x="502920" y="5980176"/>
            <a:ext cx="11183112" cy="0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TextBox 283"/>
          <p:cNvSpPr txBox="1"/>
          <p:nvPr/>
        </p:nvSpPr>
        <p:spPr>
          <a:xfrm>
            <a:off x="630936" y="6021324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72"/>
                </a:solidFill>
                <a:latin typeface="Arial"/>
              </a:rPr>
              <a:t>Узлов: 13   Ветвей: 16   Горизонтов: 4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5199827" y="602132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72"/>
                </a:solidFill>
                <a:latin typeface="Arial"/>
              </a:rPr>
              <a:t>Фронт  ·  Z-уровень: −320 м</a:t>
            </a:r>
          </a:p>
        </p:txBody>
      </p:sp>
      <p:sp>
        <p:nvSpPr>
          <p:cNvPr id="286" name="Oval 285"/>
          <p:cNvSpPr/>
          <p:nvPr/>
        </p:nvSpPr>
        <p:spPr>
          <a:xfrm>
            <a:off x="9473184" y="6071616"/>
            <a:ext cx="68580" cy="6858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9601200" y="6021324"/>
            <a:ext cx="1956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A3A6B"/>
                </a:solidFill>
                <a:latin typeface="Arial"/>
              </a:rPr>
              <a:t>Расчёт выполнен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Интерфейс: схема вентиляционной сети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Результаты расчёта в виде таблицы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Каждая выработка с расходом, скоростью и депрессией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35024"/>
            <a:ext cx="11183112" cy="4882896"/>
          </a:xfrm>
          <a:prstGeom prst="rect">
            <a:avLst/>
          </a:prstGeom>
          <a:solidFill>
            <a:srgbClr val="FFFFFF"/>
          </a:solidFill>
          <a:ln w="15240">
            <a:solidFill>
              <a:srgbClr val="D4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11183112" cy="27432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38531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ПВ-Система  —  Рудник «Северный» — гор. −320.vproj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1385316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C8D6EA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73384" y="1385316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C8D6EA"/>
                </a:solidFill>
                <a:latin typeface="Arial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29416" y="1385316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C8D6EA"/>
                </a:solidFill>
                <a:latin typeface="Arial"/>
              </a:rPr>
              <a:t>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609344"/>
            <a:ext cx="11183112" cy="274320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668780"/>
            <a:ext cx="5559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Файл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0315" y="1668780"/>
            <a:ext cx="7808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Главная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1212" y="1668780"/>
            <a:ext cx="630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Схема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2148" y="1609344"/>
            <a:ext cx="100584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2148" y="1609344"/>
            <a:ext cx="100584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2148" y="166878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Вентиляция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7988" y="1668780"/>
            <a:ext cx="7059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Аварии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3905" y="1668780"/>
            <a:ext cx="10808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Справочники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4726" y="1668780"/>
            <a:ext cx="7059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Печать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883664"/>
            <a:ext cx="1118311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502920" y="2359152"/>
            <a:ext cx="11183112" cy="0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0936" y="1965960"/>
            <a:ext cx="310896" cy="310896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" y="1965960"/>
            <a:ext cx="310896" cy="310896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99032" y="1965960"/>
            <a:ext cx="310896" cy="310896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99032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83080" y="1965960"/>
            <a:ext cx="310896" cy="310896"/>
          </a:xfrm>
          <a:prstGeom prst="roundRect">
            <a:avLst/>
          </a:prstGeom>
          <a:solidFill>
            <a:srgbClr val="5A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83080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⚙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185416" y="1956816"/>
            <a:ext cx="0" cy="329184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67512" y="245059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3A6B"/>
                </a:solidFill>
                <a:latin typeface="Arial"/>
              </a:rPr>
              <a:t>Воздухораспределение по выработкам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68512" y="2432304"/>
            <a:ext cx="1417320" cy="256032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68512" y="24825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⇩  В Excel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49840" y="2432304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0" y="248259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A3A6B"/>
                </a:solidFill>
                <a:latin typeface="Arial"/>
              </a:rPr>
              <a:t>⎙  Печать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" y="2779776"/>
            <a:ext cx="10853928" cy="310896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" y="2848356"/>
            <a:ext cx="3260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6481" y="2848356"/>
            <a:ext cx="240141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Выработка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87619" y="2848356"/>
            <a:ext cx="6373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S, м²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735" y="2848356"/>
            <a:ext cx="6996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L, 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44110" y="2848356"/>
            <a:ext cx="9486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R, кМюрг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2523" y="2848356"/>
            <a:ext cx="8449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Q, м³/с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7171" y="2848356"/>
            <a:ext cx="72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v, м/с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7299" y="2848356"/>
            <a:ext cx="7826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h, Па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9687" y="2848356"/>
            <a:ext cx="12599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Тип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49399" y="2848356"/>
            <a:ext cx="1135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Оценка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67512" y="3396996"/>
            <a:ext cx="10853928" cy="0"/>
          </a:xfrm>
          <a:prstGeom prst="line">
            <a:avLst/>
          </a:prstGeom>
          <a:ln w="7620">
            <a:solidFill>
              <a:srgbClr val="EC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40664" y="3159252"/>
            <a:ext cx="2895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76481" y="3159252"/>
            <a:ext cx="23648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F1F1F"/>
                </a:solidFill>
                <a:latin typeface="Arial"/>
              </a:rPr>
              <a:t>Ствол ВС-1 (свежая)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87619" y="3159252"/>
            <a:ext cx="600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28,3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4735" y="3159252"/>
            <a:ext cx="6630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520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44110" y="3159252"/>
            <a:ext cx="9121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0,0021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2523" y="3159252"/>
            <a:ext cx="8083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2563EB"/>
                </a:solidFill>
                <a:latin typeface="Arial"/>
              </a:rPr>
              <a:t>118,4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57171" y="3159252"/>
            <a:ext cx="683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4,18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87299" y="3159252"/>
            <a:ext cx="7460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A3A6B"/>
                </a:solidFill>
                <a:latin typeface="Arial"/>
              </a:rPr>
              <a:t>288,8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79687" y="3159252"/>
            <a:ext cx="1223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Ствол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49399" y="3159252"/>
            <a:ext cx="1098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норма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7512" y="3396996"/>
            <a:ext cx="10853928" cy="3063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667512" y="3703320"/>
            <a:ext cx="10853928" cy="0"/>
          </a:xfrm>
          <a:prstGeom prst="line">
            <a:avLst/>
          </a:prstGeom>
          <a:ln w="7620">
            <a:solidFill>
              <a:srgbClr val="EC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40664" y="3465576"/>
            <a:ext cx="2895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76481" y="3465576"/>
            <a:ext cx="23648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F1F1F"/>
                </a:solidFill>
                <a:latin typeface="Arial"/>
              </a:rPr>
              <a:t>Квершлаг гор. −160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87619" y="3465576"/>
            <a:ext cx="600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18,6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4735" y="3465576"/>
            <a:ext cx="6630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412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44110" y="3465576"/>
            <a:ext cx="9121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0,0086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2523" y="3465576"/>
            <a:ext cx="8083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2563EB"/>
                </a:solidFill>
                <a:latin typeface="Arial"/>
              </a:rPr>
              <a:t>74,6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57171" y="3465576"/>
            <a:ext cx="683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4,01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87299" y="3465576"/>
            <a:ext cx="7460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A3A6B"/>
                </a:solidFill>
                <a:latin typeface="Arial"/>
              </a:rPr>
              <a:t>469,5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79687" y="3465576"/>
            <a:ext cx="1223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Квершлаг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49399" y="3465576"/>
            <a:ext cx="1098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норма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67512" y="4009644"/>
            <a:ext cx="10853928" cy="0"/>
          </a:xfrm>
          <a:prstGeom prst="line">
            <a:avLst/>
          </a:prstGeom>
          <a:ln w="7620">
            <a:solidFill>
              <a:srgbClr val="EC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40664" y="3771900"/>
            <a:ext cx="2895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76481" y="3771900"/>
            <a:ext cx="23648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F1F1F"/>
                </a:solidFill>
                <a:latin typeface="Arial"/>
              </a:rPr>
              <a:t>Квершлаг 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87619" y="3771900"/>
            <a:ext cx="600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16,5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34735" y="3771900"/>
            <a:ext cx="6630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486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44110" y="3771900"/>
            <a:ext cx="9121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0,0104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2523" y="3771900"/>
            <a:ext cx="8083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2563EB"/>
                </a:solidFill>
                <a:latin typeface="Arial"/>
              </a:rPr>
              <a:t>64,2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57171" y="3771900"/>
            <a:ext cx="683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3,89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87299" y="3771900"/>
            <a:ext cx="7460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A3A6B"/>
                </a:solidFill>
                <a:latin typeface="Arial"/>
              </a:rPr>
              <a:t>420,5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79687" y="3771900"/>
            <a:ext cx="1223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Квершлаг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49399" y="3771900"/>
            <a:ext cx="1098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норма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67512" y="4009644"/>
            <a:ext cx="10853928" cy="3063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667512" y="4315968"/>
            <a:ext cx="10853928" cy="0"/>
          </a:xfrm>
          <a:prstGeom prst="line">
            <a:avLst/>
          </a:prstGeom>
          <a:ln w="7620">
            <a:solidFill>
              <a:srgbClr val="EC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740664" y="4078224"/>
            <a:ext cx="2895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76481" y="4078224"/>
            <a:ext cx="23648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F1F1F"/>
                </a:solidFill>
                <a:latin typeface="Arial"/>
              </a:rPr>
              <a:t>Откаточный штрек 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87619" y="4078224"/>
            <a:ext cx="600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14,2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34735" y="4078224"/>
            <a:ext cx="6630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640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44110" y="4078224"/>
            <a:ext cx="9121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0,0142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2523" y="4078224"/>
            <a:ext cx="8083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2563EB"/>
                </a:solidFill>
                <a:latin typeface="Arial"/>
              </a:rPr>
              <a:t>43,8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57171" y="4078224"/>
            <a:ext cx="683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3,08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87299" y="4078224"/>
            <a:ext cx="7460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A3A6B"/>
                </a:solidFill>
                <a:latin typeface="Arial"/>
              </a:rPr>
              <a:t>267,2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79687" y="4078224"/>
            <a:ext cx="1223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Штрек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49399" y="4078224"/>
            <a:ext cx="1098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норма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67512" y="4622292"/>
            <a:ext cx="10853928" cy="0"/>
          </a:xfrm>
          <a:prstGeom prst="line">
            <a:avLst/>
          </a:prstGeom>
          <a:ln w="7620">
            <a:solidFill>
              <a:srgbClr val="EC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740664" y="4384548"/>
            <a:ext cx="2895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76481" y="4384548"/>
            <a:ext cx="23648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F1F1F"/>
                </a:solidFill>
                <a:latin typeface="Arial"/>
              </a:rPr>
              <a:t>Штрек 12-бис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87619" y="4384548"/>
            <a:ext cx="600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12,6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34735" y="4384548"/>
            <a:ext cx="6630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585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244110" y="4384548"/>
            <a:ext cx="9121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0,0186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02523" y="4384548"/>
            <a:ext cx="8083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2563EB"/>
                </a:solidFill>
                <a:latin typeface="Arial"/>
              </a:rPr>
              <a:t>31,5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257171" y="4384548"/>
            <a:ext cx="683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2,50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087299" y="4384548"/>
            <a:ext cx="7460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A3A6B"/>
                </a:solidFill>
                <a:latin typeface="Arial"/>
              </a:rPr>
              <a:t>181,1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79687" y="4384548"/>
            <a:ext cx="1223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Штрек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49399" y="4384548"/>
            <a:ext cx="1098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норма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67512" y="4622292"/>
            <a:ext cx="10853928" cy="3063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667512" y="4928616"/>
            <a:ext cx="10853928" cy="0"/>
          </a:xfrm>
          <a:prstGeom prst="line">
            <a:avLst/>
          </a:prstGeom>
          <a:ln w="7620">
            <a:solidFill>
              <a:srgbClr val="EC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40664" y="4690872"/>
            <a:ext cx="2895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76481" y="4690872"/>
            <a:ext cx="23648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F1F1F"/>
                </a:solidFill>
                <a:latin typeface="Arial"/>
              </a:rPr>
              <a:t>Орт 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687619" y="4690872"/>
            <a:ext cx="600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11,2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434735" y="4690872"/>
            <a:ext cx="6630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210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244110" y="4690872"/>
            <a:ext cx="9121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0,0342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02523" y="4690872"/>
            <a:ext cx="8083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2563EB"/>
                </a:solidFill>
                <a:latin typeface="Arial"/>
              </a:rPr>
              <a:t>18,7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57171" y="4690872"/>
            <a:ext cx="683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1,67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087299" y="4690872"/>
            <a:ext cx="7460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A3A6B"/>
                </a:solidFill>
                <a:latin typeface="Arial"/>
              </a:rPr>
              <a:t>117,3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79687" y="4690872"/>
            <a:ext cx="1223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Орт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349399" y="4690872"/>
            <a:ext cx="1098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норма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67512" y="5234940"/>
            <a:ext cx="10853928" cy="0"/>
          </a:xfrm>
          <a:prstGeom prst="line">
            <a:avLst/>
          </a:prstGeom>
          <a:ln w="7620">
            <a:solidFill>
              <a:srgbClr val="EC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740664" y="4997196"/>
            <a:ext cx="2895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7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76481" y="4997196"/>
            <a:ext cx="23648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F1F1F"/>
                </a:solidFill>
                <a:latin typeface="Arial"/>
              </a:rPr>
              <a:t>Вент. восстающий 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687619" y="4997196"/>
            <a:ext cx="600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3,4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34735" y="4997196"/>
            <a:ext cx="6630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160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244110" y="4997196"/>
            <a:ext cx="9121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0,0615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302523" y="4997196"/>
            <a:ext cx="8083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2563EB"/>
                </a:solidFill>
                <a:latin typeface="Arial"/>
              </a:rPr>
              <a:t>24,4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257171" y="4997196"/>
            <a:ext cx="683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B45309"/>
                </a:solidFill>
                <a:latin typeface="Arial"/>
              </a:rPr>
              <a:t>7,18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087299" y="4997196"/>
            <a:ext cx="7460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A3A6B"/>
                </a:solidFill>
                <a:latin typeface="Arial"/>
              </a:rPr>
              <a:t>359,2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79687" y="4997196"/>
            <a:ext cx="1223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Восстающий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349399" y="4997196"/>
            <a:ext cx="1098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B45309"/>
                </a:solidFill>
                <a:latin typeface="Arial"/>
              </a:rPr>
              <a:t>у предела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67512" y="5234940"/>
            <a:ext cx="10853928" cy="3063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667512" y="5541264"/>
            <a:ext cx="10853928" cy="0"/>
          </a:xfrm>
          <a:prstGeom prst="line">
            <a:avLst/>
          </a:prstGeom>
          <a:ln w="7620">
            <a:solidFill>
              <a:srgbClr val="EC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740664" y="5303520"/>
            <a:ext cx="2895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8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76481" y="5303520"/>
            <a:ext cx="23648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F1F1F"/>
                </a:solidFill>
                <a:latin typeface="Arial"/>
              </a:rPr>
              <a:t>Уклон 15° L=150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687619" y="5303520"/>
            <a:ext cx="600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9,8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434735" y="5303520"/>
            <a:ext cx="6630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150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244110" y="5303520"/>
            <a:ext cx="9121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0,0715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02523" y="5303520"/>
            <a:ext cx="8083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2563EB"/>
                </a:solidFill>
                <a:latin typeface="Arial"/>
              </a:rPr>
              <a:t>12,4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257171" y="5303520"/>
            <a:ext cx="683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1,27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087299" y="5303520"/>
            <a:ext cx="7460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A3A6B"/>
                </a:solidFill>
                <a:latin typeface="Arial"/>
              </a:rPr>
              <a:t>107,8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979687" y="5303520"/>
            <a:ext cx="1223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Уклон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349399" y="5303520"/>
            <a:ext cx="1098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норма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667512" y="5847588"/>
            <a:ext cx="10853928" cy="0"/>
          </a:xfrm>
          <a:prstGeom prst="line">
            <a:avLst/>
          </a:prstGeom>
          <a:ln w="7620">
            <a:solidFill>
              <a:srgbClr val="EC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740664" y="5609844"/>
            <a:ext cx="2895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76481" y="5609844"/>
            <a:ext cx="23648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F1F1F"/>
                </a:solidFill>
                <a:latin typeface="Arial"/>
              </a:rPr>
              <a:t>Ствол ВХВ-4 (исходящая)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87619" y="5609844"/>
            <a:ext cx="600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25,5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434735" y="5609844"/>
            <a:ext cx="6630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520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244110" y="5609844"/>
            <a:ext cx="9121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0,0028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302523" y="5609844"/>
            <a:ext cx="8083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2563EB"/>
                </a:solidFill>
                <a:latin typeface="Arial"/>
              </a:rPr>
              <a:t>96,8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257171" y="5609844"/>
            <a:ext cx="683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3,80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087299" y="5609844"/>
            <a:ext cx="7460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A3A6B"/>
                </a:solidFill>
                <a:latin typeface="Arial"/>
              </a:rPr>
              <a:t>257,4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979687" y="5609844"/>
            <a:ext cx="1223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Ствол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349399" y="5609844"/>
            <a:ext cx="1098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норма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67512" y="5847588"/>
            <a:ext cx="10853928" cy="3063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>
            <a:off x="667512" y="6153912"/>
            <a:ext cx="10853928" cy="0"/>
          </a:xfrm>
          <a:prstGeom prst="line">
            <a:avLst/>
          </a:prstGeom>
          <a:ln w="7620">
            <a:solidFill>
              <a:srgbClr val="EC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740664" y="5916168"/>
            <a:ext cx="2895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10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76481" y="5916168"/>
            <a:ext cx="23648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F1F1F"/>
                </a:solidFill>
                <a:latin typeface="Arial"/>
              </a:rPr>
              <a:t>Вент. квершлаг к ВХВ-4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687619" y="5916168"/>
            <a:ext cx="6008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17,4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434735" y="5916168"/>
            <a:ext cx="6630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395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244110" y="5916168"/>
            <a:ext cx="9121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0,0098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302523" y="5916168"/>
            <a:ext cx="8083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2563EB"/>
                </a:solidFill>
                <a:latin typeface="Arial"/>
              </a:rPr>
              <a:t>59,4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257171" y="5916168"/>
            <a:ext cx="683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3,41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087299" y="5916168"/>
            <a:ext cx="7460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 i="0">
                <a:solidFill>
                  <a:srgbClr val="1A3A6B"/>
                </a:solidFill>
                <a:latin typeface="Arial"/>
              </a:rPr>
              <a:t>339,2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979687" y="5916168"/>
            <a:ext cx="1223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F1F1F"/>
                </a:solidFill>
                <a:latin typeface="Arial"/>
              </a:rPr>
              <a:t>Квершлаг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349399" y="5916168"/>
            <a:ext cx="1098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5803D"/>
                </a:solidFill>
                <a:latin typeface="Arial"/>
              </a:rPr>
              <a:t>норма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67512" y="6208775"/>
            <a:ext cx="10853928" cy="329184"/>
          </a:xfrm>
          <a:prstGeom prst="rect">
            <a:avLst/>
          </a:prstGeom>
          <a:solidFill>
            <a:srgbClr val="EFF4FB"/>
          </a:solidFill>
          <a:ln w="10160">
            <a:solidFill>
              <a:srgbClr val="D4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95528" y="6286499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3A6B"/>
                </a:solidFill>
                <a:latin typeface="Arial"/>
              </a:rPr>
              <a:t>Итого по руднику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009083" y="6286499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563EB"/>
                </a:solidFill>
                <a:latin typeface="Arial"/>
              </a:rPr>
              <a:t>Подано в рудник: 118,4 м³/с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048183" y="6286499"/>
            <a:ext cx="31098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A3A6B"/>
                </a:solidFill>
                <a:latin typeface="Arial"/>
              </a:rPr>
              <a:t>Депрессия ГВУ: 2 448 Па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02920" y="5980176"/>
            <a:ext cx="11183112" cy="237744"/>
          </a:xfrm>
          <a:prstGeom prst="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>
            <a:off x="502920" y="5980176"/>
            <a:ext cx="11183112" cy="0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630936" y="6021324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72"/>
                </a:solidFill>
                <a:latin typeface="Arial"/>
              </a:rPr>
              <a:t>Ветвей в расчёте: 16   ·   Сошлось за 7 итераций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199827" y="602132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72"/>
                </a:solidFill>
                <a:latin typeface="Arial"/>
              </a:rPr>
              <a:t>Невязка: 0,004 м³/с</a:t>
            </a:r>
          </a:p>
        </p:txBody>
      </p:sp>
      <p:sp>
        <p:nvSpPr>
          <p:cNvPr id="174" name="Oval 173"/>
          <p:cNvSpPr/>
          <p:nvPr/>
        </p:nvSpPr>
        <p:spPr>
          <a:xfrm>
            <a:off x="9473184" y="6071616"/>
            <a:ext cx="68580" cy="6858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9601200" y="6021324"/>
            <a:ext cx="1956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A3A6B"/>
                </a:solidFill>
                <a:latin typeface="Arial"/>
              </a:rPr>
              <a:t>Расчёт выполнен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Интерфейс: таблица воздухораспределения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Расчёт количества воздуха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ФНиП № 505, пункт 155 — позабойный расчёт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Потребность считается по каждому фактору отдельно, в зачёт идёт наибольшее значение —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именно так, как требуют Правила безопасности. Расчёт ведётся позабойно с суммированием по участкам.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57400"/>
            <a:ext cx="6309360" cy="41148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125980"/>
            <a:ext cx="2468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Фактор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21259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Основание расчёта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37460"/>
            <a:ext cx="2468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По людям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704" y="253746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6 м³/мин на человека, наибольшее число в смену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80360"/>
            <a:ext cx="630936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948940"/>
            <a:ext cx="2468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По газовыделению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294894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метан, углекислый газ — по фактическому выделению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360420"/>
            <a:ext cx="2468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По взрывным работам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6704" y="336042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масса и тип ВВ, время проветривания забоя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703320"/>
            <a:ext cx="630936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771900"/>
            <a:ext cx="2468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По дизельной технике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6704" y="377190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мощность двигателей и норма на киловатт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183380"/>
            <a:ext cx="2468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По пыли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41833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допустимая скорость воздуха в выработке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526280"/>
            <a:ext cx="630936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594860"/>
            <a:ext cx="2468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По минимальной скорости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46704" y="459486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нижний предел скорости струи по типу выработки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2057400"/>
            <a:ext cx="4453128" cy="146304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78040" y="2057400"/>
            <a:ext cx="68580" cy="14630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0648" y="2231136"/>
            <a:ext cx="3950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Коэффициенты запаса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8" y="2615184"/>
            <a:ext cx="3950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ФНиП требует обоснованных коэффициентов запаса —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они задаются явно и попадают в отчёт,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чтобы расчёт можно было защитить.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8040" y="3657600"/>
            <a:ext cx="4453128" cy="14173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78040" y="3657600"/>
            <a:ext cx="68580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0648" y="3831336"/>
            <a:ext cx="3950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Вентиляционные участки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0648" y="4215384"/>
            <a:ext cx="39502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Рудник делится на участки со своими нормами.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Программа сверяет норму с фактическим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расходом из сетевого расчёта.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8040" y="5212080"/>
            <a:ext cx="4453128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78040" y="5212080"/>
            <a:ext cx="68580" cy="1143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0648" y="5385816"/>
            <a:ext cx="3950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Выгрузка в Excel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0648" y="5769864"/>
            <a:ext cx="3950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Готовая таблица расчёта потребности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с раскладкой по факторам и участкам.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Нормирование воздуха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Вентиляторы и вентиляционные сооружения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Подбор, режимы, регулирование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3A6B"/>
                </a:solidFill>
                <a:latin typeface="Arial"/>
              </a:rPr>
              <a:t>Вентиляторы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1856231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55648"/>
            <a:ext cx="52486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Каталог 30 марок: ВЦ, ВЦД, ВОД, ВО, ВМ, ВМЭ — главного, вспомогательного и местного проветривания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233172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231136"/>
            <a:ext cx="52486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Паспортные характеристики Q-H: рабочая точка находится пересечением с кривой сети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280720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706624"/>
            <a:ext cx="52486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Предупреждение, если вентилятор вышел за пределы паспортной зоны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328269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182112"/>
            <a:ext cx="52486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Реверсирование струи для аварийных режимов с отдельной реверсной характеристикой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375818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57600"/>
            <a:ext cx="52486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Диаграмма Q-H с выгрузкой в Excel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32588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3A6B"/>
                </a:solidFill>
                <a:latin typeface="Arial"/>
              </a:rPr>
              <a:t>Вентиляционные сооружения</a:t>
            </a:r>
          </a:p>
        </p:txBody>
      </p:sp>
      <p:sp>
        <p:nvSpPr>
          <p:cNvPr id="20" name="Oval 19"/>
          <p:cNvSpPr/>
          <p:nvPr/>
        </p:nvSpPr>
        <p:spPr>
          <a:xfrm>
            <a:off x="6355080" y="1856231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1755648"/>
            <a:ext cx="506577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Перемычки: глухие, с дверями, с регулируемым окном, паруса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233172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2824" y="2231136"/>
            <a:ext cx="506577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Сопротивление считается по типу и по воздухопроницаемости</a:t>
            </a:r>
          </a:p>
        </p:txBody>
      </p:sp>
      <p:sp>
        <p:nvSpPr>
          <p:cNvPr id="24" name="Oval 23"/>
          <p:cNvSpPr/>
          <p:nvPr/>
        </p:nvSpPr>
        <p:spPr>
          <a:xfrm>
            <a:off x="6355080" y="280720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2824" y="2706624"/>
            <a:ext cx="506577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Регуляторы: подбор окна под нужный расход в выработке</a:t>
            </a:r>
          </a:p>
        </p:txBody>
      </p:sp>
      <p:sp>
        <p:nvSpPr>
          <p:cNvPr id="26" name="Oval 25"/>
          <p:cNvSpPr/>
          <p:nvPr/>
        </p:nvSpPr>
        <p:spPr>
          <a:xfrm>
            <a:off x="6355080" y="328269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92824" y="3182112"/>
            <a:ext cx="506577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Кроссинги, шлюзы и замерные станции</a:t>
            </a:r>
          </a:p>
        </p:txBody>
      </p:sp>
      <p:sp>
        <p:nvSpPr>
          <p:cNvPr id="28" name="Oval 27"/>
          <p:cNvSpPr/>
          <p:nvPr/>
        </p:nvSpPr>
        <p:spPr>
          <a:xfrm>
            <a:off x="6355080" y="375818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657600"/>
            <a:ext cx="506577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Водоподпорные перемычки с признаком непроходимости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25196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3A6B"/>
                </a:solidFill>
                <a:latin typeface="Arial"/>
              </a:rPr>
              <a:t>Вентиляционные трубопроводы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681728"/>
            <a:ext cx="3520440" cy="150876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68580" cy="1508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485546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3A6B"/>
                </a:solidFill>
                <a:latin typeface="Arial"/>
              </a:rPr>
              <a:t>Расчёт става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5239512"/>
            <a:ext cx="301752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Диаметр, длина, число звеньев,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местные сопротивления и фасонные части.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34256" y="4681728"/>
            <a:ext cx="3520440" cy="150876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34256" y="4681728"/>
            <a:ext cx="68580" cy="1508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26864" y="485546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3A6B"/>
                </a:solidFill>
                <a:latin typeface="Arial"/>
              </a:rPr>
              <a:t>Утечки по таблицам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26864" y="5239512"/>
            <a:ext cx="301752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Коэффициент доставки воздуха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по типу трубы и качеству стыков.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01583" y="4681728"/>
            <a:ext cx="3520440" cy="150876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1583" y="4681728"/>
            <a:ext cx="68580" cy="15087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94192" y="485546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3A6B"/>
                </a:solidFill>
                <a:latin typeface="Arial"/>
              </a:rPr>
              <a:t>Отчёт по вентпроводу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5239512"/>
            <a:ext cx="301752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Готовый документ с подбором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вентилятора местного проветривания.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Оборудование вентиляции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Диаграмма вентилятора Q-H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Рабочая точка на пересечении с характеристикой 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35024"/>
            <a:ext cx="11183112" cy="4882896"/>
          </a:xfrm>
          <a:prstGeom prst="rect">
            <a:avLst/>
          </a:prstGeom>
          <a:solidFill>
            <a:srgbClr val="FFFFFF"/>
          </a:solidFill>
          <a:ln w="15240">
            <a:solidFill>
              <a:srgbClr val="D4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11183112" cy="27432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38531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ПВ-Система  —  Рудник «Северный» — ГВУ ствола ВХВ-4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1385316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C8D6EA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73384" y="1385316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C8D6EA"/>
                </a:solidFill>
                <a:latin typeface="Arial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29416" y="1385316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C8D6EA"/>
                </a:solidFill>
                <a:latin typeface="Arial"/>
              </a:rPr>
              <a:t>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609344"/>
            <a:ext cx="11183112" cy="274320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668780"/>
            <a:ext cx="5559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Файл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0315" y="1668780"/>
            <a:ext cx="7808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Главная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1212" y="1668780"/>
            <a:ext cx="630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Схема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2148" y="1609344"/>
            <a:ext cx="100584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2148" y="1609344"/>
            <a:ext cx="100584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2148" y="166878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Вентиляция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7988" y="1668780"/>
            <a:ext cx="7059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Аварии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3905" y="1668780"/>
            <a:ext cx="10808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Справочники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4726" y="1668780"/>
            <a:ext cx="7059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Печать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883664"/>
            <a:ext cx="1118311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502920" y="2359152"/>
            <a:ext cx="11183112" cy="0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0936" y="1965960"/>
            <a:ext cx="310896" cy="310896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" y="1965960"/>
            <a:ext cx="310896" cy="310896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99032" y="1965960"/>
            <a:ext cx="310896" cy="310896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99032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83080" y="1965960"/>
            <a:ext cx="310896" cy="310896"/>
          </a:xfrm>
          <a:prstGeom prst="roundRect">
            <a:avLst/>
          </a:prstGeom>
          <a:solidFill>
            <a:srgbClr val="5A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83080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⚙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185416" y="1956816"/>
            <a:ext cx="0" cy="329184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631936" y="2359152"/>
            <a:ext cx="3054096" cy="362102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631936" y="2359152"/>
            <a:ext cx="0" cy="3621024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631936" y="2359152"/>
            <a:ext cx="3054096" cy="237744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31936" y="2359152"/>
            <a:ext cx="45720" cy="23774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59952" y="2400300"/>
            <a:ext cx="28712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A3A6B"/>
                </a:solidFill>
                <a:latin typeface="Arial"/>
              </a:rPr>
              <a:t>Параметры вентилятора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4" y="2651760"/>
            <a:ext cx="17713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Марка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11688" y="2651760"/>
            <a:ext cx="1154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F1F1F"/>
                </a:solidFill>
                <a:latin typeface="Arial"/>
              </a:rPr>
              <a:t>ВОД-30М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41664" y="2875788"/>
            <a:ext cx="17713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Установка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11688" y="2875788"/>
            <a:ext cx="1154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ствол ВХВ-4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4" y="3099816"/>
            <a:ext cx="17713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Тип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11688" y="3099816"/>
            <a:ext cx="1154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B91C1C"/>
                </a:solidFill>
                <a:latin typeface="Arial"/>
              </a:rPr>
              <a:t>ГВУ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41664" y="3323844"/>
            <a:ext cx="17713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Частота, об/мин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11688" y="3323844"/>
            <a:ext cx="1154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600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41664" y="3547872"/>
            <a:ext cx="17713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Угол лопаток, 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11688" y="3547872"/>
            <a:ext cx="1154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35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741664" y="3808476"/>
            <a:ext cx="2834640" cy="0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631936" y="3899915"/>
            <a:ext cx="3054096" cy="237744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631936" y="3899915"/>
            <a:ext cx="45720" cy="23774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59952" y="3941063"/>
            <a:ext cx="28712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A3A6B"/>
                </a:solidFill>
                <a:latin typeface="Arial"/>
              </a:rPr>
              <a:t>Рабочая точка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41664" y="4192524"/>
            <a:ext cx="17713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Подача Q, м³/с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11688" y="4192524"/>
            <a:ext cx="1154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2563EB"/>
                </a:solidFill>
                <a:latin typeface="Arial"/>
              </a:rPr>
              <a:t>118,4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41664" y="4416552"/>
            <a:ext cx="17713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Депрессия H, Па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11688" y="4416552"/>
            <a:ext cx="1154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A3A6B"/>
                </a:solidFill>
                <a:latin typeface="Arial"/>
              </a:rPr>
              <a:t>2 448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41664" y="4640580"/>
            <a:ext cx="17713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КПД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11688" y="4640580"/>
            <a:ext cx="1154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5803D"/>
                </a:solidFill>
                <a:latin typeface="Arial"/>
              </a:rPr>
              <a:t>0,81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41664" y="4864608"/>
            <a:ext cx="17713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Мощность на валу, кВт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11688" y="4864608"/>
            <a:ext cx="1154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A3A6B"/>
                </a:solidFill>
                <a:latin typeface="Arial"/>
              </a:rPr>
              <a:t>358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41664" y="5088636"/>
            <a:ext cx="17713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Сопротивление сети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11688" y="5088636"/>
            <a:ext cx="1154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5A6372"/>
                </a:solidFill>
                <a:latin typeface="Arial"/>
              </a:rPr>
              <a:t>0,176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59952" y="5367528"/>
            <a:ext cx="2798063" cy="402336"/>
          </a:xfrm>
          <a:prstGeom prst="rect">
            <a:avLst/>
          </a:prstGeom>
          <a:solidFill>
            <a:srgbClr val="ECF7F0"/>
          </a:solidFill>
          <a:ln w="1143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869680" y="5436108"/>
            <a:ext cx="2578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1" i="0">
                <a:solidFill>
                  <a:srgbClr val="15803D"/>
                </a:solidFill>
                <a:latin typeface="Arial"/>
              </a:rPr>
              <a:t>Точка в паспортной зоне —</a:t>
            </a:r>
          </a:p>
          <a:p>
            <a:pPr algn="l">
              <a:lnSpc>
                <a:spcPct val="112000"/>
              </a:lnSpc>
            </a:pPr>
            <a:r>
              <a:rPr sz="850" b="1" i="0">
                <a:solidFill>
                  <a:srgbClr val="15803D"/>
                </a:solidFill>
                <a:latin typeface="Arial"/>
              </a:rPr>
              <a:t>режим устойчивый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759952" y="5843016"/>
            <a:ext cx="2798063" cy="310896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59952" y="5911596"/>
            <a:ext cx="27980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⇩  Диаграмма в Excel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5800" y="2505456"/>
            <a:ext cx="7653528" cy="3145536"/>
          </a:xfrm>
          <a:prstGeom prst="rect">
            <a:avLst/>
          </a:prstGeom>
          <a:solidFill>
            <a:srgbClr val="FFFFFF"/>
          </a:solidFill>
          <a:ln w="11430">
            <a:solidFill>
              <a:srgbClr val="D4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1399032" y="4777740"/>
            <a:ext cx="6464808" cy="0"/>
          </a:xfrm>
          <a:prstGeom prst="line">
            <a:avLst/>
          </a:prstGeom>
          <a:ln w="7620">
            <a:solidFill>
              <a:srgbClr val="EE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04088" y="4695444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475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399032" y="4489704"/>
            <a:ext cx="6464808" cy="0"/>
          </a:xfrm>
          <a:prstGeom prst="line">
            <a:avLst/>
          </a:prstGeom>
          <a:ln w="7620">
            <a:solidFill>
              <a:srgbClr val="EE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04088" y="4407408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950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399032" y="4201668"/>
            <a:ext cx="6464808" cy="0"/>
          </a:xfrm>
          <a:prstGeom prst="line">
            <a:avLst/>
          </a:prstGeom>
          <a:ln w="7620">
            <a:solidFill>
              <a:srgbClr val="EE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04088" y="4119372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1 425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399032" y="3913632"/>
            <a:ext cx="6464808" cy="0"/>
          </a:xfrm>
          <a:prstGeom prst="line">
            <a:avLst/>
          </a:prstGeom>
          <a:ln w="7620">
            <a:solidFill>
              <a:srgbClr val="EE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04088" y="3831336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1 900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399032" y="3625596"/>
            <a:ext cx="6464808" cy="0"/>
          </a:xfrm>
          <a:prstGeom prst="line">
            <a:avLst/>
          </a:prstGeom>
          <a:ln w="7620">
            <a:solidFill>
              <a:srgbClr val="EE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04088" y="3543300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2 375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399032" y="3337560"/>
            <a:ext cx="6464808" cy="0"/>
          </a:xfrm>
          <a:prstGeom prst="line">
            <a:avLst/>
          </a:prstGeom>
          <a:ln w="7620">
            <a:solidFill>
              <a:srgbClr val="EE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04088" y="3255264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2 850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399032" y="3049524"/>
            <a:ext cx="6464808" cy="0"/>
          </a:xfrm>
          <a:prstGeom prst="line">
            <a:avLst/>
          </a:prstGeom>
          <a:ln w="7620">
            <a:solidFill>
              <a:srgbClr val="EE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704088" y="2967228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3 325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476500" y="2761488"/>
            <a:ext cx="0" cy="2304288"/>
          </a:xfrm>
          <a:prstGeom prst="line">
            <a:avLst/>
          </a:prstGeom>
          <a:ln w="7620">
            <a:solidFill>
              <a:srgbClr val="EE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2165604" y="5120640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30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553968" y="2761488"/>
            <a:ext cx="0" cy="2304288"/>
          </a:xfrm>
          <a:prstGeom prst="line">
            <a:avLst/>
          </a:prstGeom>
          <a:ln w="7620">
            <a:solidFill>
              <a:srgbClr val="EE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3243072" y="5120640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60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4631436" y="2761488"/>
            <a:ext cx="0" cy="2304288"/>
          </a:xfrm>
          <a:prstGeom prst="line">
            <a:avLst/>
          </a:prstGeom>
          <a:ln w="7620">
            <a:solidFill>
              <a:srgbClr val="EE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4320540" y="5120640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90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708904" y="2761488"/>
            <a:ext cx="0" cy="2304288"/>
          </a:xfrm>
          <a:prstGeom prst="line">
            <a:avLst/>
          </a:prstGeom>
          <a:ln w="7620">
            <a:solidFill>
              <a:srgbClr val="EE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5398008" y="5120640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120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6786372" y="2761488"/>
            <a:ext cx="0" cy="2304288"/>
          </a:xfrm>
          <a:prstGeom prst="line">
            <a:avLst/>
          </a:prstGeom>
          <a:ln w="7620">
            <a:solidFill>
              <a:srgbClr val="EE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6475476" y="5120640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150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7863840" y="2761488"/>
            <a:ext cx="0" cy="2304288"/>
          </a:xfrm>
          <a:prstGeom prst="line">
            <a:avLst/>
          </a:prstGeom>
          <a:ln w="7620">
            <a:solidFill>
              <a:srgbClr val="EE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552944" y="5120640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180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1399032" y="2761488"/>
            <a:ext cx="0" cy="2304288"/>
          </a:xfrm>
          <a:prstGeom prst="line">
            <a:avLst/>
          </a:prstGeom>
          <a:ln w="13970">
            <a:solidFill>
              <a:srgbClr val="5A6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399032" y="5065776"/>
            <a:ext cx="6464808" cy="0"/>
          </a:xfrm>
          <a:prstGeom prst="line">
            <a:avLst/>
          </a:prstGeom>
          <a:ln w="13970">
            <a:solidFill>
              <a:srgbClr val="5A6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307592" y="254203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A6372"/>
                </a:solidFill>
                <a:latin typeface="Arial"/>
              </a:rPr>
              <a:t>H, Па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126480" y="530352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5A6372"/>
                </a:solidFill>
                <a:latin typeface="Arial"/>
              </a:rPr>
              <a:t>Q, м³/с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399032" y="3276920"/>
            <a:ext cx="215493" cy="1397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614525" y="3278317"/>
            <a:ext cx="215494" cy="4192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830019" y="3282509"/>
            <a:ext cx="215493" cy="6985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045512" y="3289494"/>
            <a:ext cx="215494" cy="9780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261006" y="3299274"/>
            <a:ext cx="215494" cy="12574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476500" y="3311848"/>
            <a:ext cx="215493" cy="15369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2691993" y="3327217"/>
            <a:ext cx="215494" cy="18163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2907487" y="3345380"/>
            <a:ext cx="215493" cy="20956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3122980" y="3366336"/>
            <a:ext cx="215494" cy="23752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3338474" y="3390088"/>
            <a:ext cx="215494" cy="26545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553968" y="3416633"/>
            <a:ext cx="215493" cy="29340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769461" y="3445973"/>
            <a:ext cx="215494" cy="32134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984955" y="3478107"/>
            <a:ext cx="215493" cy="34928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4200448" y="3513035"/>
            <a:ext cx="215494" cy="37722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4415942" y="3550757"/>
            <a:ext cx="215494" cy="40517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4631436" y="3591274"/>
            <a:ext cx="215493" cy="43311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846929" y="3634585"/>
            <a:ext cx="215494" cy="46105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5062423" y="3680690"/>
            <a:ext cx="215493" cy="48899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5277916" y="3729589"/>
            <a:ext cx="215494" cy="51694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5493410" y="3781283"/>
            <a:ext cx="215494" cy="54488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708904" y="3835771"/>
            <a:ext cx="215493" cy="57282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5924397" y="3893053"/>
            <a:ext cx="215494" cy="60076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6139891" y="3953129"/>
            <a:ext cx="215493" cy="62871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6355384" y="4016000"/>
            <a:ext cx="215494" cy="65665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6570878" y="4081665"/>
            <a:ext cx="215494" cy="68459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6786372" y="4150124"/>
            <a:ext cx="215493" cy="71254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001865" y="4221378"/>
            <a:ext cx="215494" cy="74047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7217359" y="4295425"/>
            <a:ext cx="215493" cy="76842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7432852" y="4372267"/>
            <a:ext cx="215494" cy="79636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7648346" y="4451903"/>
            <a:ext cx="215494" cy="82431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7296912" y="4314878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A6372"/>
                </a:solidFill>
                <a:latin typeface="Arial"/>
              </a:rPr>
              <a:t>30°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1399032" y="2973725"/>
            <a:ext cx="215493" cy="1571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614525" y="2975296"/>
            <a:ext cx="215494" cy="4716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830019" y="2980012"/>
            <a:ext cx="215493" cy="7858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045512" y="2987870"/>
            <a:ext cx="215494" cy="11003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261006" y="2998873"/>
            <a:ext cx="215494" cy="14146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476500" y="3013019"/>
            <a:ext cx="215493" cy="17289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2691993" y="3030308"/>
            <a:ext cx="215494" cy="20433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907487" y="3050741"/>
            <a:ext cx="215493" cy="23577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3122980" y="3074318"/>
            <a:ext cx="215494" cy="26720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3338474" y="3101038"/>
            <a:ext cx="215494" cy="29863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3553968" y="3130901"/>
            <a:ext cx="215493" cy="33007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3769461" y="3163908"/>
            <a:ext cx="215494" cy="36151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3984955" y="3200059"/>
            <a:ext cx="215493" cy="39294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4200448" y="3239353"/>
            <a:ext cx="215494" cy="42438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415942" y="3281791"/>
            <a:ext cx="215494" cy="45581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631436" y="3327372"/>
            <a:ext cx="215493" cy="48725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846929" y="3376097"/>
            <a:ext cx="215494" cy="51868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5062423" y="3427965"/>
            <a:ext cx="215493" cy="55012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5277916" y="3482977"/>
            <a:ext cx="215494" cy="58155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493410" y="3541132"/>
            <a:ext cx="215494" cy="61299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5708904" y="3602431"/>
            <a:ext cx="215493" cy="64443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5924397" y="3666874"/>
            <a:ext cx="215494" cy="67586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6139891" y="3734460"/>
            <a:ext cx="215493" cy="70729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6355384" y="3805189"/>
            <a:ext cx="215494" cy="73873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6570878" y="3879062"/>
            <a:ext cx="215494" cy="77017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786372" y="3956079"/>
            <a:ext cx="215493" cy="80160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7001865" y="4036239"/>
            <a:ext cx="215494" cy="83304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7217359" y="4119543"/>
            <a:ext cx="215493" cy="86447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7432852" y="4205990"/>
            <a:ext cx="215494" cy="89591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648346" y="4295581"/>
            <a:ext cx="215494" cy="92734"/>
          </a:xfrm>
          <a:prstGeom prst="line">
            <a:avLst/>
          </a:prstGeom>
          <a:ln w="3048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7296912" y="4168859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B91C1C"/>
                </a:solidFill>
                <a:latin typeface="Arial"/>
              </a:rPr>
              <a:t>35°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1399032" y="2700848"/>
            <a:ext cx="215493" cy="1747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614525" y="2702595"/>
            <a:ext cx="215494" cy="5239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830019" y="2707834"/>
            <a:ext cx="215493" cy="8732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2045512" y="2716566"/>
            <a:ext cx="215494" cy="12225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2261006" y="2728791"/>
            <a:ext cx="215494" cy="15718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2476500" y="2744509"/>
            <a:ext cx="215493" cy="19210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2691993" y="2763719"/>
            <a:ext cx="215494" cy="22703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2907487" y="2786422"/>
            <a:ext cx="215493" cy="26196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3122980" y="2812618"/>
            <a:ext cx="215494" cy="29689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3338474" y="2842307"/>
            <a:ext cx="215494" cy="33182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3553968" y="2875489"/>
            <a:ext cx="215493" cy="36675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3769461" y="2912164"/>
            <a:ext cx="215494" cy="40167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3984955" y="2952331"/>
            <a:ext cx="215493" cy="43660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4200448" y="2995991"/>
            <a:ext cx="215494" cy="47153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4415942" y="3043144"/>
            <a:ext cx="215494" cy="50646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4631436" y="3093790"/>
            <a:ext cx="215493" cy="54139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4846929" y="3147929"/>
            <a:ext cx="215494" cy="57631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5062423" y="3205560"/>
            <a:ext cx="215493" cy="61124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5277916" y="3266684"/>
            <a:ext cx="215494" cy="64618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5493410" y="3331302"/>
            <a:ext cx="215494" cy="68109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5708904" y="3399411"/>
            <a:ext cx="215493" cy="71603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5924397" y="3471014"/>
            <a:ext cx="215494" cy="75096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6139891" y="3546110"/>
            <a:ext cx="215493" cy="78588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6355384" y="3624698"/>
            <a:ext cx="215494" cy="82081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6570878" y="3706779"/>
            <a:ext cx="215494" cy="85574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6786372" y="3792353"/>
            <a:ext cx="215493" cy="89067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001865" y="3881420"/>
            <a:ext cx="215494" cy="92560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217359" y="3973980"/>
            <a:ext cx="215493" cy="96052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432852" y="4070032"/>
            <a:ext cx="215494" cy="99545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648346" y="4169577"/>
            <a:ext cx="215494" cy="103038"/>
          </a:xfrm>
          <a:prstGeom prst="line">
            <a:avLst/>
          </a:prstGeom>
          <a:ln w="17780">
            <a:solidFill>
              <a:srgbClr val="A9BE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7296912" y="4053159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A6372"/>
                </a:solidFill>
                <a:latin typeface="Arial"/>
              </a:rPr>
              <a:t>40°</a:t>
            </a:r>
          </a:p>
        </p:txBody>
      </p:sp>
      <p:cxnSp>
        <p:nvCxnSpPr>
          <p:cNvPr id="192" name="Connector 191"/>
          <p:cNvCxnSpPr/>
          <p:nvPr/>
        </p:nvCxnSpPr>
        <p:spPr>
          <a:xfrm flipV="1">
            <a:off x="1399032" y="5061963"/>
            <a:ext cx="215493" cy="3813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614525" y="5050527"/>
            <a:ext cx="215494" cy="11436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830019" y="5031467"/>
            <a:ext cx="215493" cy="19060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2045512" y="5004782"/>
            <a:ext cx="215494" cy="26685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2261006" y="4970473"/>
            <a:ext cx="215494" cy="34309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2476500" y="4928540"/>
            <a:ext cx="215493" cy="41933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2691993" y="4878983"/>
            <a:ext cx="215494" cy="49557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2907487" y="4821801"/>
            <a:ext cx="215493" cy="57182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3122980" y="4756996"/>
            <a:ext cx="215494" cy="64805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3338474" y="4684566"/>
            <a:ext cx="215494" cy="72430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3553968" y="4604512"/>
            <a:ext cx="215493" cy="80054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3769461" y="4516834"/>
            <a:ext cx="215494" cy="87678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3984955" y="4421532"/>
            <a:ext cx="215493" cy="95302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4200448" y="4318605"/>
            <a:ext cx="215494" cy="102927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4415942" y="4208054"/>
            <a:ext cx="215494" cy="110551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4631436" y="4089879"/>
            <a:ext cx="215493" cy="118175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4846929" y="3964080"/>
            <a:ext cx="215494" cy="125799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5062423" y="3830657"/>
            <a:ext cx="215493" cy="133423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5277916" y="3689609"/>
            <a:ext cx="215494" cy="141048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5493410" y="3540938"/>
            <a:ext cx="215494" cy="148671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5708904" y="3384642"/>
            <a:ext cx="215493" cy="156296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5924397" y="3220722"/>
            <a:ext cx="215494" cy="163920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6139891" y="3049177"/>
            <a:ext cx="215493" cy="171545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6355384" y="2870009"/>
            <a:ext cx="215494" cy="179168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1830019" y="4796484"/>
            <a:ext cx="215493" cy="211994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2045512" y="4597209"/>
            <a:ext cx="215494" cy="199275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2261006" y="4410654"/>
            <a:ext cx="215494" cy="186555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2476500" y="4236818"/>
            <a:ext cx="215493" cy="173836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2691993" y="4075702"/>
            <a:ext cx="215494" cy="161116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2907487" y="3927306"/>
            <a:ext cx="215493" cy="148396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3122980" y="3791630"/>
            <a:ext cx="215494" cy="135676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3338474" y="3668673"/>
            <a:ext cx="215494" cy="122957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3553968" y="3558436"/>
            <a:ext cx="215493" cy="110237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3769461" y="3460918"/>
            <a:ext cx="215494" cy="97518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3984955" y="3376120"/>
            <a:ext cx="215493" cy="84798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4200448" y="3304042"/>
            <a:ext cx="215494" cy="72078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4415942" y="3244684"/>
            <a:ext cx="215494" cy="59358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4631436" y="3198045"/>
            <a:ext cx="215493" cy="46639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4846929" y="3164126"/>
            <a:ext cx="215494" cy="33919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5062423" y="3142927"/>
            <a:ext cx="215493" cy="21199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5277916" y="3134447"/>
            <a:ext cx="215494" cy="8480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5493410" y="3134447"/>
            <a:ext cx="215494" cy="4240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5708904" y="3138687"/>
            <a:ext cx="215493" cy="16959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5924397" y="3155646"/>
            <a:ext cx="215494" cy="29679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6139891" y="3185325"/>
            <a:ext cx="215493" cy="42399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6355384" y="3227724"/>
            <a:ext cx="215494" cy="55119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6570878" y="3282843"/>
            <a:ext cx="215494" cy="67838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6786372" y="3350681"/>
            <a:ext cx="215493" cy="80558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7001865" y="3431239"/>
            <a:ext cx="215494" cy="93278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7217359" y="3524517"/>
            <a:ext cx="215493" cy="105997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7432852" y="3630514"/>
            <a:ext cx="215494" cy="118717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7648346" y="3749231"/>
            <a:ext cx="215494" cy="131436"/>
          </a:xfrm>
          <a:prstGeom prst="line">
            <a:avLst/>
          </a:prstGeom>
          <a:ln w="1905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399032" y="3581329"/>
            <a:ext cx="4252407" cy="0"/>
          </a:xfrm>
          <a:prstGeom prst="line">
            <a:avLst/>
          </a:prstGeom>
          <a:ln w="11430">
            <a:solidFill>
              <a:srgbClr val="1A3A6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5651439" y="3581329"/>
            <a:ext cx="0" cy="1484447"/>
          </a:xfrm>
          <a:prstGeom prst="line">
            <a:avLst/>
          </a:prstGeom>
          <a:ln w="11430">
            <a:solidFill>
              <a:srgbClr val="1A3A6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Oval 245"/>
          <p:cNvSpPr/>
          <p:nvPr/>
        </p:nvSpPr>
        <p:spPr>
          <a:xfrm>
            <a:off x="5573715" y="3503605"/>
            <a:ext cx="155448" cy="1554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619435" y="3549325"/>
            <a:ext cx="64008" cy="64008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797743" y="3069265"/>
            <a:ext cx="14813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5870895" y="3124129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80" b="1" i="0">
                <a:solidFill>
                  <a:srgbClr val="1A3A6B"/>
                </a:solidFill>
                <a:latin typeface="Arial"/>
              </a:rPr>
              <a:t>Рабочая точка</a:t>
            </a:r>
          </a:p>
          <a:p>
            <a:pPr algn="l">
              <a:lnSpc>
                <a:spcPct val="112000"/>
              </a:lnSpc>
            </a:pPr>
            <a:r>
              <a:rPr sz="780" b="1" i="0">
                <a:solidFill>
                  <a:srgbClr val="1A3A6B"/>
                </a:solidFill>
                <a:latin typeface="Arial"/>
              </a:rPr>
              <a:t>118,4 м³/с · 2 448 Па</a:t>
            </a:r>
          </a:p>
        </p:txBody>
      </p:sp>
      <p:cxnSp>
        <p:nvCxnSpPr>
          <p:cNvPr id="250" name="Connector 249"/>
          <p:cNvCxnSpPr/>
          <p:nvPr/>
        </p:nvCxnSpPr>
        <p:spPr>
          <a:xfrm>
            <a:off x="1399032" y="5550408"/>
            <a:ext cx="329184" cy="0"/>
          </a:xfrm>
          <a:prstGeom prst="line">
            <a:avLst/>
          </a:prstGeom>
          <a:ln w="2540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TextBox 250"/>
          <p:cNvSpPr txBox="1"/>
          <p:nvPr/>
        </p:nvSpPr>
        <p:spPr>
          <a:xfrm>
            <a:off x="1801368" y="546811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A6372"/>
                </a:solidFill>
                <a:latin typeface="Arial"/>
              </a:rPr>
              <a:t>характеристика вентилятора</a:t>
            </a:r>
          </a:p>
        </p:txBody>
      </p:sp>
      <p:cxnSp>
        <p:nvCxnSpPr>
          <p:cNvPr id="252" name="Connector 251"/>
          <p:cNvCxnSpPr/>
          <p:nvPr/>
        </p:nvCxnSpPr>
        <p:spPr>
          <a:xfrm>
            <a:off x="3886200" y="5550408"/>
            <a:ext cx="329184" cy="0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TextBox 252"/>
          <p:cNvSpPr txBox="1"/>
          <p:nvPr/>
        </p:nvSpPr>
        <p:spPr>
          <a:xfrm>
            <a:off x="4288536" y="546811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A6372"/>
                </a:solidFill>
                <a:latin typeface="Arial"/>
              </a:rPr>
              <a:t>характеристика сети</a:t>
            </a:r>
          </a:p>
        </p:txBody>
      </p:sp>
      <p:cxnSp>
        <p:nvCxnSpPr>
          <p:cNvPr id="254" name="Connector 253"/>
          <p:cNvCxnSpPr/>
          <p:nvPr/>
        </p:nvCxnSpPr>
        <p:spPr>
          <a:xfrm>
            <a:off x="6373368" y="5550408"/>
            <a:ext cx="329184" cy="0"/>
          </a:xfrm>
          <a:prstGeom prst="line">
            <a:avLst/>
          </a:prstGeom>
          <a:ln w="25400">
            <a:solidFill>
              <a:srgbClr val="15803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TextBox 254"/>
          <p:cNvSpPr txBox="1"/>
          <p:nvPr/>
        </p:nvSpPr>
        <p:spPr>
          <a:xfrm>
            <a:off x="6775704" y="546811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A6372"/>
                </a:solidFill>
                <a:latin typeface="Arial"/>
              </a:rPr>
              <a:t>КПД вентилятора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502920" y="5980176"/>
            <a:ext cx="11183112" cy="237744"/>
          </a:xfrm>
          <a:prstGeom prst="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7" name="Connector 256"/>
          <p:cNvCxnSpPr/>
          <p:nvPr/>
        </p:nvCxnSpPr>
        <p:spPr>
          <a:xfrm>
            <a:off x="502920" y="5980176"/>
            <a:ext cx="11183112" cy="0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630936" y="6021324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72"/>
                </a:solidFill>
                <a:latin typeface="Arial"/>
              </a:rPr>
              <a:t>ВОД-30М  ·  угол лопаток 35°  ·  600 об/мин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5199827" y="602132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72"/>
                </a:solidFill>
                <a:latin typeface="Arial"/>
              </a:rPr>
              <a:t>КПД 0,81  ·  N = 358 кВт</a:t>
            </a:r>
          </a:p>
        </p:txBody>
      </p:sp>
      <p:sp>
        <p:nvSpPr>
          <p:cNvPr id="260" name="Oval 259"/>
          <p:cNvSpPr/>
          <p:nvPr/>
        </p:nvSpPr>
        <p:spPr>
          <a:xfrm>
            <a:off x="9473184" y="6071616"/>
            <a:ext cx="68580" cy="6858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9601200" y="6021324"/>
            <a:ext cx="1956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A3A6B"/>
                </a:solidFill>
                <a:latin typeface="Arial"/>
              </a:rPr>
              <a:t>Точка в паспортной зоне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Интерфейс: подбор вентилятора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Расчёт пожара в горной выработке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Методики ВНИМИ и ИГД им. А.А. Скочинского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Программа моделирует очаг, считает мощность и температуру, распространяет продукты горения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по сети строго вниз по потоку и показывает, куда пойдёт дым.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65960"/>
            <a:ext cx="6766560" cy="41148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03454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Этап расчёта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203454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Результат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44602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Горючая нагрузка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244602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техника, кабель, конвейерная лента, крепь, ГСМ, уголь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788920"/>
            <a:ext cx="676656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85750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Мощность пожара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285750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МВт — из теплоты сгорания и интенсивности выгорания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26898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Температура продуктов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8144" y="32689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°C в очаге и остывание по длине выработки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611880"/>
            <a:ext cx="676656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8046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Тепловая депрессия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8144" y="368046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Па — влияние горячего воздуха на распределение струй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09194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Продукты горения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8144" y="409194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оксид углерода, углекислый газ, оптическая плотность дыма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434840"/>
            <a:ext cx="676656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50342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Дальность видимости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8144" y="450342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по закону Бугера — зона задымления по РД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1965960"/>
            <a:ext cx="3995928" cy="20116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1965960"/>
            <a:ext cx="68580" cy="2011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7848" y="2139696"/>
            <a:ext cx="34930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Опрокидывание струи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7848" y="2523744"/>
            <a:ext cx="349300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Отдельно проверяется, перевернёт ли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тепловая депрессия пожара нисходящую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струю — это ключевой вопрос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безопасности при пожаре в стволе.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4160520"/>
            <a:ext cx="3995928" cy="1874519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35240" y="4160520"/>
            <a:ext cx="68580" cy="187451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7848" y="4334256"/>
            <a:ext cx="34930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Другие газы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7848" y="4718304"/>
            <a:ext cx="3493008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Помимо продуктов горения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модель разносит по сети метан,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водород, оксид углерода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и оксиды азота.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Аварийные режимы: пожар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Устойчивость проветривания при пожаре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РД 15-11-2007, приложения 3, 5 и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Комплекс проверяет каждую выработку на опрокидывание струи и формирует акт — документ,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который требуется при согласовании плана ликвидации аварий.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5394960" cy="21031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68580" cy="2103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185416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3A6B"/>
                </a:solidFill>
                <a:latin typeface="Arial"/>
              </a:rPr>
              <a:t>Нисходящие выработки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69464"/>
            <a:ext cx="4892040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Считается критическая тепловая депрессия —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тот порог, при котором струя опрокидывается.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Учитываются параллельные выработки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и их сопротивление.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2011680"/>
            <a:ext cx="5394960" cy="21031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2011680"/>
            <a:ext cx="68580" cy="21031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2185416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3A6B"/>
                </a:solidFill>
                <a:latin typeface="Arial"/>
              </a:rPr>
              <a:t>Восходящие выработки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569464"/>
            <a:ext cx="4892040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Проверяется условие устойчивости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через критический расход воздуха.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Если условие нарушено — программа считает,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какая перемычка нужна для сохранения режима.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34340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3A6B"/>
                </a:solidFill>
                <a:latin typeface="Arial"/>
              </a:rPr>
              <a:t>Что даёт руднику и ВГСЧ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4873752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773168"/>
            <a:ext cx="107350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Перечень выработок с риском опрокидывания — до того, как это произойдёт на самом деле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5285232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184648"/>
            <a:ext cx="107350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Обоснование выбранного аварийного вентиляционного режима в ПЛА</a:t>
            </a:r>
          </a:p>
        </p:txBody>
      </p:sp>
      <p:sp>
        <p:nvSpPr>
          <p:cNvPr id="22" name="Oval 21"/>
          <p:cNvSpPr/>
          <p:nvPr/>
        </p:nvSpPr>
        <p:spPr>
          <a:xfrm>
            <a:off x="566928" y="5696712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596128"/>
            <a:ext cx="107350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Готовый акт проверки устойчивости проветривания с выгрузкой в документ</a:t>
            </a:r>
          </a:p>
        </p:txBody>
      </p:sp>
      <p:sp>
        <p:nvSpPr>
          <p:cNvPr id="24" name="Oval 23"/>
          <p:cNvSpPr/>
          <p:nvPr/>
        </p:nvSpPr>
        <p:spPr>
          <a:xfrm>
            <a:off x="566928" y="6108192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6007608"/>
            <a:ext cx="107350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Проверка тепловой депрессии от нескольких очагов одновременно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Устойчивость проветривания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Расчёт зон поражения при взрыве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ФНиП № 494 и № 520, методика Садовского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3A6B"/>
                </a:solidFill>
                <a:latin typeface="Arial"/>
              </a:rPr>
              <a:t>Источник взрыва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5577840" cy="3840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805939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По газу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1805939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объём и концентрация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8998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Метан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218998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предел 5,0 – 15,0 %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05456"/>
            <a:ext cx="5577840" cy="3840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574036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Водород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2574036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предел 4,0 – 75,0 %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295808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Угольная пыль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8144" y="2958084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60 – 400 г/м³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273551"/>
            <a:ext cx="5577840" cy="3840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34213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По массе ВВ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8144" y="3342132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масса заряда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3726179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Аммонит, гранулит, ЭВВ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8144" y="3726179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пересчёт в тротиловый эквивалент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325880"/>
            <a:ext cx="51846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3A6B"/>
                </a:solidFill>
                <a:latin typeface="Arial"/>
              </a:rPr>
              <a:t>Зоны поражения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1737360"/>
            <a:ext cx="51846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1737360"/>
            <a:ext cx="128016" cy="40233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1837943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Летальная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37943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свыше 100 кПа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194560"/>
            <a:ext cx="51846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2194560"/>
            <a:ext cx="128016" cy="402336"/>
          </a:xfrm>
          <a:prstGeom prst="rect">
            <a:avLst/>
          </a:prstGeom>
          <a:solidFill>
            <a:srgbClr val="D95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22951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Тяжёлая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2951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30 – 100 кПа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2651760"/>
            <a:ext cx="51846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46520" y="2651760"/>
            <a:ext cx="128016" cy="40233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27523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Средняя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7523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15 – 30 кПа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3108960"/>
            <a:ext cx="51846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46520" y="3108960"/>
            <a:ext cx="128016" cy="402336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32095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Лёгкая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2095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5 – 15 кПа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3566160"/>
            <a:ext cx="51846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46520" y="3566160"/>
            <a:ext cx="128016" cy="402336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36667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Безопасная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6667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менее 5 кПа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420624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3A6B"/>
                </a:solidFill>
                <a:latin typeface="Arial"/>
              </a:rPr>
              <a:t>Что рассчитывается</a:t>
            </a:r>
          </a:p>
        </p:txBody>
      </p:sp>
      <p:sp>
        <p:nvSpPr>
          <p:cNvPr id="46" name="Oval 45"/>
          <p:cNvSpPr/>
          <p:nvPr/>
        </p:nvSpPr>
        <p:spPr>
          <a:xfrm>
            <a:off x="566928" y="4745736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" y="4645152"/>
            <a:ext cx="107350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Избыточное давление во фронте ударной волны на заданном удалении от очага</a:t>
            </a:r>
          </a:p>
        </p:txBody>
      </p:sp>
      <p:sp>
        <p:nvSpPr>
          <p:cNvPr id="48" name="Oval 47"/>
          <p:cNvSpPr/>
          <p:nvPr/>
        </p:nvSpPr>
        <p:spPr>
          <a:xfrm>
            <a:off x="566928" y="5157216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" y="5056632"/>
            <a:ext cx="107350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Импульс волны и скорость её фронта по выработкам</a:t>
            </a:r>
          </a:p>
        </p:txBody>
      </p:sp>
      <p:sp>
        <p:nvSpPr>
          <p:cNvPr id="50" name="Oval 49"/>
          <p:cNvSpPr/>
          <p:nvPr/>
        </p:nvSpPr>
        <p:spPr>
          <a:xfrm>
            <a:off x="566928" y="5568696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" y="5468112"/>
            <a:ext cx="107350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Распространение по сети выработок с учётом их геометрии, а не по прямой линии</a:t>
            </a:r>
          </a:p>
        </p:txBody>
      </p:sp>
      <p:sp>
        <p:nvSpPr>
          <p:cNvPr id="52" name="Oval 51"/>
          <p:cNvSpPr/>
          <p:nvPr/>
        </p:nvSpPr>
        <p:spPr>
          <a:xfrm>
            <a:off x="566928" y="5980176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" y="5879592"/>
            <a:ext cx="107350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Границы зон поражения на схеме и протокол взрывоопасности рудничной атмосферы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Аварийные режимы: взрыв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План ликвидации аварий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Позиции, режимы, маршруты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ПЛА строится не отдельным документом, а на той же расчётной модели: каждая позиция привязана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к конкретным выработкам и к своему вентиляционному режиму.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3520440" cy="18288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68580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1854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Позиции аварий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69464"/>
            <a:ext cx="3017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Нумерация, тип аварии, привязка к выработкам,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выноски на схеме, цвет и оформление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по горной графике.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2011680"/>
            <a:ext cx="3520440" cy="18288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2011680"/>
            <a:ext cx="68580" cy="18288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1854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Вентиляционные режимы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569464"/>
            <a:ext cx="3017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Для каждой позиции — свой режим: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нормальный, реверсивный, с перекрытием.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Расчёт показывает, что получится.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3" y="2011680"/>
            <a:ext cx="3520440" cy="18288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2011680"/>
            <a:ext cx="68580" cy="18288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1854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Данные ОПО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569464"/>
            <a:ext cx="3017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Сведения об опасном производственном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объекте подставляются в документы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автоматически.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069080"/>
            <a:ext cx="3520440" cy="18288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069080"/>
            <a:ext cx="68580" cy="18288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2428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Маршруты выхода людей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626864"/>
            <a:ext cx="3017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Путь до поверхности ищется по времени,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а не по расстоянию — с учётом уклонов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и задымлённых участков.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4069080"/>
            <a:ext cx="3520440" cy="18288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4256" y="4069080"/>
            <a:ext cx="68580" cy="18288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6864" y="42428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Рабочие места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6864" y="4626864"/>
            <a:ext cx="3017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Численность людей по узлам,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сменность, привязка к выработкам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и к путям отхода.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1583" y="4069080"/>
            <a:ext cx="3520440" cy="18288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4069080"/>
            <a:ext cx="68580" cy="18288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42428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Проверка схемы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626864"/>
            <a:ext cx="3017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Контроль топологии, висящих узлов,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незаданных параметров —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до сдачи документа.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План ликвидации аварий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Эвакуация людей: успеют ли выйти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Проверка самоспасателей по каждому рабочему месту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Для каждого рабочего места программа сравнивает время выхода на поверхность со временем защитного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действия самоспасателя и учитывает пункты переключения на пути.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121408" cy="914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6771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Успевают с запасом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8064" y="2011680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2011680"/>
            <a:ext cx="2121408" cy="91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944" y="226771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Успевают впритык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011680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2011680"/>
            <a:ext cx="2121408" cy="91440"/>
          </a:xfrm>
          <a:prstGeom prst="rect">
            <a:avLst/>
          </a:prstGeom>
          <a:solidFill>
            <a:srgbClr val="D95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26771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Спасает переключение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0336" y="2011680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0336" y="2011680"/>
            <a:ext cx="2121408" cy="914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5" y="226771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Не успевают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91472" y="2011680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91472" y="2011680"/>
            <a:ext cx="2121408" cy="91440"/>
          </a:xfrm>
          <a:prstGeom prst="rect">
            <a:avLst/>
          </a:prstGeom>
          <a:solidFill>
            <a:srgbClr val="5A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74351" y="226771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Маршрут не найден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06324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3A6B"/>
                </a:solidFill>
                <a:latin typeface="Arial"/>
              </a:rPr>
              <a:t>Справочник самоспасателей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456432"/>
            <a:ext cx="5669280" cy="36576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352501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Марка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0864" y="35250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Тип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95344" y="35250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В движении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3" y="352501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В покое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389077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ПСС-90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40864" y="389077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сжатый O₂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95344" y="389077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90 мин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3" y="389077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360 мин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187952"/>
            <a:ext cx="5669280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42565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ШСС-1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40864" y="42565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химический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95344" y="425653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60 мин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75503" y="425653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300 мин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46222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СПП-4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40864" y="46222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химический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95344" y="46222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50 мин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75503" y="462229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200 мин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919472"/>
            <a:ext cx="5669280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" y="498805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СИП-М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40864" y="498805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сжатый O₂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95344" y="498805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60 мин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75503" y="498805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240 мин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37960" y="3063240"/>
            <a:ext cx="5093208" cy="123444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37960" y="3063240"/>
            <a:ext cx="68580" cy="1234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30568" y="3236976"/>
            <a:ext cx="4590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Скорости по нормативу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30568" y="3621024"/>
            <a:ext cx="4590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Скорость движения берётся из РД 15-11-2007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с учётом угла наклона выработки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и плотности задымления.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60" y="4434840"/>
            <a:ext cx="5093208" cy="123444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37960" y="4434840"/>
            <a:ext cx="68580" cy="12344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30568" y="4608576"/>
            <a:ext cx="4590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Пункты переключения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4992624"/>
            <a:ext cx="4590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Программа проверяет, есть ли ПВП или убежище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на пути следования, и продлевает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время защиты соответственно.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55321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Итог — таблица по рабочим местам: сколько людей, куда выходят, за какое время и что нужно исправить.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Безопасность людей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"/>
            <a:ext cx="9692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Отдельный блок для ВГСЧ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0B0B4"/>
                </a:solidFill>
                <a:latin typeface="Arial"/>
              </a:rPr>
              <a:t>Расчёты, которые нужны именно горноспасателям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743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B86066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Комплекс считает движение отделений по задымлённым выработкам на основании Инструкции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по организации горноспасательных работ и РД 15-11-2007.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11680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3A6B"/>
                </a:solidFill>
                <a:latin typeface="Arial"/>
              </a:rPr>
              <a:t>Зоны задымления и скорость хода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14016"/>
            <a:ext cx="5760720" cy="38404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48259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Зона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2482596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Видимость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3" y="2482596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Скорость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86664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Чистый воздух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866644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более 10 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3" y="2866644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полная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182112"/>
            <a:ext cx="5760720" cy="3840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25069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Слабое задымление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325069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5 – 10 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3" y="325069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ниже в 1,43 раза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63474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Густое задымление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0944" y="363474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менее 5 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8303" y="363474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ниже в 2 раза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931920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3A6B"/>
                </a:solidFill>
                <a:latin typeface="Arial"/>
              </a:rPr>
              <a:t>Что получает командир</a:t>
            </a:r>
          </a:p>
        </p:txBody>
      </p:sp>
      <p:sp>
        <p:nvSpPr>
          <p:cNvPr id="25" name="Oval 24"/>
          <p:cNvSpPr/>
          <p:nvPr/>
        </p:nvSpPr>
        <p:spPr>
          <a:xfrm>
            <a:off x="566928" y="4443984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343400"/>
            <a:ext cx="552297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1F1F"/>
                </a:solidFill>
                <a:latin typeface="Arial"/>
              </a:rPr>
              <a:t>Маршрут отделения туда и обратно по сети выработок</a:t>
            </a:r>
          </a:p>
        </p:txBody>
      </p:sp>
      <p:sp>
        <p:nvSpPr>
          <p:cNvPr id="27" name="Oval 26"/>
          <p:cNvSpPr/>
          <p:nvPr/>
        </p:nvSpPr>
        <p:spPr>
          <a:xfrm>
            <a:off x="566928" y="4846320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745736"/>
            <a:ext cx="552297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1F1F"/>
                </a:solidFill>
                <a:latin typeface="Arial"/>
              </a:rPr>
              <a:t>Время выполнения операции с учётом уклонов и дыма</a:t>
            </a:r>
          </a:p>
        </p:txBody>
      </p:sp>
      <p:sp>
        <p:nvSpPr>
          <p:cNvPr id="29" name="Oval 28"/>
          <p:cNvSpPr/>
          <p:nvPr/>
        </p:nvSpPr>
        <p:spPr>
          <a:xfrm>
            <a:off x="566928" y="5248656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148072"/>
            <a:ext cx="552297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1F1F"/>
                </a:solidFill>
                <a:latin typeface="Arial"/>
              </a:rPr>
              <a:t>Расход кислорода ИДА и процент его использования</a:t>
            </a:r>
          </a:p>
        </p:txBody>
      </p:sp>
      <p:sp>
        <p:nvSpPr>
          <p:cNvPr id="31" name="Oval 30"/>
          <p:cNvSpPr/>
          <p:nvPr/>
        </p:nvSpPr>
        <p:spPr>
          <a:xfrm>
            <a:off x="566928" y="5650992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550408"/>
            <a:ext cx="552297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1F1F"/>
                </a:solidFill>
                <a:latin typeface="Arial"/>
              </a:rPr>
              <a:t>Проверка проходимости перемычек на пути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2011680"/>
            <a:ext cx="5001768" cy="15544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29400" y="2011680"/>
            <a:ext cx="68580" cy="15544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22008" y="2185416"/>
            <a:ext cx="4498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3A6B"/>
                </a:solidFill>
                <a:latin typeface="Arial"/>
              </a:rPr>
              <a:t>Виды операций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2569464"/>
            <a:ext cx="44988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Разведка, разведка с возвратом,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транспортировка пострадавшего,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ликвидация очага — у каждой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свои нормативные скорости.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400" y="3703320"/>
            <a:ext cx="5001768" cy="13716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29400" y="3703320"/>
            <a:ext cx="68580" cy="13716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22008" y="3877056"/>
            <a:ext cx="4498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3A6B"/>
                </a:solidFill>
                <a:latin typeface="Arial"/>
              </a:rPr>
              <a:t>Выбор базы ВГСЧ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8" y="4261104"/>
            <a:ext cx="449884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Расчёт показывает, откуда отделение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успевает дойти до очага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в пределах защитного действия ИДА.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5212080"/>
            <a:ext cx="5001768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29400" y="5212080"/>
            <a:ext cx="68580" cy="96012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22008" y="5385816"/>
            <a:ext cx="44988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3A6B"/>
                </a:solidFill>
                <a:latin typeface="Arial"/>
              </a:rPr>
              <a:t>Единая оценка дыма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22008" y="5769864"/>
            <a:ext cx="4498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Видимость считается одинаково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во всех расчётах комплекса.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Горноспасательные работы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Маршрут отделения ВГСЧ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0B0B4"/>
                </a:solidFill>
                <a:latin typeface="Arial"/>
              </a:rPr>
              <a:t>Зоны задымления на схеме, время хода и расход кислорода ИДА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B86066"/>
                </a:solidFill>
                <a:latin typeface="Arial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35024"/>
            <a:ext cx="11183112" cy="4882896"/>
          </a:xfrm>
          <a:prstGeom prst="rect">
            <a:avLst/>
          </a:prstGeom>
          <a:solidFill>
            <a:srgbClr val="FFFFFF"/>
          </a:solidFill>
          <a:ln w="15240">
            <a:solidFill>
              <a:srgbClr val="D4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11183112" cy="27432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385316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ПВ-Система  —  Рудник «Северный» · Позиция ПЛА № 14 — пожар в орте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1385316"/>
            <a:ext cx="2194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C8D6EA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73384" y="1385316"/>
            <a:ext cx="2194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C8D6EA"/>
                </a:solidFill>
                <a:latin typeface="Arial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29416" y="1385316"/>
            <a:ext cx="2194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C8D6EA"/>
                </a:solidFill>
                <a:latin typeface="Arial"/>
              </a:rPr>
              <a:t>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609344"/>
            <a:ext cx="11183112" cy="274320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668780"/>
            <a:ext cx="55595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Файл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0315" y="1668780"/>
            <a:ext cx="78089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Главная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1212" y="1668780"/>
            <a:ext cx="6309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Схема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2148" y="166878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Вентиляция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7988" y="1609344"/>
            <a:ext cx="705916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7988" y="1609344"/>
            <a:ext cx="705916" cy="3200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7988" y="1668780"/>
            <a:ext cx="7059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Аварии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3905" y="1668780"/>
            <a:ext cx="10808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Справочники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4726" y="1668780"/>
            <a:ext cx="7059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Печать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883664"/>
            <a:ext cx="1118311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502920" y="2359152"/>
            <a:ext cx="11183112" cy="0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0936" y="1965960"/>
            <a:ext cx="310896" cy="310896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" y="1965960"/>
            <a:ext cx="310896" cy="310896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99032" y="1965960"/>
            <a:ext cx="310896" cy="310896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99032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83080" y="1965960"/>
            <a:ext cx="310896" cy="310896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83080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67128" y="1965960"/>
            <a:ext cx="310896" cy="310896"/>
          </a:xfrm>
          <a:prstGeom prst="roundRect">
            <a:avLst/>
          </a:prstGeom>
          <a:solidFill>
            <a:srgbClr val="5A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67128" y="202539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68512" y="2359152"/>
            <a:ext cx="3017520" cy="362102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668512" y="2359152"/>
            <a:ext cx="0" cy="3621024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668512" y="2359152"/>
            <a:ext cx="3017520" cy="237744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68512" y="2359152"/>
            <a:ext cx="45720" cy="23774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96528" y="2400300"/>
            <a:ext cx="283463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A3A6B"/>
                </a:solidFill>
                <a:latin typeface="Arial"/>
              </a:rPr>
              <a:t>Отделение и снаряжение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2651760"/>
            <a:ext cx="18105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Отделение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58323" y="2651760"/>
            <a:ext cx="113934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F1F1F"/>
                </a:solidFill>
                <a:latin typeface="Arial"/>
              </a:rPr>
              <a:t>5 чел.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2875788"/>
            <a:ext cx="18105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База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58323" y="2875788"/>
            <a:ext cx="113934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подземная, гор. −320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3099816"/>
            <a:ext cx="18105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ИДА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58323" y="3099816"/>
            <a:ext cx="113934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F1F1F"/>
                </a:solidFill>
                <a:latin typeface="Arial"/>
              </a:rPr>
              <a:t>Р-30, 400 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323844"/>
            <a:ext cx="18105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Ресурс ИДА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58323" y="3323844"/>
            <a:ext cx="113934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240 мин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3547872"/>
            <a:ext cx="18105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Расход O₂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58323" y="3547872"/>
            <a:ext cx="113934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1,4 л/мин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3771900"/>
            <a:ext cx="18105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Операция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58323" y="3771900"/>
            <a:ext cx="113934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разведка с возвратом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778240" y="4041648"/>
            <a:ext cx="2798064" cy="0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8668512" y="4133087"/>
            <a:ext cx="3017520" cy="237744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68512" y="4133087"/>
            <a:ext cx="45720" cy="23774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96528" y="4174235"/>
            <a:ext cx="283463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A3A6B"/>
                </a:solidFill>
                <a:latin typeface="Arial"/>
              </a:rPr>
              <a:t>Результат расчёта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4425696"/>
            <a:ext cx="18105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Путь туда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58323" y="4425696"/>
            <a:ext cx="113934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F1F1F"/>
                </a:solidFill>
                <a:latin typeface="Arial"/>
              </a:rPr>
              <a:t>1 921 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0" y="4649724"/>
            <a:ext cx="18105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Время туда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58323" y="4649724"/>
            <a:ext cx="113934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2563EB"/>
                </a:solidFill>
                <a:latin typeface="Arial"/>
              </a:rPr>
              <a:t>57,2 мин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78240" y="4873752"/>
            <a:ext cx="18105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Время обратно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58323" y="4873752"/>
            <a:ext cx="113934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2563EB"/>
                </a:solidFill>
                <a:latin typeface="Arial"/>
              </a:rPr>
              <a:t>54,5 мин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40" y="5097780"/>
            <a:ext cx="18105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Всего времени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58323" y="5097780"/>
            <a:ext cx="113934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A3A6B"/>
                </a:solidFill>
                <a:latin typeface="Arial"/>
              </a:rPr>
              <a:t>111,7 мин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78240" y="5321808"/>
            <a:ext cx="18105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Расход O₂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58323" y="5321808"/>
            <a:ext cx="113934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A3A6B"/>
                </a:solidFill>
                <a:latin typeface="Arial"/>
              </a:rPr>
              <a:t>156,3 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78240" y="5545836"/>
            <a:ext cx="18105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Ресурс ИДА по времени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58323" y="5545836"/>
            <a:ext cx="113934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5803D"/>
                </a:solidFill>
                <a:latin typeface="Arial"/>
              </a:rPr>
              <a:t>47 %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78240" y="5769864"/>
            <a:ext cx="18105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Ресурс ИДА по O₂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58323" y="5769864"/>
            <a:ext cx="113934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5803D"/>
                </a:solidFill>
                <a:latin typeface="Arial"/>
              </a:rPr>
              <a:t>39 %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96528" y="6048756"/>
            <a:ext cx="2761487" cy="384048"/>
          </a:xfrm>
          <a:prstGeom prst="rect">
            <a:avLst/>
          </a:prstGeom>
          <a:solidFill>
            <a:srgbClr val="ECF7F0"/>
          </a:solidFill>
          <a:ln w="1143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887968" y="6117336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1" i="0">
                <a:solidFill>
                  <a:srgbClr val="15803D"/>
                </a:solidFill>
                <a:latin typeface="Arial"/>
              </a:rPr>
              <a:t>Операция выполнима —</a:t>
            </a:r>
          </a:p>
          <a:p>
            <a:pPr algn="l">
              <a:lnSpc>
                <a:spcPct val="112000"/>
              </a:lnSpc>
            </a:pPr>
            <a:r>
              <a:rPr sz="850" b="1" i="0">
                <a:solidFill>
                  <a:srgbClr val="15803D"/>
                </a:solidFill>
                <a:latin typeface="Arial"/>
              </a:rPr>
              <a:t>запас ИДА достаточен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2359152"/>
            <a:ext cx="8165592" cy="3621024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1183386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863851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544318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224783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905249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585716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266182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946648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627114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307580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88046" y="2359152"/>
            <a:ext cx="0" cy="3621024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2920" y="2811780"/>
            <a:ext cx="8165592" cy="0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2920" y="3264408"/>
            <a:ext cx="8165592" cy="0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02920" y="3717035"/>
            <a:ext cx="8165592" cy="0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02920" y="4169664"/>
            <a:ext cx="8165592" cy="0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2920" y="4622292"/>
            <a:ext cx="8165592" cy="0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02920" y="5074920"/>
            <a:ext cx="8165592" cy="0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02920" y="5527548"/>
            <a:ext cx="8165592" cy="0"/>
          </a:xfrm>
          <a:prstGeom prst="line">
            <a:avLst/>
          </a:prstGeom>
          <a:ln w="6350">
            <a:solidFill>
              <a:srgbClr val="F0F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30936" y="2782153"/>
            <a:ext cx="7909560" cy="0"/>
          </a:xfrm>
          <a:prstGeom prst="line">
            <a:avLst/>
          </a:prstGeom>
          <a:ln w="20320">
            <a:solidFill>
              <a:srgbClr val="8A6D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67512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22049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376587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731125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085663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2440201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2794738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149276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503814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858352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4212890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4567427" y="2699857"/>
            <a:ext cx="64009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921965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276503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631041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985579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6340117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694654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049192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7403730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7758268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8112806" y="2699857"/>
            <a:ext cx="64008" cy="82296"/>
          </a:xfrm>
          <a:prstGeom prst="line">
            <a:avLst/>
          </a:prstGeom>
          <a:ln w="8890">
            <a:solidFill>
              <a:srgbClr val="A888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5028102" y="4032504"/>
            <a:ext cx="1429848" cy="0"/>
          </a:xfrm>
          <a:prstGeom prst="line">
            <a:avLst/>
          </a:prstGeom>
          <a:ln w="165100">
            <a:solidFill>
              <a:srgbClr val="C9B8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6457950" y="4032504"/>
            <a:ext cx="1204081" cy="0"/>
          </a:xfrm>
          <a:prstGeom prst="line">
            <a:avLst/>
          </a:prstGeom>
          <a:ln w="165100">
            <a:solidFill>
              <a:srgbClr val="6B5E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491112" y="2782153"/>
            <a:ext cx="0" cy="1250351"/>
          </a:xfrm>
          <a:prstGeom prst="line">
            <a:avLst/>
          </a:prstGeom>
          <a:ln w="144018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491112" y="2782153"/>
            <a:ext cx="0" cy="1250351"/>
          </a:xfrm>
          <a:prstGeom prst="line">
            <a:avLst/>
          </a:prstGeom>
          <a:ln w="96012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491112" y="4032504"/>
            <a:ext cx="1806122" cy="0"/>
          </a:xfrm>
          <a:prstGeom prst="line">
            <a:avLst/>
          </a:prstGeom>
          <a:ln w="120700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491112" y="4032504"/>
            <a:ext cx="1806122" cy="0"/>
          </a:xfrm>
          <a:prstGeom prst="line">
            <a:avLst/>
          </a:prstGeom>
          <a:ln w="80467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297234" y="4032504"/>
            <a:ext cx="1730868" cy="0"/>
          </a:xfrm>
          <a:prstGeom prst="line">
            <a:avLst/>
          </a:prstGeom>
          <a:ln w="106984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297234" y="4032504"/>
            <a:ext cx="1730868" cy="0"/>
          </a:xfrm>
          <a:prstGeom prst="line">
            <a:avLst/>
          </a:prstGeom>
          <a:ln w="71323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5028102" y="4032504"/>
            <a:ext cx="1429848" cy="0"/>
          </a:xfrm>
          <a:prstGeom prst="line">
            <a:avLst/>
          </a:prstGeom>
          <a:ln w="90525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5028102" y="4032504"/>
            <a:ext cx="1429848" cy="0"/>
          </a:xfrm>
          <a:prstGeom prst="line">
            <a:avLst/>
          </a:prstGeom>
          <a:ln w="60350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6457950" y="4032504"/>
            <a:ext cx="1204081" cy="0"/>
          </a:xfrm>
          <a:prstGeom prst="line">
            <a:avLst/>
          </a:prstGeom>
          <a:ln w="79552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6457950" y="4032504"/>
            <a:ext cx="1204081" cy="0"/>
          </a:xfrm>
          <a:prstGeom prst="line">
            <a:avLst/>
          </a:prstGeom>
          <a:ln w="53035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662031" y="3257092"/>
            <a:ext cx="0" cy="775412"/>
          </a:xfrm>
          <a:prstGeom prst="line">
            <a:avLst/>
          </a:prstGeom>
          <a:ln w="120700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662031" y="3257092"/>
            <a:ext cx="0" cy="775412"/>
          </a:xfrm>
          <a:prstGeom prst="line">
            <a:avLst/>
          </a:prstGeom>
          <a:ln w="80467">
            <a:solidFill>
              <a:srgbClr val="2196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662031" y="2782153"/>
            <a:ext cx="0" cy="474939"/>
          </a:xfrm>
          <a:prstGeom prst="line">
            <a:avLst/>
          </a:prstGeom>
          <a:ln w="144018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662031" y="2782153"/>
            <a:ext cx="0" cy="474939"/>
          </a:xfrm>
          <a:prstGeom prst="line">
            <a:avLst/>
          </a:prstGeom>
          <a:ln w="96012">
            <a:solidFill>
              <a:srgbClr val="2196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3297234" y="4032504"/>
            <a:ext cx="1730868" cy="920800"/>
          </a:xfrm>
          <a:prstGeom prst="line">
            <a:avLst/>
          </a:prstGeom>
          <a:ln w="76809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3297234" y="4032504"/>
            <a:ext cx="1730868" cy="920800"/>
          </a:xfrm>
          <a:prstGeom prst="line">
            <a:avLst/>
          </a:prstGeom>
          <a:ln w="51206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5028102" y="4953304"/>
            <a:ext cx="1429848" cy="0"/>
          </a:xfrm>
          <a:prstGeom prst="line">
            <a:avLst/>
          </a:prstGeom>
          <a:ln w="68580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5028102" y="4953304"/>
            <a:ext cx="1429848" cy="0"/>
          </a:xfrm>
          <a:prstGeom prst="line">
            <a:avLst/>
          </a:prstGeom>
          <a:ln w="45720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6457950" y="4032504"/>
            <a:ext cx="1204081" cy="920800"/>
          </a:xfrm>
          <a:prstGeom prst="line">
            <a:avLst/>
          </a:prstGeom>
          <a:ln w="76809">
            <a:solidFill>
              <a:srgbClr val="9AA6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457950" y="4032504"/>
            <a:ext cx="1204081" cy="920800"/>
          </a:xfrm>
          <a:prstGeom prst="line">
            <a:avLst/>
          </a:prstGeom>
          <a:ln w="51206">
            <a:solidFill>
              <a:srgbClr val="2196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Freeform 136"/>
          <p:cNvSpPr/>
          <p:nvPr/>
        </p:nvSpPr>
        <p:spPr>
          <a:xfrm>
            <a:off x="1439814" y="3176318"/>
            <a:ext cx="102595" cy="133685"/>
          </a:xfrm>
          <a:custGeom>
            <a:avLst/>
            <a:gdLst/>
            <a:ahLst/>
            <a:cxnLst/>
            <a:rect l="l" t="t" r="r" b="b"/>
            <a:pathLst>
              <a:path w="102595" h="133685">
                <a:moveTo>
                  <a:pt x="51298" y="133685"/>
                </a:moveTo>
                <a:lnTo>
                  <a:pt x="0" y="0"/>
                </a:lnTo>
                <a:lnTo>
                  <a:pt x="102595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439814" y="3576430"/>
            <a:ext cx="102595" cy="133685"/>
          </a:xfrm>
          <a:custGeom>
            <a:avLst/>
            <a:gdLst/>
            <a:ahLst/>
            <a:cxnLst/>
            <a:rect l="l" t="t" r="r" b="b"/>
            <a:pathLst>
              <a:path w="102595" h="133685">
                <a:moveTo>
                  <a:pt x="51298" y="133685"/>
                </a:moveTo>
                <a:lnTo>
                  <a:pt x="0" y="0"/>
                </a:lnTo>
                <a:lnTo>
                  <a:pt x="102595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472824" y="3329604"/>
            <a:ext cx="58521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118,4</a:t>
            </a:r>
          </a:p>
        </p:txBody>
      </p:sp>
      <p:sp>
        <p:nvSpPr>
          <p:cNvPr id="140" name="Freeform 139"/>
          <p:cNvSpPr/>
          <p:nvPr/>
        </p:nvSpPr>
        <p:spPr>
          <a:xfrm>
            <a:off x="2085355" y="3981206"/>
            <a:ext cx="133685" cy="102595"/>
          </a:xfrm>
          <a:custGeom>
            <a:avLst/>
            <a:gdLst/>
            <a:ahLst/>
            <a:cxnLst/>
            <a:rect l="l" t="t" r="r" b="b"/>
            <a:pathLst>
              <a:path w="133685" h="102595">
                <a:moveTo>
                  <a:pt x="133685" y="51298"/>
                </a:moveTo>
                <a:lnTo>
                  <a:pt x="0" y="10259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2663314" y="3981206"/>
            <a:ext cx="133685" cy="102595"/>
          </a:xfrm>
          <a:custGeom>
            <a:avLst/>
            <a:gdLst/>
            <a:ahLst/>
            <a:cxnLst/>
            <a:rect l="l" t="t" r="r" b="b"/>
            <a:pathLst>
              <a:path w="133685" h="102595">
                <a:moveTo>
                  <a:pt x="133685" y="51298"/>
                </a:moveTo>
                <a:lnTo>
                  <a:pt x="0" y="10259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01565" y="3771900"/>
            <a:ext cx="58521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74,6</a:t>
            </a:r>
          </a:p>
        </p:txBody>
      </p:sp>
      <p:sp>
        <p:nvSpPr>
          <p:cNvPr id="143" name="Freeform 142"/>
          <p:cNvSpPr/>
          <p:nvPr/>
        </p:nvSpPr>
        <p:spPr>
          <a:xfrm>
            <a:off x="3864386" y="3981206"/>
            <a:ext cx="133685" cy="102595"/>
          </a:xfrm>
          <a:custGeom>
            <a:avLst/>
            <a:gdLst/>
            <a:ahLst/>
            <a:cxnLst/>
            <a:rect l="l" t="t" r="r" b="b"/>
            <a:pathLst>
              <a:path w="133685" h="102595">
                <a:moveTo>
                  <a:pt x="133685" y="51298"/>
                </a:moveTo>
                <a:lnTo>
                  <a:pt x="0" y="10259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4418263" y="3981206"/>
            <a:ext cx="133686" cy="102595"/>
          </a:xfrm>
          <a:custGeom>
            <a:avLst/>
            <a:gdLst/>
            <a:ahLst/>
            <a:cxnLst/>
            <a:rect l="l" t="t" r="r" b="b"/>
            <a:pathLst>
              <a:path w="133686" h="102595">
                <a:moveTo>
                  <a:pt x="133686" y="51298"/>
                </a:moveTo>
                <a:lnTo>
                  <a:pt x="0" y="10259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870060" y="3771900"/>
            <a:ext cx="58521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64,2</a:t>
            </a:r>
          </a:p>
        </p:txBody>
      </p:sp>
      <p:sp>
        <p:nvSpPr>
          <p:cNvPr id="146" name="Freeform 145"/>
          <p:cNvSpPr/>
          <p:nvPr/>
        </p:nvSpPr>
        <p:spPr>
          <a:xfrm>
            <a:off x="5486886" y="3981206"/>
            <a:ext cx="133685" cy="102595"/>
          </a:xfrm>
          <a:custGeom>
            <a:avLst/>
            <a:gdLst/>
            <a:ahLst/>
            <a:cxnLst/>
            <a:rect l="l" t="t" r="r" b="b"/>
            <a:pathLst>
              <a:path w="133685" h="102595">
                <a:moveTo>
                  <a:pt x="133685" y="51298"/>
                </a:moveTo>
                <a:lnTo>
                  <a:pt x="0" y="10259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5944437" y="3981206"/>
            <a:ext cx="133685" cy="102595"/>
          </a:xfrm>
          <a:custGeom>
            <a:avLst/>
            <a:gdLst/>
            <a:ahLst/>
            <a:cxnLst/>
            <a:rect l="l" t="t" r="r" b="b"/>
            <a:pathLst>
              <a:path w="133685" h="102595">
                <a:moveTo>
                  <a:pt x="133685" y="51298"/>
                </a:moveTo>
                <a:lnTo>
                  <a:pt x="0" y="10259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450418" y="3771900"/>
            <a:ext cx="58521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43,8</a:t>
            </a:r>
          </a:p>
        </p:txBody>
      </p:sp>
      <p:sp>
        <p:nvSpPr>
          <p:cNvPr id="149" name="Freeform 148"/>
          <p:cNvSpPr/>
          <p:nvPr/>
        </p:nvSpPr>
        <p:spPr>
          <a:xfrm>
            <a:off x="6835458" y="3981206"/>
            <a:ext cx="133685" cy="102595"/>
          </a:xfrm>
          <a:custGeom>
            <a:avLst/>
            <a:gdLst/>
            <a:ahLst/>
            <a:cxnLst/>
            <a:rect l="l" t="t" r="r" b="b"/>
            <a:pathLst>
              <a:path w="133685" h="102595">
                <a:moveTo>
                  <a:pt x="133685" y="51298"/>
                </a:moveTo>
                <a:lnTo>
                  <a:pt x="0" y="10259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7220764" y="3981206"/>
            <a:ext cx="133685" cy="102595"/>
          </a:xfrm>
          <a:custGeom>
            <a:avLst/>
            <a:gdLst/>
            <a:ahLst/>
            <a:cxnLst/>
            <a:rect l="l" t="t" r="r" b="b"/>
            <a:pathLst>
              <a:path w="133685" h="102595">
                <a:moveTo>
                  <a:pt x="133685" y="51298"/>
                </a:moveTo>
                <a:lnTo>
                  <a:pt x="0" y="10259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767382" y="3771900"/>
            <a:ext cx="58521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31,5</a:t>
            </a:r>
          </a:p>
        </p:txBody>
      </p:sp>
      <p:sp>
        <p:nvSpPr>
          <p:cNvPr id="152" name="Freeform 151"/>
          <p:cNvSpPr/>
          <p:nvPr/>
        </p:nvSpPr>
        <p:spPr>
          <a:xfrm>
            <a:off x="7610734" y="3675631"/>
            <a:ext cx="102595" cy="133686"/>
          </a:xfrm>
          <a:custGeom>
            <a:avLst/>
            <a:gdLst/>
            <a:ahLst/>
            <a:cxnLst/>
            <a:rect l="l" t="t" r="r" b="b"/>
            <a:pathLst>
              <a:path w="102595" h="133686">
                <a:moveTo>
                  <a:pt x="51297" y="0"/>
                </a:moveTo>
                <a:lnTo>
                  <a:pt x="102595" y="133686"/>
                </a:lnTo>
                <a:lnTo>
                  <a:pt x="0" y="133686"/>
                </a:lnTo>
                <a:close/>
              </a:path>
            </a:pathLst>
          </a:cu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7610734" y="3427500"/>
            <a:ext cx="102595" cy="133685"/>
          </a:xfrm>
          <a:custGeom>
            <a:avLst/>
            <a:gdLst/>
            <a:ahLst/>
            <a:cxnLst/>
            <a:rect l="l" t="t" r="r" b="b"/>
            <a:pathLst>
              <a:path w="102595" h="133685">
                <a:moveTo>
                  <a:pt x="51297" y="0"/>
                </a:moveTo>
                <a:lnTo>
                  <a:pt x="102595" y="133685"/>
                </a:lnTo>
                <a:lnTo>
                  <a:pt x="0" y="133685"/>
                </a:lnTo>
                <a:close/>
              </a:path>
            </a:pathLst>
          </a:cu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643743" y="3567074"/>
            <a:ext cx="58521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96,8</a:t>
            </a:r>
          </a:p>
        </p:txBody>
      </p:sp>
      <p:sp>
        <p:nvSpPr>
          <p:cNvPr id="155" name="Freeform 154"/>
          <p:cNvSpPr/>
          <p:nvPr/>
        </p:nvSpPr>
        <p:spPr>
          <a:xfrm>
            <a:off x="7610734" y="3008390"/>
            <a:ext cx="102595" cy="133685"/>
          </a:xfrm>
          <a:custGeom>
            <a:avLst/>
            <a:gdLst/>
            <a:ahLst/>
            <a:cxnLst/>
            <a:rect l="l" t="t" r="r" b="b"/>
            <a:pathLst>
              <a:path w="102595" h="133685">
                <a:moveTo>
                  <a:pt x="51297" y="0"/>
                </a:moveTo>
                <a:lnTo>
                  <a:pt x="102595" y="133685"/>
                </a:lnTo>
                <a:lnTo>
                  <a:pt x="0" y="133685"/>
                </a:lnTo>
                <a:close/>
              </a:path>
            </a:pathLst>
          </a:cu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7610734" y="2856410"/>
            <a:ext cx="102595" cy="133685"/>
          </a:xfrm>
          <a:custGeom>
            <a:avLst/>
            <a:gdLst/>
            <a:ahLst/>
            <a:cxnLst/>
            <a:rect l="l" t="t" r="r" b="b"/>
            <a:pathLst>
              <a:path w="102595" h="133685">
                <a:moveTo>
                  <a:pt x="51297" y="0"/>
                </a:moveTo>
                <a:lnTo>
                  <a:pt x="102595" y="133685"/>
                </a:lnTo>
                <a:lnTo>
                  <a:pt x="0" y="133685"/>
                </a:lnTo>
                <a:close/>
              </a:path>
            </a:pathLst>
          </a:cu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643743" y="2941899"/>
            <a:ext cx="58521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96,8</a:t>
            </a:r>
          </a:p>
        </p:txBody>
      </p:sp>
      <p:sp>
        <p:nvSpPr>
          <p:cNvPr id="158" name="Freeform 157"/>
          <p:cNvSpPr/>
          <p:nvPr/>
        </p:nvSpPr>
        <p:spPr>
          <a:xfrm>
            <a:off x="3846849" y="4292421"/>
            <a:ext cx="142116" cy="108075"/>
          </a:xfrm>
          <a:custGeom>
            <a:avLst/>
            <a:gdLst/>
            <a:ahLst/>
            <a:cxnLst/>
            <a:rect l="l" t="t" r="r" b="b"/>
            <a:pathLst>
              <a:path w="142116" h="108075">
                <a:moveTo>
                  <a:pt x="142116" y="108075"/>
                </a:moveTo>
                <a:lnTo>
                  <a:pt x="0" y="90576"/>
                </a:lnTo>
                <a:lnTo>
                  <a:pt x="48185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4400727" y="4587077"/>
            <a:ext cx="142116" cy="108075"/>
          </a:xfrm>
          <a:custGeom>
            <a:avLst/>
            <a:gdLst/>
            <a:ahLst/>
            <a:cxnLst/>
            <a:rect l="l" t="t" r="r" b="b"/>
            <a:pathLst>
              <a:path w="142116" h="108075">
                <a:moveTo>
                  <a:pt x="142116" y="108075"/>
                </a:moveTo>
                <a:lnTo>
                  <a:pt x="0" y="90576"/>
                </a:lnTo>
                <a:lnTo>
                  <a:pt x="48185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870060" y="4232300"/>
            <a:ext cx="58521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18,7</a:t>
            </a:r>
          </a:p>
        </p:txBody>
      </p:sp>
      <p:sp>
        <p:nvSpPr>
          <p:cNvPr id="161" name="Freeform 160"/>
          <p:cNvSpPr/>
          <p:nvPr/>
        </p:nvSpPr>
        <p:spPr>
          <a:xfrm>
            <a:off x="5486886" y="4902006"/>
            <a:ext cx="133685" cy="102596"/>
          </a:xfrm>
          <a:custGeom>
            <a:avLst/>
            <a:gdLst/>
            <a:ahLst/>
            <a:cxnLst/>
            <a:rect l="l" t="t" r="r" b="b"/>
            <a:pathLst>
              <a:path w="133685" h="102596">
                <a:moveTo>
                  <a:pt x="133685" y="51298"/>
                </a:moveTo>
                <a:lnTo>
                  <a:pt x="0" y="102596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5944437" y="4902006"/>
            <a:ext cx="133685" cy="102596"/>
          </a:xfrm>
          <a:custGeom>
            <a:avLst/>
            <a:gdLst/>
            <a:ahLst/>
            <a:cxnLst/>
            <a:rect l="l" t="t" r="r" b="b"/>
            <a:pathLst>
              <a:path w="133685" h="102596">
                <a:moveTo>
                  <a:pt x="133685" y="51298"/>
                </a:moveTo>
                <a:lnTo>
                  <a:pt x="0" y="102596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450418" y="4692700"/>
            <a:ext cx="58521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12,4</a:t>
            </a:r>
          </a:p>
        </p:txBody>
      </p:sp>
      <p:sp>
        <p:nvSpPr>
          <p:cNvPr id="164" name="Freeform 163"/>
          <p:cNvSpPr/>
          <p:nvPr/>
        </p:nvSpPr>
        <p:spPr>
          <a:xfrm>
            <a:off x="6815805" y="4574602"/>
            <a:ext cx="137354" cy="121957"/>
          </a:xfrm>
          <a:custGeom>
            <a:avLst/>
            <a:gdLst/>
            <a:ahLst/>
            <a:cxnLst/>
            <a:rect l="l" t="t" r="r" b="b"/>
            <a:pathLst>
              <a:path w="137354" h="121957">
                <a:moveTo>
                  <a:pt x="137354" y="0"/>
                </a:moveTo>
                <a:lnTo>
                  <a:pt x="62323" y="121957"/>
                </a:lnTo>
                <a:lnTo>
                  <a:pt x="0" y="40460"/>
                </a:lnTo>
                <a:close/>
              </a:path>
            </a:pathLst>
          </a:cu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7201111" y="4279945"/>
            <a:ext cx="137354" cy="121958"/>
          </a:xfrm>
          <a:custGeom>
            <a:avLst/>
            <a:gdLst/>
            <a:ahLst/>
            <a:cxnLst/>
            <a:rect l="l" t="t" r="r" b="b"/>
            <a:pathLst>
              <a:path w="137354" h="121958">
                <a:moveTo>
                  <a:pt x="137354" y="0"/>
                </a:moveTo>
                <a:lnTo>
                  <a:pt x="62323" y="121958"/>
                </a:lnTo>
                <a:lnTo>
                  <a:pt x="0" y="40461"/>
                </a:lnTo>
                <a:close/>
              </a:path>
            </a:pathLst>
          </a:cu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767382" y="4232300"/>
            <a:ext cx="58521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A3A6B"/>
                </a:solidFill>
                <a:latin typeface="Arial"/>
              </a:rPr>
              <a:t>12,4</a:t>
            </a:r>
          </a:p>
        </p:txBody>
      </p:sp>
      <p:sp>
        <p:nvSpPr>
          <p:cNvPr id="167" name="Oval 166"/>
          <p:cNvSpPr/>
          <p:nvPr/>
        </p:nvSpPr>
        <p:spPr>
          <a:xfrm>
            <a:off x="1425275" y="2716316"/>
            <a:ext cx="131673" cy="13167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425275" y="2736433"/>
            <a:ext cx="13167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1</a:t>
            </a:r>
          </a:p>
        </p:txBody>
      </p:sp>
      <p:sp>
        <p:nvSpPr>
          <p:cNvPr id="169" name="Oval 168"/>
          <p:cNvSpPr/>
          <p:nvPr/>
        </p:nvSpPr>
        <p:spPr>
          <a:xfrm>
            <a:off x="1425275" y="3966667"/>
            <a:ext cx="131673" cy="13167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425275" y="3986784"/>
            <a:ext cx="13167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2</a:t>
            </a:r>
          </a:p>
        </p:txBody>
      </p:sp>
      <p:sp>
        <p:nvSpPr>
          <p:cNvPr id="171" name="Oval 170"/>
          <p:cNvSpPr/>
          <p:nvPr/>
        </p:nvSpPr>
        <p:spPr>
          <a:xfrm>
            <a:off x="3231398" y="3966667"/>
            <a:ext cx="131673" cy="13167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231398" y="3986784"/>
            <a:ext cx="13167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3</a:t>
            </a:r>
          </a:p>
        </p:txBody>
      </p:sp>
      <p:sp>
        <p:nvSpPr>
          <p:cNvPr id="173" name="Oval 172"/>
          <p:cNvSpPr/>
          <p:nvPr/>
        </p:nvSpPr>
        <p:spPr>
          <a:xfrm>
            <a:off x="4962265" y="3966667"/>
            <a:ext cx="131673" cy="13167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962265" y="3986784"/>
            <a:ext cx="13167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4</a:t>
            </a:r>
          </a:p>
        </p:txBody>
      </p:sp>
      <p:sp>
        <p:nvSpPr>
          <p:cNvPr id="175" name="Oval 174"/>
          <p:cNvSpPr/>
          <p:nvPr/>
        </p:nvSpPr>
        <p:spPr>
          <a:xfrm>
            <a:off x="6392113" y="3966667"/>
            <a:ext cx="131673" cy="13167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392113" y="3986784"/>
            <a:ext cx="13167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5</a:t>
            </a:r>
          </a:p>
        </p:txBody>
      </p:sp>
      <p:sp>
        <p:nvSpPr>
          <p:cNvPr id="177" name="Oval 176"/>
          <p:cNvSpPr/>
          <p:nvPr/>
        </p:nvSpPr>
        <p:spPr>
          <a:xfrm>
            <a:off x="7596195" y="3966667"/>
            <a:ext cx="131673" cy="13167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7596195" y="3986784"/>
            <a:ext cx="13167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6</a:t>
            </a:r>
          </a:p>
        </p:txBody>
      </p:sp>
      <p:sp>
        <p:nvSpPr>
          <p:cNvPr id="179" name="Oval 178"/>
          <p:cNvSpPr/>
          <p:nvPr/>
        </p:nvSpPr>
        <p:spPr>
          <a:xfrm>
            <a:off x="7596195" y="3191256"/>
            <a:ext cx="131673" cy="13167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596195" y="3211372"/>
            <a:ext cx="13167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7</a:t>
            </a:r>
          </a:p>
        </p:txBody>
      </p:sp>
      <p:sp>
        <p:nvSpPr>
          <p:cNvPr id="181" name="Oval 180"/>
          <p:cNvSpPr/>
          <p:nvPr/>
        </p:nvSpPr>
        <p:spPr>
          <a:xfrm>
            <a:off x="7596195" y="2716316"/>
            <a:ext cx="131673" cy="13167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596195" y="2736433"/>
            <a:ext cx="13167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8</a:t>
            </a:r>
          </a:p>
        </p:txBody>
      </p:sp>
      <p:sp>
        <p:nvSpPr>
          <p:cNvPr id="183" name="Oval 182"/>
          <p:cNvSpPr/>
          <p:nvPr/>
        </p:nvSpPr>
        <p:spPr>
          <a:xfrm>
            <a:off x="4962265" y="4887468"/>
            <a:ext cx="131673" cy="13167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4962265" y="4907584"/>
            <a:ext cx="13167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9</a:t>
            </a:r>
          </a:p>
        </p:txBody>
      </p:sp>
      <p:sp>
        <p:nvSpPr>
          <p:cNvPr id="185" name="Oval 184"/>
          <p:cNvSpPr/>
          <p:nvPr/>
        </p:nvSpPr>
        <p:spPr>
          <a:xfrm>
            <a:off x="6392113" y="4887468"/>
            <a:ext cx="131673" cy="13167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392113" y="4907584"/>
            <a:ext cx="13167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1A3A6B"/>
                </a:solidFill>
                <a:latin typeface="Arial"/>
              </a:rPr>
              <a:t>10</a:t>
            </a:r>
          </a:p>
        </p:txBody>
      </p:sp>
      <p:sp>
        <p:nvSpPr>
          <p:cNvPr id="187" name="Oval 186"/>
          <p:cNvSpPr/>
          <p:nvPr/>
        </p:nvSpPr>
        <p:spPr>
          <a:xfrm>
            <a:off x="7506583" y="2883560"/>
            <a:ext cx="310896" cy="310896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593451" y="2970428"/>
            <a:ext cx="137160" cy="13716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7881487" y="294756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222222"/>
                </a:solidFill>
                <a:latin typeface="Arial"/>
              </a:rPr>
              <a:t>ГВУ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124264" y="3909060"/>
            <a:ext cx="76809" cy="246888"/>
          </a:xfrm>
          <a:prstGeom prst="rect">
            <a:avLst/>
          </a:prstGeom>
          <a:solidFill>
            <a:srgbClr val="4CAF50"/>
          </a:solidFill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6931974" y="3904488"/>
            <a:ext cx="256032" cy="25603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931974" y="3936491"/>
            <a:ext cx="2560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🔥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557070" y="419709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B91C1C"/>
                </a:solidFill>
                <a:latin typeface="Arial"/>
              </a:rPr>
              <a:t>очаг пожара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1216792" y="2546969"/>
            <a:ext cx="548640" cy="237744"/>
          </a:xfrm>
          <a:prstGeom prst="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216792" y="2588117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22222"/>
                </a:solidFill>
                <a:latin typeface="Arial"/>
              </a:rPr>
              <a:t>Н.Б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990785" y="3648456"/>
            <a:ext cx="603504" cy="237744"/>
          </a:xfrm>
          <a:prstGeom prst="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990785" y="3689604"/>
            <a:ext cx="6035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222222"/>
                </a:solidFill>
                <a:latin typeface="Arial"/>
              </a:rPr>
              <a:t>5 чел.</a:t>
            </a:r>
          </a:p>
        </p:txBody>
      </p:sp>
      <p:sp>
        <p:nvSpPr>
          <p:cNvPr id="198" name="Freeform 197"/>
          <p:cNvSpPr/>
          <p:nvPr/>
        </p:nvSpPr>
        <p:spPr>
          <a:xfrm>
            <a:off x="2627793" y="3714219"/>
            <a:ext cx="138404" cy="106217"/>
          </a:xfrm>
          <a:custGeom>
            <a:avLst/>
            <a:gdLst/>
            <a:ahLst/>
            <a:cxnLst/>
            <a:rect l="l" t="t" r="r" b="b"/>
            <a:pathLst>
              <a:path w="138404" h="106217">
                <a:moveTo>
                  <a:pt x="138404" y="53109"/>
                </a:moveTo>
                <a:lnTo>
                  <a:pt x="0" y="106217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231453" y="3611880"/>
            <a:ext cx="603504" cy="237744"/>
          </a:xfrm>
          <a:prstGeom prst="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231453" y="3653028"/>
            <a:ext cx="6035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222222"/>
                </a:solidFill>
                <a:latin typeface="Arial"/>
              </a:rPr>
              <a:t>5 чел.</a:t>
            </a:r>
          </a:p>
        </p:txBody>
      </p:sp>
      <p:cxnSp>
        <p:nvCxnSpPr>
          <p:cNvPr id="201" name="Connector 200"/>
          <p:cNvCxnSpPr/>
          <p:nvPr/>
        </p:nvCxnSpPr>
        <p:spPr>
          <a:xfrm>
            <a:off x="1491112" y="4032504"/>
            <a:ext cx="1806122" cy="0"/>
          </a:xfrm>
          <a:prstGeom prst="line">
            <a:avLst/>
          </a:prstGeom>
          <a:ln w="30480">
            <a:solidFill>
              <a:srgbClr val="7A181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3297234" y="4032504"/>
            <a:ext cx="1730868" cy="0"/>
          </a:xfrm>
          <a:prstGeom prst="line">
            <a:avLst/>
          </a:prstGeom>
          <a:ln w="30480">
            <a:solidFill>
              <a:srgbClr val="7A181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5028102" y="4032504"/>
            <a:ext cx="1429848" cy="0"/>
          </a:xfrm>
          <a:prstGeom prst="line">
            <a:avLst/>
          </a:prstGeom>
          <a:ln w="30480">
            <a:solidFill>
              <a:srgbClr val="7A181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6457950" y="4032504"/>
            <a:ext cx="1204081" cy="0"/>
          </a:xfrm>
          <a:prstGeom prst="line">
            <a:avLst/>
          </a:prstGeom>
          <a:ln w="30480">
            <a:solidFill>
              <a:srgbClr val="7A181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576072" y="372160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5A6372"/>
                </a:solidFill>
                <a:latin typeface="Arial"/>
              </a:rPr>
              <a:t>гор. −320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76072" y="464240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5A6372"/>
                </a:solidFill>
                <a:latin typeface="Arial"/>
              </a:rPr>
              <a:t>гор. −480</a:t>
            </a:r>
          </a:p>
        </p:txBody>
      </p:sp>
      <p:cxnSp>
        <p:nvCxnSpPr>
          <p:cNvPr id="207" name="Connector 206"/>
          <p:cNvCxnSpPr/>
          <p:nvPr/>
        </p:nvCxnSpPr>
        <p:spPr>
          <a:xfrm>
            <a:off x="704088" y="5673852"/>
            <a:ext cx="237744" cy="0"/>
          </a:xfrm>
          <a:prstGeom prst="line">
            <a:avLst/>
          </a:prstGeom>
          <a:ln w="27940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Freeform 207"/>
          <p:cNvSpPr/>
          <p:nvPr/>
        </p:nvSpPr>
        <p:spPr>
          <a:xfrm>
            <a:off x="931005" y="5630399"/>
            <a:ext cx="113239" cy="86905"/>
          </a:xfrm>
          <a:custGeom>
            <a:avLst/>
            <a:gdLst/>
            <a:ahLst/>
            <a:cxnLst/>
            <a:rect l="l" t="t" r="r" b="b"/>
            <a:pathLst>
              <a:path w="113239" h="86905">
                <a:moveTo>
                  <a:pt x="113239" y="43453"/>
                </a:moveTo>
                <a:lnTo>
                  <a:pt x="0" y="86905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088136" y="559612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струя входящая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2423160" y="5673852"/>
            <a:ext cx="237744" cy="0"/>
          </a:xfrm>
          <a:prstGeom prst="line">
            <a:avLst/>
          </a:prstGeom>
          <a:ln w="27940">
            <a:solidFill>
              <a:srgbClr val="2196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Freeform 210"/>
          <p:cNvSpPr/>
          <p:nvPr/>
        </p:nvSpPr>
        <p:spPr>
          <a:xfrm>
            <a:off x="2650077" y="5630399"/>
            <a:ext cx="113239" cy="86905"/>
          </a:xfrm>
          <a:custGeom>
            <a:avLst/>
            <a:gdLst/>
            <a:ahLst/>
            <a:cxnLst/>
            <a:rect l="l" t="t" r="r" b="b"/>
            <a:pathLst>
              <a:path w="113239" h="86905">
                <a:moveTo>
                  <a:pt x="113239" y="43453"/>
                </a:moveTo>
                <a:lnTo>
                  <a:pt x="0" y="86905"/>
                </a:lnTo>
                <a:lnTo>
                  <a:pt x="0" y="0"/>
                </a:lnTo>
                <a:close/>
              </a:path>
            </a:pathLst>
          </a:cu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2807208" y="559612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струя исходящая</a:t>
            </a:r>
          </a:p>
        </p:txBody>
      </p:sp>
      <p:cxnSp>
        <p:nvCxnSpPr>
          <p:cNvPr id="213" name="Connector 212"/>
          <p:cNvCxnSpPr/>
          <p:nvPr/>
        </p:nvCxnSpPr>
        <p:spPr>
          <a:xfrm>
            <a:off x="4206240" y="5673852"/>
            <a:ext cx="274319" cy="0"/>
          </a:xfrm>
          <a:prstGeom prst="line">
            <a:avLst/>
          </a:prstGeom>
          <a:ln w="88900">
            <a:solidFill>
              <a:srgbClr val="C9B8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>
            <a:off x="4572000" y="559612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слабое задымл.</a:t>
            </a:r>
          </a:p>
        </p:txBody>
      </p:sp>
      <p:cxnSp>
        <p:nvCxnSpPr>
          <p:cNvPr id="215" name="Connector 214"/>
          <p:cNvCxnSpPr/>
          <p:nvPr/>
        </p:nvCxnSpPr>
        <p:spPr>
          <a:xfrm>
            <a:off x="5779007" y="5673852"/>
            <a:ext cx="274320" cy="0"/>
          </a:xfrm>
          <a:prstGeom prst="line">
            <a:avLst/>
          </a:prstGeom>
          <a:ln w="88900">
            <a:solidFill>
              <a:srgbClr val="6B5E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>
            <a:off x="6144768" y="559612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густое задымл.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7351775" y="5673852"/>
            <a:ext cx="292608" cy="0"/>
          </a:xfrm>
          <a:prstGeom prst="line">
            <a:avLst/>
          </a:prstGeom>
          <a:ln w="27940">
            <a:solidFill>
              <a:srgbClr val="7A181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17"/>
          <p:cNvSpPr txBox="1"/>
          <p:nvPr/>
        </p:nvSpPr>
        <p:spPr>
          <a:xfrm>
            <a:off x="7735823" y="559612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A6372"/>
                </a:solidFill>
                <a:latin typeface="Arial"/>
              </a:rPr>
              <a:t>маршрут ВГСЧ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502920" y="5980176"/>
            <a:ext cx="11183112" cy="237744"/>
          </a:xfrm>
          <a:prstGeom prst="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0" name="Connector 219"/>
          <p:cNvCxnSpPr/>
          <p:nvPr/>
        </p:nvCxnSpPr>
        <p:spPr>
          <a:xfrm>
            <a:off x="502920" y="5980176"/>
            <a:ext cx="11183112" cy="0"/>
          </a:xfrm>
          <a:prstGeom prst="line">
            <a:avLst/>
          </a:prstGeom>
          <a:ln w="10160">
            <a:solidFill>
              <a:srgbClr val="D4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TextBox 220"/>
          <p:cNvSpPr txBox="1"/>
          <p:nvPr/>
        </p:nvSpPr>
        <p:spPr>
          <a:xfrm>
            <a:off x="630936" y="6021324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72"/>
                </a:solidFill>
                <a:latin typeface="Arial"/>
              </a:rPr>
              <a:t>Отделение 5 чел.  ·  ИДА Р-30  ·  разведка с возвратом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423489" y="602132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72"/>
                </a:solidFill>
                <a:latin typeface="Arial"/>
              </a:rPr>
              <a:t>РД 15-11-2007, Прил. 4</a:t>
            </a:r>
          </a:p>
        </p:txBody>
      </p:sp>
      <p:sp>
        <p:nvSpPr>
          <p:cNvPr id="223" name="Oval 222"/>
          <p:cNvSpPr/>
          <p:nvPr/>
        </p:nvSpPr>
        <p:spPr>
          <a:xfrm>
            <a:off x="9473184" y="6071616"/>
            <a:ext cx="68580" cy="6858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9601200" y="6021324"/>
            <a:ext cx="19568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A3A6B"/>
                </a:solidFill>
                <a:latin typeface="Arial"/>
              </a:rPr>
              <a:t>Операция выполнима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Интерфейс: расчёт маршрута горноспасателей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Противопожарный водопровод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Проверка каждого пожарного крана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Программа перебирает все краны сети по очереди, для каждого выполняет гидравлический расчёт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1F1F"/>
                </a:solidFill>
                <a:latin typeface="Arial"/>
              </a:rPr>
              <a:t>и сверяет полученный напор и расход с нормативом. Слабые места видно сразу.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1168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3A6B"/>
                </a:solidFill>
                <a:latin typeface="Arial"/>
              </a:rPr>
              <a:t>Контролируемые параметры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14016"/>
            <a:ext cx="5669280" cy="38404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48259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Параметр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482596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Типовое требование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86664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Минимальный напор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86664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0,6 МПа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182112"/>
            <a:ext cx="5669280" cy="3840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25069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Максимальный напор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325069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1,5 МПа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634740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Расход на ствол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363474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от 30 м³/ч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950208"/>
            <a:ext cx="5669280" cy="3840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4018788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Длительность подачи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401878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от 180 мин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440283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Скорость воды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4402836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до 5 м/с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718304"/>
            <a:ext cx="5669280" cy="3840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478688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Одновременно стволов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1024" y="478688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011680"/>
            <a:ext cx="50932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3A6B"/>
                </a:solidFill>
                <a:latin typeface="Arial"/>
              </a:rPr>
              <a:t>Причины отказа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2551176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75704" y="2450592"/>
            <a:ext cx="4855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Вода не дотягивается — напор ниже нормы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3008376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75704" y="2907792"/>
            <a:ext cx="4855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Давление выше нормы — порвёт рукав, нужен редуктор</a:t>
            </a:r>
          </a:p>
        </p:txBody>
      </p:sp>
      <p:sp>
        <p:nvSpPr>
          <p:cNvPr id="33" name="Oval 32"/>
          <p:cNvSpPr/>
          <p:nvPr/>
        </p:nvSpPr>
        <p:spPr>
          <a:xfrm>
            <a:off x="6537960" y="3465576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75704" y="3364992"/>
            <a:ext cx="4855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Расход меньше требуемого для ствола</a:t>
            </a:r>
          </a:p>
        </p:txBody>
      </p:sp>
      <p:sp>
        <p:nvSpPr>
          <p:cNvPr id="35" name="Oval 34"/>
          <p:cNvSpPr/>
          <p:nvPr/>
        </p:nvSpPr>
        <p:spPr>
          <a:xfrm>
            <a:off x="6537960" y="3922776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75704" y="3822191"/>
            <a:ext cx="4855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Запаса резервуара не хватает на нормативное время</a:t>
            </a:r>
          </a:p>
        </p:txBody>
      </p:sp>
      <p:sp>
        <p:nvSpPr>
          <p:cNvPr id="37" name="Oval 36"/>
          <p:cNvSpPr/>
          <p:nvPr/>
        </p:nvSpPr>
        <p:spPr>
          <a:xfrm>
            <a:off x="6537960" y="4379976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75704" y="4279392"/>
            <a:ext cx="4855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Вода вообще не поступает к крану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84632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3A6B"/>
                </a:solidFill>
                <a:latin typeface="Arial"/>
              </a:rPr>
              <a:t>Режим «по очагу пожара»</a:t>
            </a:r>
          </a:p>
        </p:txBody>
      </p:sp>
      <p:sp>
        <p:nvSpPr>
          <p:cNvPr id="40" name="Oval 39"/>
          <p:cNvSpPr/>
          <p:nvPr/>
        </p:nvSpPr>
        <p:spPr>
          <a:xfrm>
            <a:off x="566928" y="535838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5257800"/>
            <a:ext cx="10735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Какие краны достают до очага рукавами — по длине выработок, а не по прямой</a:t>
            </a:r>
          </a:p>
        </p:txBody>
      </p:sp>
      <p:sp>
        <p:nvSpPr>
          <p:cNvPr id="42" name="Oval 41"/>
          <p:cNvSpPr/>
          <p:nvPr/>
        </p:nvSpPr>
        <p:spPr>
          <a:xfrm>
            <a:off x="566928" y="574243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5641848"/>
            <a:ext cx="10735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Время хода отделения ВГСЧ от базы до ближайшего крана и развёртывания рукавов</a:t>
            </a:r>
          </a:p>
        </p:txBody>
      </p:sp>
      <p:sp>
        <p:nvSpPr>
          <p:cNvPr id="44" name="Oval 43"/>
          <p:cNvSpPr/>
          <p:nvPr/>
        </p:nvSpPr>
        <p:spPr>
          <a:xfrm>
            <a:off x="566928" y="61264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6025896"/>
            <a:ext cx="10735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Суммарный расход воды, который реально поступит на очаг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Противопожарная защита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Встроенные справочники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Не нужно искать характеристики вручную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2697480" cy="120700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68580" cy="1207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545336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Типы выработок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29384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Сечения, формы, коэффициент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аэродинамического сопротивления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697480" cy="120700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371600"/>
            <a:ext cx="68580" cy="120700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1545336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Виды крепи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1929384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Коэффициент α для разных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типов крепления выработок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371600"/>
            <a:ext cx="2697480" cy="120700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371600"/>
            <a:ext cx="68580" cy="1207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45336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Вентиляторы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29384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Паспортные Q-H и КПД,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30 марок главных и местных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1371600"/>
            <a:ext cx="2697480" cy="120700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1371600"/>
            <a:ext cx="68580" cy="120700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1545336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Перемычки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1929384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Типы вентсооружений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и их воздухопроницаемость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697480"/>
            <a:ext cx="2697480" cy="120700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2697480"/>
            <a:ext cx="68580" cy="1207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2871216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Самоспасатели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3255264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Время защитного действия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в движении и в покое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2697480"/>
            <a:ext cx="2697480" cy="120700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3280" y="2697480"/>
            <a:ext cx="68580" cy="120700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5888" y="2871216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Пожарные стволы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5888" y="3255264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Расход, диаметр насадки,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дальность струи, рабочее давление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2697480"/>
            <a:ext cx="2697480" cy="120700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2697480"/>
            <a:ext cx="68580" cy="1207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871216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Насосы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255264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Секционные, консольные,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дренажные — характеристики H(Q)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15984" y="2697480"/>
            <a:ext cx="2697480" cy="120700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15984" y="2697480"/>
            <a:ext cx="68580" cy="120700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08592" y="2871216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Редукционные клапаны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3255264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Диапазон давления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и пропускная способность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023360"/>
            <a:ext cx="2697480" cy="120700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4023360"/>
            <a:ext cx="68580" cy="1207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4197096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Взрывчатые вещества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4581144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Тротиловый эквивалент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и параметры взрыва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80" y="4023360"/>
            <a:ext cx="2697480" cy="120700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83280" y="4023360"/>
            <a:ext cx="68580" cy="120700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5888" y="4197096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Горючие материалы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75888" y="4581144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Теплота сгорания, выход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оксида углерода и дыма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99632" y="4023360"/>
            <a:ext cx="2697480" cy="120700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99632" y="4023360"/>
            <a:ext cx="68580" cy="1207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4197096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Вентиляционные трубы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581144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Утечки и коэффициент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доставки воздуха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15984" y="4023360"/>
            <a:ext cx="2697480" cy="120700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15984" y="4023360"/>
            <a:ext cx="68580" cy="120700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08592" y="4197096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Условные обозначения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08592" y="4581144"/>
            <a:ext cx="219456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Символы схем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5A6372"/>
                </a:solidFill>
                <a:latin typeface="Arial"/>
              </a:rPr>
              <a:t>по горной графике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Справочная база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Импорт данных и обмен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Переход на комплекс без потери наработок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Существующие схемы не нужно перерисовывать заново — комплекс читает файлы популярных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форматов и переносит геометрию вместе с параметрами выработок.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57400"/>
            <a:ext cx="11064240" cy="5669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12598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Формат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2125980"/>
            <a:ext cx="7955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Что переносится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92908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F1F"/>
                </a:solidFill>
                <a:latin typeface="Arial"/>
              </a:rPr>
              <a:t>Проекты АэроСеть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692908"/>
            <a:ext cx="7955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F1F"/>
                </a:solidFill>
                <a:latin typeface="Arial"/>
              </a:rPr>
              <a:t>узлы с отметками, выработки, сечения, сопротивления, вентиляторы, перемычки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191256"/>
            <a:ext cx="1106424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259836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F1F"/>
                </a:solidFill>
                <a:latin typeface="Arial"/>
              </a:rPr>
              <a:t>Ventsim (CSV и VSM)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3259836"/>
            <a:ext cx="7955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F1F"/>
                </a:solidFill>
                <a:latin typeface="Arial"/>
              </a:rPr>
              <a:t>трёхмерная геометрия сети и параметры выработок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826764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F1F"/>
                </a:solidFill>
                <a:latin typeface="Arial"/>
              </a:rPr>
              <a:t>Чертежи DXF и DWG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3826764"/>
            <a:ext cx="7955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F1F"/>
                </a:solidFill>
                <a:latin typeface="Arial"/>
              </a:rPr>
              <a:t>геометрия схемы из AutoCAD, nanoCAD и других систем проектирования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325112"/>
            <a:ext cx="1106424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4393692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F1F"/>
                </a:solidFill>
                <a:latin typeface="Arial"/>
              </a:rPr>
              <a:t>Вентиляция 2.0, Excel, 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4393692"/>
            <a:ext cx="7955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F1F"/>
                </a:solidFill>
                <a:latin typeface="Arial"/>
              </a:rPr>
              <a:t>проекты CDF3, узлы и ветви из ведомостей и результатов замеров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66344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3A6B"/>
                </a:solidFill>
                <a:latin typeface="Arial"/>
              </a:rPr>
              <a:t>Контроль качества переноса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" y="5202936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102352"/>
            <a:ext cx="107350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После импорта показывается протокол: сколько узлов, ветвей, вентиляторов и перемычек перенесено</a:t>
            </a:r>
          </a:p>
        </p:txBody>
      </p:sp>
      <p:sp>
        <p:nvSpPr>
          <p:cNvPr id="25" name="Oval 24"/>
          <p:cNvSpPr/>
          <p:nvPr/>
        </p:nvSpPr>
        <p:spPr>
          <a:xfrm>
            <a:off x="566928" y="5605272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504688"/>
            <a:ext cx="107350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Отдельно перечисляются выработки без сечения, без длины или без периметра</a:t>
            </a:r>
          </a:p>
        </p:txBody>
      </p:sp>
      <p:sp>
        <p:nvSpPr>
          <p:cNvPr id="27" name="Oval 26"/>
          <p:cNvSpPr/>
          <p:nvPr/>
        </p:nvSpPr>
        <p:spPr>
          <a:xfrm>
            <a:off x="566928" y="6007608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907024"/>
            <a:ext cx="107350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Правила пересчёта единиц измерения выводятся явно — результат можно сверить с исходной программой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Совместимость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Документы и отчётность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Результат расчёта — готовый документ, а не только картинка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11880" cy="196596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17320"/>
            <a:ext cx="68580" cy="19659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59105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3A6B"/>
                </a:solidFill>
                <a:latin typeface="Arial"/>
              </a:rPr>
              <a:t>Воздухораспределение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75104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Таблица по всем выработкам: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расход, скорость, депрессия,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сопротивление — в Excel.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611880" cy="196596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68580" cy="1965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59105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3A6B"/>
                </a:solidFill>
                <a:latin typeface="Arial"/>
              </a:rPr>
              <a:t>Расчёт количества воздуха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75104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Потребность по факторам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и по участкам с коэффициентами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запаса — в Excel.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432" y="1417320"/>
            <a:ext cx="3611880" cy="196596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2" y="1417320"/>
            <a:ext cx="68580" cy="19659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59105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3A6B"/>
                </a:solidFill>
                <a:latin typeface="Arial"/>
              </a:rPr>
              <a:t>Акт устойчивости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975104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Проверка проветривания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при пожаре в виде документа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для согласования.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520439"/>
            <a:ext cx="3611880" cy="196596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520439"/>
            <a:ext cx="68580" cy="1965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69417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3A6B"/>
                </a:solidFill>
                <a:latin typeface="Arial"/>
              </a:rPr>
              <a:t>Проверка водопровода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078224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Таблица по всем пожарным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кранам с указанием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проблемных точек.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520439"/>
            <a:ext cx="3611880" cy="196596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520439"/>
            <a:ext cx="68580" cy="19659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69417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3A6B"/>
                </a:solidFill>
                <a:latin typeface="Arial"/>
              </a:rPr>
              <a:t>Диаграмма Q-H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078224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Характеристика вентилятора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с рабочей точкой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и кривой сети.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28432" y="3520439"/>
            <a:ext cx="3611880" cy="196596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28432" y="3520439"/>
            <a:ext cx="68580" cy="1965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69417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3A6B"/>
                </a:solidFill>
                <a:latin typeface="Arial"/>
              </a:rPr>
              <a:t>Чертежи схемы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078224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Печать с рамкой и штампом,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масштаб, подписи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согласующих лиц.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760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Экспорт схемы в графические файлы и печать напрямую из настольной версии.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Выходные документы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Нормативная база расчётов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На что опирается комплекс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Каждый расчёт привязан к действующему документу — это позволяет защитить результат при проверке.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11064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68580" cy="71323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1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ФНиП № 505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56815"/>
            <a:ext cx="74066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Правила безопасности при ведении горных работ и переработке</a:t>
            </a:r>
          </a:p>
          <a:p>
            <a:pPr algn="l">
              <a:lnSpc>
                <a:spcPct val="113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твёрдых полезных ископаемых. Приказ Ростехнадзора от 08.12.2020.</a:t>
            </a:r>
          </a:p>
          <a:p>
            <a:pPr algn="l">
              <a:lnSpc>
                <a:spcPct val="113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Расчёт количества воздуха по пункту 155.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33472"/>
            <a:ext cx="1106424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633472"/>
            <a:ext cx="68580" cy="71323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5234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ФНиП № 494 и № 520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715768"/>
            <a:ext cx="74066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Правила безопасности при работе с взрывчатыми материалами — зоны</a:t>
            </a:r>
          </a:p>
          <a:p>
            <a:pPr algn="l">
              <a:lnSpc>
                <a:spcPct val="113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поражения ударной волной. Приказ № 520 от 11.12.2020, приложение 11 —</a:t>
            </a:r>
          </a:p>
          <a:p>
            <a:pPr algn="l">
              <a:lnSpc>
                <a:spcPct val="113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протокол взрывоопасности рудничной атмосферы по треугольнику взрываемости.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392424"/>
            <a:ext cx="11064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92424"/>
            <a:ext cx="68580" cy="71323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1129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ФНиП № 467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474720"/>
            <a:ext cx="74066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Требования для угольных шахт: инструкции по проветриванию</a:t>
            </a:r>
          </a:p>
          <a:p>
            <a:pPr algn="l">
              <a:lnSpc>
                <a:spcPct val="113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и контролю газового режима.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151376"/>
            <a:ext cx="1106424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151376"/>
            <a:ext cx="68580" cy="71323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7024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РД 15-11-2007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33672"/>
            <a:ext cx="74066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Методические рекомендации по устойчивости проветривания</a:t>
            </a:r>
          </a:p>
          <a:p>
            <a:pPr algn="l">
              <a:lnSpc>
                <a:spcPct val="113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при пожаре. Приложения 3, 5 и 7 — основа расчёта опрокидывания.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910328"/>
            <a:ext cx="11064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910328"/>
            <a:ext cx="68580" cy="71323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Методики ВНИМИ и ВостНИИ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992624"/>
            <a:ext cx="74066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Расчёт параметров пожара, тепловой депрессии</a:t>
            </a:r>
          </a:p>
          <a:p>
            <a:pPr algn="l">
              <a:lnSpc>
                <a:spcPct val="113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и взрывных явлений в горных выработках.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669280"/>
            <a:ext cx="1106424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5669280"/>
            <a:ext cx="68580" cy="71323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78815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Инструкция по горноспасательным работам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751576"/>
            <a:ext cx="74066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Нормативные скорости передвижения отделений</a:t>
            </a:r>
          </a:p>
          <a:p>
            <a:pPr algn="l">
              <a:lnSpc>
                <a:spcPct val="113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и зоны задымления.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Соответствие нормативам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Отечественная разработка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Готовность к включению в реестр российского ПО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Проведён аудит исходного кода: обращения к иностранным доменам, внешним сетям доставки контента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и зарубежным онлайн-сервисам отсутствуют.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361188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68580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18541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Разработка в России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6946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Программа создана на территории РФ,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исключительное право принадлежит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российскому лицу.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011680"/>
            <a:ext cx="361188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011680"/>
            <a:ext cx="68580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18541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Российский контур данных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56946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Вычисления, интерфейсы, файловое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хранилище и база данных размещены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на российской инфраструктуре.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2011680"/>
            <a:ext cx="361188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2" y="2011680"/>
            <a:ext cx="68580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8541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Свободные библиотеки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56946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Сторонние компоненты распространяются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под свободными лицензиями и не создают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зависимости от иностранных правообладателей.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931920"/>
            <a:ext cx="361188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931920"/>
            <a:ext cx="68580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10565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48970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Система управления базами данных —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свободное программное обеспечение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с открытым исходным кодом.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931920"/>
            <a:ext cx="361188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931920"/>
            <a:ext cx="68580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410565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Шрифты в дистрибутиве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48970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Шрифты и графика поставляются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в составе программы, внешняя загрузка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не выполняется.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28432" y="3931920"/>
            <a:ext cx="361188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28432" y="3931920"/>
            <a:ext cx="68580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10565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Работа без интернета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48970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Настольная версия считает локально —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подходит для объектов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с ограничением доступа в сеть.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5852160"/>
            <a:ext cx="1106424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3A6B"/>
                </a:solidFill>
                <a:latin typeface="Arial"/>
              </a:rPr>
              <a:t>В комплект поставки входит справка об импортозамещении и техническая документация.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Импортозамещение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Поставка и внедрение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Как начать работать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3A6B"/>
                </a:solidFill>
                <a:latin typeface="Arial"/>
              </a:rPr>
              <a:t>Варианты работы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5486400" cy="15544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68580" cy="155448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956816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3A6B"/>
                </a:solidFill>
                <a:latin typeface="Arial"/>
              </a:rPr>
              <a:t>Настольная версия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40864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Устанавливается на рабочее место инженера.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Расчёты выполняются локально,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постоянное подключение к сети не требуется.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429000"/>
            <a:ext cx="5486400" cy="15544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429000"/>
            <a:ext cx="68580" cy="1554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602736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3A6B"/>
                </a:solidFill>
                <a:latin typeface="Arial"/>
              </a:rPr>
              <a:t>Работа в браузере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986784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Доступ с любого компьютера предприятия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без установки — удобно для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руководства и смежных служб.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71600"/>
            <a:ext cx="52303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3A6B"/>
                </a:solidFill>
                <a:latin typeface="Arial"/>
              </a:rPr>
              <a:t>Сопровождение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1911095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4" y="1810512"/>
            <a:ext cx="49926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Программа обучения специалистов — 5 дней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414016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8544" y="2313432"/>
            <a:ext cx="49926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Техническая документация в комплекте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916936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8544" y="2816352"/>
            <a:ext cx="49926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Лицензирование с возможностью офлайн-активации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3419856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8544" y="3319272"/>
            <a:ext cx="49926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Встроенный механизм обновления версий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3922776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3822191"/>
            <a:ext cx="49926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Справка об импортозамещении для закупок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425696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8544" y="4325112"/>
            <a:ext cx="49926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Настройка под условия конкретного рудника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120640"/>
            <a:ext cx="11064240" cy="105156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218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Порядок внедрения: перенос существующей схемы из АэроСети или Excel → сверка модели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с данными депрессионной съёмки → настройка справочников под предприятие → обучение специалистов.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Внедрение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5615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8580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828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Что получает предприятие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514600"/>
            <a:ext cx="2377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53949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Вентиляция рудника считается в одной программе —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от нормирования воздуха до аварийных режимов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План ликвидации аварий строится на расчёте,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а не на экспертной оценке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Расчёты для ВГСЧ — время хода отделений,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запас кислорода, зоны задымления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926080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Противопожарный водопровод проверяется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по каждому крану, а не выборочно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Документы формируются автоматически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и соответствуют действующим правилам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Отечественный продукт, работает офлайн,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подходит для режимных объектов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623560"/>
            <a:ext cx="10744200" cy="45720"/>
          </a:xfrm>
          <a:prstGeom prst="rect">
            <a:avLst/>
          </a:prstGeom>
          <a:solidFill>
            <a:srgbClr val="2E5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897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B8FB"/>
                </a:solidFill>
                <a:latin typeface="Arial"/>
              </a:rPr>
              <a:t>ПВ-Система · программный комплекс расчёта вентиляции и противопожарной защиты рудников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