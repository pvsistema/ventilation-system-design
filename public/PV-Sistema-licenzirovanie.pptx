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8545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0841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331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Лицензирование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7CB8FB"/>
                </a:solidFill>
                <a:latin typeface="Arial"/>
              </a:rPr>
              <a:t>Централизованная схема для управляющей компании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315968"/>
            <a:ext cx="274320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Один ключ на предприятие · Рабочие места подключаются сами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Облачные расчёты и локальное ядро · Работа без связи до 14 суток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43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ABD4"/>
                </a:solidFill>
                <a:latin typeface="Arial"/>
              </a:rPr>
              <a:t>ПВ-Система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 устроено лицензирование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Один ключ на организацию, а не на каждый компьютер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1F1F"/>
                </a:solidFill>
                <a:latin typeface="Arial"/>
              </a:rPr>
              <a:t>Управляющая компания получает ОДИН лицензионный ключ с оплаченным количеством рабочих мест.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1F1F"/>
                </a:solidFill>
                <a:latin typeface="Arial"/>
              </a:rPr>
              <a:t>Ключ выдаётся на организацию и раздаётся специалистам предприятий. Отдельно активировать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1F1F"/>
                </a:solidFill>
                <a:latin typeface="Arial"/>
              </a:rPr>
              <a:t>каждый компьютер в кабинете администратора не нужно — место занимается автоматически.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450592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50592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624328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Ключ организации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08376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Формат PVS-XXXX-XXXX-XXXX-XXXX.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Выдаётся на управляющую компанию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указанием числа рабочих мест.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450592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450592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624328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Место занимается само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3008376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Специалист вводит ключ один раз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закрепляет за ним место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больше ключ не спрашивает.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450592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450592"/>
            <a:ext cx="68580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624328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Контроль из одной точки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008376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Администратор видит все рабочие места,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может освободить любое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отозвать лицензию целиком.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520440" cy="16459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498848"/>
            <a:ext cx="68580" cy="16459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725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Один компьютер — одно место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056632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Место привязывается к оборудованию.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Браузер, вкладки и переустановка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не занимают лишних мест.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498848"/>
            <a:ext cx="3520440" cy="16459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498848"/>
            <a:ext cx="68580" cy="16459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6725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Перенос на другой ПК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056632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Администратор освобождает место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 журнале — оно сразу доступно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другому специалисту.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498848"/>
            <a:ext cx="3520440" cy="16459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498848"/>
            <a:ext cx="68580" cy="16459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6725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Срок действия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5056632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 ключа есть дата окончания.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Бессрочный вариант тоже возможен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задаётся при выдаче.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Принцип лицензирования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Схема распределения лицензий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Кто куда подключается при централизованном лицензировании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298448"/>
            <a:ext cx="2971800" cy="868680"/>
          </a:xfrm>
          <a:prstGeom prst="round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426464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УПРАВЛЯЮЩАЯ КОМПАНИЯ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700784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7CB8FB"/>
                </a:solidFill>
                <a:latin typeface="Arial"/>
              </a:rPr>
              <a:t>ключ PVS-XXXX-XXXX-XXXX-XXXX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01952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FB8DA"/>
                </a:solidFill>
                <a:latin typeface="Arial"/>
              </a:rPr>
              <a:t>20 рабочих мест · срок 12 месяцев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298448"/>
            <a:ext cx="32918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417319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A3A6B"/>
                </a:solidFill>
                <a:latin typeface="Arial"/>
              </a:rPr>
              <a:t>Лицензионная служба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664207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российский сервер</a:t>
            </a:r>
          </a:p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учёт мест · срок · отзыв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968496" y="1732788"/>
            <a:ext cx="649224" cy="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3808476" y="1681490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0" y="51298"/>
                </a:moveTo>
                <a:lnTo>
                  <a:pt x="133685" y="0"/>
                </a:lnTo>
                <a:lnTo>
                  <a:pt x="133685" y="102595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15133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выдача ключа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98448"/>
            <a:ext cx="3438144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1417319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A3A6B"/>
                </a:solidFill>
                <a:latin typeface="Arial"/>
              </a:rPr>
              <a:t>Администратор УК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1664207"/>
            <a:ext cx="34381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журнал мест · освобождение</a:t>
            </a:r>
          </a:p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A6372"/>
                </a:solidFill>
                <a:latin typeface="Arial"/>
              </a:rPr>
              <a:t>отзыв · статистика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0" y="1732788"/>
            <a:ext cx="484632" cy="0"/>
          </a:xfrm>
          <a:prstGeom prst="line">
            <a:avLst/>
          </a:prstGeom>
          <a:ln w="20320">
            <a:solidFill>
              <a:srgbClr val="B4530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8100486" y="1681490"/>
            <a:ext cx="133686" cy="102595"/>
          </a:xfrm>
          <a:custGeom>
            <a:avLst/>
            <a:gdLst/>
            <a:ahLst/>
            <a:cxnLst/>
            <a:rect l="l" t="t" r="r" b="b"/>
            <a:pathLst>
              <a:path w="133686" h="102595">
                <a:moveTo>
                  <a:pt x="133686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15133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B45309"/>
                </a:solidFill>
                <a:latin typeface="Arial"/>
              </a:rPr>
              <a:t>управление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569463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A3A6B"/>
                </a:solidFill>
                <a:latin typeface="Arial"/>
              </a:rPr>
              <a:t>Предприятия и службы — каждый специалист вводит ключ один раз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843784"/>
            <a:ext cx="2697480" cy="40233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94436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3A6B"/>
                </a:solidFill>
                <a:latin typeface="Arial"/>
              </a:rPr>
              <a:t>Рудник «Северный»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996992" y="2167128"/>
            <a:ext cx="4106628" cy="636616"/>
          </a:xfrm>
          <a:prstGeom prst="line">
            <a:avLst/>
          </a:prstGeom>
          <a:ln w="15240">
            <a:solidFill>
              <a:srgbClr val="8C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1838861" y="2757086"/>
            <a:ext cx="139966" cy="101385"/>
          </a:xfrm>
          <a:custGeom>
            <a:avLst/>
            <a:gdLst/>
            <a:ahLst/>
            <a:cxnLst/>
            <a:rect l="l" t="t" r="r" b="b"/>
            <a:pathLst>
              <a:path w="139966" h="101385">
                <a:moveTo>
                  <a:pt x="0" y="71172"/>
                </a:moveTo>
                <a:lnTo>
                  <a:pt x="124249" y="0"/>
                </a:lnTo>
                <a:lnTo>
                  <a:pt x="139966" y="101385"/>
                </a:lnTo>
                <a:close/>
              </a:path>
            </a:pathLst>
          </a:custGeom>
          <a:solidFill>
            <a:srgbClr val="8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355848"/>
            <a:ext cx="777240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983" y="3461186"/>
            <a:ext cx="497433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75086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Гл. инженер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028700" y="3246120"/>
            <a:ext cx="886968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490472" y="3355848"/>
            <a:ext cx="777240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630375" y="3461186"/>
            <a:ext cx="497433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90472" y="375086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Вент. служба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879091" y="3246120"/>
            <a:ext cx="36577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340864" y="3355848"/>
            <a:ext cx="777240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80767" y="3461186"/>
            <a:ext cx="497433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40864" y="375086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ПЛА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915668" y="3246120"/>
            <a:ext cx="813816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383280" y="2843784"/>
            <a:ext cx="2697480" cy="40233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80" y="294436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3A6B"/>
                </a:solidFill>
                <a:latin typeface="Arial"/>
              </a:rPr>
              <a:t>Рудник «Восточный»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4806404" y="2167128"/>
            <a:ext cx="1297216" cy="614015"/>
          </a:xfrm>
          <a:prstGeom prst="line">
            <a:avLst/>
          </a:prstGeom>
          <a:ln w="15240">
            <a:solidFill>
              <a:srgbClr val="8C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4661768" y="2746044"/>
            <a:ext cx="142779" cy="103560"/>
          </a:xfrm>
          <a:custGeom>
            <a:avLst/>
            <a:gdLst/>
            <a:ahLst/>
            <a:cxnLst/>
            <a:rect l="l" t="t" r="r" b="b"/>
            <a:pathLst>
              <a:path w="142779" h="103560">
                <a:moveTo>
                  <a:pt x="0" y="103560"/>
                </a:moveTo>
                <a:lnTo>
                  <a:pt x="98886" y="0"/>
                </a:lnTo>
                <a:lnTo>
                  <a:pt x="142779" y="92732"/>
                </a:lnTo>
                <a:close/>
              </a:path>
            </a:pathLst>
          </a:custGeom>
          <a:solidFill>
            <a:srgbClr val="8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456432" y="3355848"/>
            <a:ext cx="1202436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72870" y="3461186"/>
            <a:ext cx="769559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56432" y="3750868"/>
            <a:ext cx="12024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Гл. инженер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4057650" y="3246120"/>
            <a:ext cx="674370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732020" y="3355848"/>
            <a:ext cx="1202436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48458" y="3461186"/>
            <a:ext cx="769559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32020" y="3750868"/>
            <a:ext cx="12024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Вент. служба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732020" y="3246120"/>
            <a:ext cx="601218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199632" y="2843784"/>
            <a:ext cx="2697480" cy="40233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9632" y="294436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3A6B"/>
                </a:solidFill>
                <a:latin typeface="Arial"/>
              </a:rPr>
              <a:t>Шахта «Глубокая»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103620" y="2167128"/>
            <a:ext cx="1369686" cy="615492"/>
          </a:xfrm>
          <a:prstGeom prst="line">
            <a:avLst/>
          </a:prstGeom>
          <a:ln w="15240">
            <a:solidFill>
              <a:srgbClr val="8C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7476301" y="2746623"/>
            <a:ext cx="142965" cy="101586"/>
          </a:xfrm>
          <a:custGeom>
            <a:avLst/>
            <a:gdLst/>
            <a:ahLst/>
            <a:cxnLst/>
            <a:rect l="l" t="t" r="r" b="b"/>
            <a:pathLst>
              <a:path w="142965" h="101586">
                <a:moveTo>
                  <a:pt x="142965" y="101586"/>
                </a:moveTo>
                <a:lnTo>
                  <a:pt x="0" y="93582"/>
                </a:lnTo>
                <a:lnTo>
                  <a:pt x="42052" y="0"/>
                </a:lnTo>
                <a:close/>
              </a:path>
            </a:pathLst>
          </a:custGeom>
          <a:solidFill>
            <a:srgbClr val="8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72784" y="3355848"/>
            <a:ext cx="1202436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89222" y="3461186"/>
            <a:ext cx="769559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72784" y="3750868"/>
            <a:ext cx="12024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Вент. служба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6874002" y="3246120"/>
            <a:ext cx="674370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548372" y="3355848"/>
            <a:ext cx="1202436" cy="658368"/>
          </a:xfrm>
          <a:prstGeom prst="roundRect">
            <a:avLst/>
          </a:prstGeom>
          <a:solidFill>
            <a:srgbClr val="15803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4810" y="3461186"/>
            <a:ext cx="769559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48372" y="3750868"/>
            <a:ext cx="12024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Проектировщик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48372" y="3246120"/>
            <a:ext cx="601218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9015984" y="2843784"/>
            <a:ext cx="2697480" cy="40233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15984" y="294436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3A6B"/>
                </a:solidFill>
                <a:latin typeface="Arial"/>
              </a:rPr>
              <a:t>ВГСЧ отряд № 1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103620" y="2167128"/>
            <a:ext cx="4179746" cy="636828"/>
          </a:xfrm>
          <a:prstGeom prst="line">
            <a:avLst/>
          </a:prstGeom>
          <a:ln w="15240">
            <a:solidFill>
              <a:srgbClr val="8C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0301674" y="2757210"/>
            <a:ext cx="139887" cy="101425"/>
          </a:xfrm>
          <a:custGeom>
            <a:avLst/>
            <a:gdLst/>
            <a:ahLst/>
            <a:cxnLst/>
            <a:rect l="l" t="t" r="r" b="b"/>
            <a:pathLst>
              <a:path w="139887" h="101425">
                <a:moveTo>
                  <a:pt x="139887" y="70848"/>
                </a:moveTo>
                <a:lnTo>
                  <a:pt x="0" y="101425"/>
                </a:lnTo>
                <a:lnTo>
                  <a:pt x="15453" y="0"/>
                </a:lnTo>
                <a:close/>
              </a:path>
            </a:pathLst>
          </a:custGeom>
          <a:solidFill>
            <a:srgbClr val="8C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089136" y="3355848"/>
            <a:ext cx="1202436" cy="658368"/>
          </a:xfrm>
          <a:prstGeom prst="roundRect">
            <a:avLst/>
          </a:prstGeom>
          <a:solidFill>
            <a:srgbClr val="B91C1C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305574" y="3461186"/>
            <a:ext cx="769559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9136" y="3750868"/>
            <a:ext cx="12024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Командир</a:t>
            </a:r>
          </a:p>
        </p:txBody>
      </p:sp>
      <p:cxnSp>
        <p:nvCxnSpPr>
          <p:cNvPr id="72" name="Connector 71"/>
          <p:cNvCxnSpPr/>
          <p:nvPr/>
        </p:nvCxnSpPr>
        <p:spPr>
          <a:xfrm flipH="1">
            <a:off x="9690354" y="3246120"/>
            <a:ext cx="674370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364724" y="3355848"/>
            <a:ext cx="1202436" cy="658368"/>
          </a:xfrm>
          <a:prstGeom prst="roundRect">
            <a:avLst/>
          </a:prstGeom>
          <a:solidFill>
            <a:srgbClr val="B91C1C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81162" y="3461186"/>
            <a:ext cx="769559" cy="26334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364724" y="3750868"/>
            <a:ext cx="12024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1A3A6B"/>
                </a:solidFill>
                <a:latin typeface="Arial"/>
              </a:rPr>
              <a:t>Расчётчик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0364724" y="3246120"/>
            <a:ext cx="601218" cy="109728"/>
          </a:xfrm>
          <a:prstGeom prst="line">
            <a:avLst/>
          </a:prstGeom>
          <a:ln w="11430">
            <a:solidFill>
              <a:srgbClr val="B6C0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66928" y="4224528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5803D"/>
                </a:solidFill>
                <a:latin typeface="Arial"/>
              </a:rPr>
              <a:t>Занято мест: 10 из 20  ·  свободно 10 — можно подключить новых специалистов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617720"/>
            <a:ext cx="3520440" cy="14173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617720"/>
            <a:ext cx="6858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9536" y="479145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Проверка при запуске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9536" y="5175504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Программа сама сверяется со службой: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действует ли ключ и есть ли место.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Человек этого не замечает.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34256" y="4617720"/>
            <a:ext cx="3520440" cy="14173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34256" y="4617720"/>
            <a:ext cx="68580" cy="14173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26864" y="479145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Расчёты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26864" y="5175504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 настольной версии — на своём ПК.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 браузере — на российском сервере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с резервным контуром.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01583" y="4617720"/>
            <a:ext cx="3520440" cy="14173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101583" y="4617720"/>
            <a:ext cx="68580" cy="1417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94192" y="479145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Работа без связи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94192" y="5175504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До 14 суток по сохранённому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разрешению. Дольше — по аварийному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ключу на весь срок его действия.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Схема централизованного лицензирования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 рабочее место получает лицензию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От выдачи ключа до ежедневной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2121408" cy="16916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2121408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35607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35607" y="1645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665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Выдача ключа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7744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Управляющая компания получает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ключ с числом мест и сроком</a:t>
            </a:r>
          </a:p>
        </p:txBody>
      </p:sp>
      <p:sp>
        <p:nvSpPr>
          <p:cNvPr id="14" name="Freeform 13"/>
          <p:cNvSpPr/>
          <p:nvPr/>
        </p:nvSpPr>
        <p:spPr>
          <a:xfrm>
            <a:off x="2693822" y="2213305"/>
            <a:ext cx="117958" cy="90525"/>
          </a:xfrm>
          <a:custGeom>
            <a:avLst/>
            <a:gdLst/>
            <a:ahLst/>
            <a:cxnLst/>
            <a:rect l="l" t="t" r="r" b="b"/>
            <a:pathLst>
              <a:path w="117958" h="90525">
                <a:moveTo>
                  <a:pt x="117958" y="45263"/>
                </a:moveTo>
                <a:lnTo>
                  <a:pt x="0" y="90525"/>
                </a:lnTo>
                <a:lnTo>
                  <a:pt x="0" y="0"/>
                </a:lnTo>
                <a:close/>
              </a:path>
            </a:pathLst>
          </a:custGeom>
          <a:solidFill>
            <a:srgbClr val="A9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1417320"/>
            <a:ext cx="2121408" cy="16916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417320"/>
            <a:ext cx="2121408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66744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6744" y="1645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20665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Передача специалисту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37744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Ключ доводится до инженеров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предприятий — по обычной почте</a:t>
            </a:r>
          </a:p>
        </p:txBody>
      </p:sp>
      <p:sp>
        <p:nvSpPr>
          <p:cNvPr id="21" name="Freeform 20"/>
          <p:cNvSpPr/>
          <p:nvPr/>
        </p:nvSpPr>
        <p:spPr>
          <a:xfrm>
            <a:off x="4924958" y="2213305"/>
            <a:ext cx="117958" cy="90525"/>
          </a:xfrm>
          <a:custGeom>
            <a:avLst/>
            <a:gdLst/>
            <a:ahLst/>
            <a:cxnLst/>
            <a:rect l="l" t="t" r="r" b="b"/>
            <a:pathLst>
              <a:path w="117958" h="90525">
                <a:moveTo>
                  <a:pt x="117958" y="45263"/>
                </a:moveTo>
                <a:lnTo>
                  <a:pt x="0" y="90525"/>
                </a:lnTo>
                <a:lnTo>
                  <a:pt x="0" y="0"/>
                </a:lnTo>
                <a:close/>
              </a:path>
            </a:pathLst>
          </a:custGeom>
          <a:solidFill>
            <a:srgbClr val="A9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1417320"/>
            <a:ext cx="2121408" cy="16916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1417320"/>
            <a:ext cx="2121408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9788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1645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5504" y="20665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Ввод ключа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5504" y="237744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Специалист вводит ключ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 программе один раз</a:t>
            </a:r>
          </a:p>
        </p:txBody>
      </p:sp>
      <p:sp>
        <p:nvSpPr>
          <p:cNvPr id="28" name="Freeform 27"/>
          <p:cNvSpPr/>
          <p:nvPr/>
        </p:nvSpPr>
        <p:spPr>
          <a:xfrm>
            <a:off x="7156094" y="2213305"/>
            <a:ext cx="117958" cy="90525"/>
          </a:xfrm>
          <a:custGeom>
            <a:avLst/>
            <a:gdLst/>
            <a:ahLst/>
            <a:cxnLst/>
            <a:rect l="l" t="t" r="r" b="b"/>
            <a:pathLst>
              <a:path w="117958" h="90525">
                <a:moveTo>
                  <a:pt x="117958" y="45263"/>
                </a:moveTo>
                <a:lnTo>
                  <a:pt x="0" y="90525"/>
                </a:lnTo>
                <a:lnTo>
                  <a:pt x="0" y="0"/>
                </a:lnTo>
                <a:close/>
              </a:path>
            </a:pathLst>
          </a:custGeom>
          <a:solidFill>
            <a:srgbClr val="A9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60336" y="1417320"/>
            <a:ext cx="2121408" cy="16916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60336" y="1417320"/>
            <a:ext cx="2121408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29015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9015" y="1645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0665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Закрепление места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37744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Программа привязывает место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к компьютеру автоматически</a:t>
            </a:r>
          </a:p>
        </p:txBody>
      </p:sp>
      <p:sp>
        <p:nvSpPr>
          <p:cNvPr id="35" name="Freeform 34"/>
          <p:cNvSpPr/>
          <p:nvPr/>
        </p:nvSpPr>
        <p:spPr>
          <a:xfrm>
            <a:off x="9387230" y="2213305"/>
            <a:ext cx="117958" cy="90525"/>
          </a:xfrm>
          <a:custGeom>
            <a:avLst/>
            <a:gdLst/>
            <a:ahLst/>
            <a:cxnLst/>
            <a:rect l="l" t="t" r="r" b="b"/>
            <a:pathLst>
              <a:path w="117958" h="90525">
                <a:moveTo>
                  <a:pt x="117958" y="45263"/>
                </a:moveTo>
                <a:lnTo>
                  <a:pt x="0" y="90525"/>
                </a:lnTo>
                <a:lnTo>
                  <a:pt x="0" y="0"/>
                </a:lnTo>
                <a:close/>
              </a:path>
            </a:pathLst>
          </a:custGeom>
          <a:solidFill>
            <a:srgbClr val="A9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91472" y="1417320"/>
            <a:ext cx="2121408" cy="16916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472" y="1417320"/>
            <a:ext cx="2121408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60151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60151" y="1645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7776" y="20665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Работа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7776" y="237744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Ключ больше не запрашивается,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программа проверяет себя сама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36499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Периодичность проверки — зависит от остатка срока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3794760"/>
            <a:ext cx="6400800" cy="402336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86334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Остаток срока ключа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1024" y="3863340"/>
            <a:ext cx="32918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часто программа сверяется со службой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" y="426567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Больше 2 месяцев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21024" y="4265676"/>
            <a:ext cx="32918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один раз в неделю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599432"/>
            <a:ext cx="640080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4668012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1 недели до 2 месяцев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4668012"/>
            <a:ext cx="32918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один раз в сутки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07034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Меньше недели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024" y="5070348"/>
            <a:ext cx="32918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при каждом запуске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3794760"/>
            <a:ext cx="4361688" cy="1609344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69480" y="3794760"/>
            <a:ext cx="68580" cy="160934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62088" y="3968496"/>
            <a:ext cx="3858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Проверка не мешает работе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2088" y="4352544"/>
            <a:ext cx="3858768" cy="923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Сверка идёт в фоне и занимает секунды.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Если связи нет — программа берёт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сохранённое разрешение и работает дальше,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не отвлекая специалиста.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55321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Если место больше не нужно — администратор освобождает его в журнале, и оно сразу переходит другому специалисту.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Подключение рабочего места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Работа при отсутствии 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Три рубежа защиты — рудник продолжает считать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Отсутствие интернета на промплощадке или в горных выработках не останавливает работу: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программа заранее сохраняет разрешение и продолжает считать по нему.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4454956" cy="4754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32196" y="2148840"/>
            <a:ext cx="3182112" cy="4754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4308" y="2148840"/>
            <a:ext cx="2969971" cy="47548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44549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есть связь — обычный режим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2196" y="2267712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связи нет — до 14 суток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4308" y="2267712"/>
            <a:ext cx="296997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аварийный ключ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2624328"/>
            <a:ext cx="0" cy="164592"/>
          </a:xfrm>
          <a:prstGeom prst="line">
            <a:avLst/>
          </a:prstGeom>
          <a:ln w="1270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280720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32196" y="2624328"/>
            <a:ext cx="0" cy="164592"/>
          </a:xfrm>
          <a:prstGeom prst="line">
            <a:avLst/>
          </a:prstGeom>
          <a:ln w="1270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54956" y="280720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обрыв связи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4308" y="2624328"/>
            <a:ext cx="0" cy="164592"/>
          </a:xfrm>
          <a:prstGeom prst="line">
            <a:avLst/>
          </a:prstGeom>
          <a:ln w="1270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37068" y="280720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14-е сутки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384280" y="2624328"/>
            <a:ext cx="0" cy="164592"/>
          </a:xfrm>
          <a:prstGeom prst="line">
            <a:avLst/>
          </a:prstGeom>
          <a:ln w="12700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607040" y="280720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A6372"/>
                </a:solidFill>
                <a:latin typeface="Arial"/>
              </a:rPr>
              <a:t>до года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127248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127248"/>
            <a:ext cx="68580" cy="18288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33009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Рубеж 1 — обычная работа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3685032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Пока связь есть, программа изредка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сверяется со службой и сохраняет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разрешение у себя на компьютере.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34256" y="3127248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34256" y="3127248"/>
            <a:ext cx="68580" cy="18288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6864" y="33009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Рубеж 2 — 14 суток офлайн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6864" y="3685032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Связь пропала — работа продолжается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сохранённому разрешению.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Ничего делать не нужно,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показывает остаток дней.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1583" y="3127248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1583" y="3127248"/>
            <a:ext cx="68580" cy="1828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330098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Рубеж 3 — аварийный ключ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685032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объектов без интернета выдаётся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особый ключ. Он проверяется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самом компьютере без сети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действует до года.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13892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Важно для режимных объектов</a:t>
            </a:r>
          </a:p>
        </p:txBody>
      </p:sp>
      <p:sp>
        <p:nvSpPr>
          <p:cNvPr id="36" name="Oval 35"/>
          <p:cNvSpPr/>
          <p:nvPr/>
        </p:nvSpPr>
        <p:spPr>
          <a:xfrm>
            <a:off x="566928" y="5623559"/>
            <a:ext cx="91440" cy="91440"/>
          </a:xfrm>
          <a:prstGeom prst="ellipse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532120"/>
            <a:ext cx="10735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Настольная версия считает вентиляцию на своём компьютере — интернет для расчёта не нужен вообще</a:t>
            </a:r>
          </a:p>
        </p:txBody>
      </p:sp>
      <p:sp>
        <p:nvSpPr>
          <p:cNvPr id="38" name="Oval 37"/>
          <p:cNvSpPr/>
          <p:nvPr/>
        </p:nvSpPr>
        <p:spPr>
          <a:xfrm>
            <a:off x="566928" y="5989320"/>
            <a:ext cx="91440" cy="91440"/>
          </a:xfrm>
          <a:prstGeom prst="ellipse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897880"/>
            <a:ext cx="10735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Перевод часов компьютера назад программа распознаёт и не принимает — обойти срок не получится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Автономная работа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Где выполняются расчёты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Настольная версия и работа в браузере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Расчёт вентиляционной сети — самая тяжёлая операция. Где она выполняется, зависит от варианта работы.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5440680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5440680" cy="38404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56816"/>
            <a:ext cx="5440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НАСТОЛЬНАЯ ВЕРСИЯ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95728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Расчёт на своём компьютере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834640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743200"/>
            <a:ext cx="4764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Расчётное ядро установлено вместе с программой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218688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127248"/>
            <a:ext cx="4764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Интернет для расчёта не требуется вообще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027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4764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не зависит от качества связи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3986783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895344"/>
            <a:ext cx="4764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Данные не покидают предприятие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" y="4407408"/>
            <a:ext cx="5001768" cy="420624"/>
          </a:xfrm>
          <a:prstGeom prst="rect">
            <a:avLst/>
          </a:prstGeom>
          <a:solidFill>
            <a:srgbClr val="ECF7F0"/>
          </a:solidFill>
          <a:ln w="1143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50799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5803D"/>
                </a:solidFill>
                <a:latin typeface="Arial"/>
              </a:rPr>
              <a:t>Рекомендуется для рудников и ВГСЧ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1874519"/>
            <a:ext cx="5449824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1344" y="1874519"/>
            <a:ext cx="5449824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1344" y="1956816"/>
            <a:ext cx="5449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РАБОТА В БРАУЗЕРЕ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9572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Расчёт на российском сервере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0" y="283464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8544" y="2743200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Ничего устанавливать не нужно — открыл и работаешь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21868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38544" y="3127248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Доступ с любого компьютера предприятия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360273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38544" y="3511296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Есть резервный расчётный контур на случай сбоя</a:t>
            </a:r>
          </a:p>
        </p:txBody>
      </p:sp>
      <p:sp>
        <p:nvSpPr>
          <p:cNvPr id="33" name="Oval 32"/>
          <p:cNvSpPr/>
          <p:nvPr/>
        </p:nvSpPr>
        <p:spPr>
          <a:xfrm>
            <a:off x="6400800" y="3986783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38544" y="3895344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Переключение на резерв — автоматическое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407408"/>
            <a:ext cx="5010912" cy="420624"/>
          </a:xfrm>
          <a:prstGeom prst="rect">
            <a:avLst/>
          </a:prstGeom>
          <a:solidFill>
            <a:srgbClr val="EEF4FD"/>
          </a:solidFill>
          <a:ln w="1143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4791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Удобно руководству и смежным службам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13892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Про хранение данных</a:t>
            </a:r>
          </a:p>
        </p:txBody>
      </p:sp>
      <p:sp>
        <p:nvSpPr>
          <p:cNvPr id="38" name="Oval 37"/>
          <p:cNvSpPr/>
          <p:nvPr/>
        </p:nvSpPr>
        <p:spPr>
          <a:xfrm>
            <a:off x="566928" y="5623559"/>
            <a:ext cx="91440" cy="91440"/>
          </a:xfrm>
          <a:prstGeom prst="ellipse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532120"/>
            <a:ext cx="10735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Файлы проектов хранятся у предприятия — на своём компьютере или в своей сети, а не в облаке</a:t>
            </a:r>
          </a:p>
        </p:txBody>
      </p:sp>
      <p:sp>
        <p:nvSpPr>
          <p:cNvPr id="40" name="Oval 39"/>
          <p:cNvSpPr/>
          <p:nvPr/>
        </p:nvSpPr>
        <p:spPr>
          <a:xfrm>
            <a:off x="566928" y="5989320"/>
            <a:ext cx="91440" cy="91440"/>
          </a:xfrm>
          <a:prstGeom prst="ellipse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5897880"/>
            <a:ext cx="10735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На сервере ведётся только учёт лицензий: организация, число мест, срок и журнал подключений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Расчёты и хранение данных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Какой вариант выбрать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Подбор под условия конкретного объекта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11064240" cy="512064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485900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Условия объекта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1485900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Вариант работы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4464" y="1485900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Лицензия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997964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Рудник, устойчивого интернета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1997964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Настольная версия, расчёт на месте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1997964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Обычный ключ, офлайн до 14 суток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41448"/>
            <a:ext cx="11064240" cy="5120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510028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Горные выработки, связи нет совсем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2510028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Настольная версия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510028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Аварийный ключ на срок до года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022092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Режимный объект, сеть закрыта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3022092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Настольная версия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022092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Аварийный ключ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465576"/>
            <a:ext cx="11064240" cy="5120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534156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Управление предприятия, сеть есть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534156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Настольная версия или браузер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3534156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Обычный ключ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046220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Руководство, смежные службы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4046220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Работа в браузере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4046220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Обычный ключ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489704"/>
            <a:ext cx="11064240" cy="5120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558284"/>
            <a:ext cx="3749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ВГСЧ, выезд на объект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4558284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Настольная версия на ноутбуке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4558284"/>
            <a:ext cx="32918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Аварийный ключ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892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Ключи разных видов сочетаются в пределах одной организации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85232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Управляющая компания может держать основной ключ для офисов и предприятий со связью, а для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удалённых участков и выездных расчётов ВГСЧ дополнительно получить аварийные ключи. Оба вида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учитываются в одном журнале, и администратор видит полную картину по всем объектам.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Выбор варианта под объект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Что видит и может 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Управление лицензиями из одного кабинета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В кабинете администратора управляющей компании собрана вся картина по лицензиям предприятий.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68580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04825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Список ключей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432303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Все лицензии организации: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владелец, число мест, срок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87451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74519"/>
            <a:ext cx="68580" cy="12984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204825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Занятые места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2432303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Кто подключился: компьютер,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версия программы, последний вход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87451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874519"/>
            <a:ext cx="68580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4825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Освобождение места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32303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Снять место с компьютера —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оно сразу перейдёт другому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5984" y="187451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5984" y="1874519"/>
            <a:ext cx="68580" cy="12984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04825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Отзыв лицензии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432303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Отключить ключ целиком,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если он больше не действует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29183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291839"/>
            <a:ext cx="68580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346557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Продление срока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3849624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Изменить дату окончания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 количество мест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29183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291839"/>
            <a:ext cx="68580" cy="12984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5888" y="346557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Аварийные ключи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5888" y="3849624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Выдать ключ для объекта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без связи и отозвать его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29183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291839"/>
            <a:ext cx="68580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46557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Журнал событий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849624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Подключения, отказы, попытки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обойти срок действия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15984" y="3291839"/>
            <a:ext cx="269748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15984" y="3291839"/>
            <a:ext cx="68580" cy="12984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08592" y="3465575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3A6B"/>
                </a:solidFill>
                <a:latin typeface="Arial"/>
              </a:rPr>
              <a:t>Статистика обращений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08592" y="3849624"/>
            <a:ext cx="21945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Сколько раз программа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обращалась к службе по дням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82803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Что фиксируется по каждому рабочему месту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230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Название компьютера и операционная система · версия программы и расчётного ядра · дата первого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подключения и последнего входа · используемые разделы. Этого достаточно, чтобы понять, кто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 на чём работает, и вовремя заметить, что место занято неиспользуемым компьютером.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Администрирование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 обновляется программа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Единая версия у всех специалистов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Обновления выходят централизованно: не нужно рассылать дистрибутивы по предприятиям вручную.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057400"/>
            <a:ext cx="2743200" cy="914400"/>
          </a:xfrm>
          <a:prstGeom prst="round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Разработчик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3288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CB8FB"/>
                </a:solidFill>
                <a:latin typeface="Arial"/>
              </a:rPr>
              <a:t>выпускает новую версию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205740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258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Служба обновлений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53288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хранит версию и описание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05740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258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A3A6B"/>
                </a:solidFill>
                <a:latin typeface="Arial"/>
              </a:rPr>
              <a:t>Рабочее место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53288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проверяет и ставит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7639" y="2514600"/>
            <a:ext cx="804673" cy="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4808646" y="2463302"/>
            <a:ext cx="133685" cy="102595"/>
          </a:xfrm>
          <a:custGeom>
            <a:avLst/>
            <a:gdLst/>
            <a:ahLst/>
            <a:cxnLst/>
            <a:rect l="l" t="t" r="r" b="b"/>
            <a:pathLst>
              <a:path w="133685" h="102595">
                <a:moveTo>
                  <a:pt x="133685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2443" y="229514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563EB"/>
                </a:solidFill>
                <a:latin typeface="Arial"/>
              </a:rPr>
              <a:t>публикация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35240" y="2514600"/>
            <a:ext cx="804672" cy="0"/>
          </a:xfrm>
          <a:prstGeom prst="line">
            <a:avLst/>
          </a:prstGeom>
          <a:ln w="20320">
            <a:solidFill>
              <a:srgbClr val="1580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8466246" y="2463302"/>
            <a:ext cx="133686" cy="102595"/>
          </a:xfrm>
          <a:custGeom>
            <a:avLst/>
            <a:gdLst/>
            <a:ahLst/>
            <a:cxnLst/>
            <a:rect l="l" t="t" r="r" b="b"/>
            <a:pathLst>
              <a:path w="133686" h="102595">
                <a:moveTo>
                  <a:pt x="133686" y="51298"/>
                </a:moveTo>
                <a:lnTo>
                  <a:pt x="0" y="102595"/>
                </a:lnTo>
                <a:lnTo>
                  <a:pt x="0" y="0"/>
                </a:lnTo>
                <a:close/>
              </a:path>
            </a:pathLst>
          </a:cu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10044" y="229514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5803D"/>
                </a:solidFill>
                <a:latin typeface="Arial"/>
              </a:rPr>
              <a:t>загрузка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429000"/>
            <a:ext cx="3520440" cy="16459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29000"/>
            <a:ext cx="68580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602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Проверка при запуске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986784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сама смотрит,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не вышла ли новая версия,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сообщает специалисту.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4256" y="3429000"/>
            <a:ext cx="3520440" cy="16459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4256" y="3429000"/>
            <a:ext cx="68580" cy="16459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602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Установка в один клик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3986784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Обновление скачивается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ставится без участия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системного администратора.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01583" y="3429000"/>
            <a:ext cx="3520440" cy="16459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1583" y="3429000"/>
            <a:ext cx="68580" cy="16459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94192" y="3602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Единая версия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3986784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Все предприятия работают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одной версии — расчёты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сопоставимы между объектами.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285232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Для объектов без интернета обновление передаётся файлом и устанавливается вручную —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программа при этом продолжает работать по аварийному ключу, переактивация не требуется.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Обновление программы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Надёжность и соответствие требованиям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Что важно службе безопасности и закупкам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Российская инфраструктура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751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Учёт лицензий ведётся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 российских серверах,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СУБД PostgreSQL.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Без иностранных сервисов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9751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Обращений к зарубежным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сетям доставки контента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и онлайн-сервисам нет.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8432" y="14173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173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Защита от подмены срока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751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Перевод часов компьютера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назад распознаётся,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лицензия не принимается.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33756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33756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51129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Аварийный ключ с подписью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389534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Проверяется на самом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компьютере криптографически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подделать нельзя.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33756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3756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51129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Данные остаются у вас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389534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Проекты рудника хранятся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 ваших компьютерах,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а не в чужом облаке.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8432" y="333756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28432" y="333756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51129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3A6B"/>
                </a:solidFill>
                <a:latin typeface="Arial"/>
              </a:rPr>
              <a:t>Отзыв в любой момент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89534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Утерянный ноутбук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администратор отзывает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место или ключ целиком.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49240"/>
            <a:ext cx="110642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046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3A6B"/>
                </a:solidFill>
                <a:latin typeface="Arial"/>
              </a:rPr>
              <a:t>В комплект поставки входят справка об импортозамещении и техническая документация —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3A6B"/>
                </a:solidFill>
                <a:latin typeface="Arial"/>
              </a:rPr>
              <a:t>материалы для включения в реестр российского ПО и для проведения закупки.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Безопасность и импортозамещение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2735" y="65928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 · Лицензирование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783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Что это даёт управляющей компании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450592"/>
            <a:ext cx="2377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52928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Один ключ на всю группу предприятий —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не нужно оформлять лицензию на каждый ПК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Места распределяются между рудниками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и службами по фактической потребности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Полная картина в одном кабинете: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кто подключён, где и на чём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852928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Рудник продолжает работать без связи —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до 14 суток, а с аварийным ключом дольше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Расчёты выполняются на месте,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данные предприятия остаются у предприятия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Отечественное решение, готовое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к требованиям закупок и безопасности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577840"/>
            <a:ext cx="10744200" cy="45720"/>
          </a:xfrm>
          <a:prstGeom prst="rect">
            <a:avLst/>
          </a:prstGeom>
          <a:solidFill>
            <a:srgbClr val="2E5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521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B8FB"/>
                </a:solidFill>
                <a:latin typeface="Arial"/>
              </a:rPr>
              <a:t>ПВ-Система · централизованное лицензирование для группы предприятий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