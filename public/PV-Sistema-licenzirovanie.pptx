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8"/>
    <p:sldId id="268" r:id="rId19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3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85455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8415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331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Лицензирование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7CB8FB"/>
                </a:solidFill>
                <a:latin typeface="Arial"/>
              </a:rPr>
              <a:t>Централизованная схема для управляющей компании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315968"/>
            <a:ext cx="2743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B8CAE6"/>
                </a:solidFill>
                <a:latin typeface="Arial"/>
              </a:rPr>
              <a:t>Один ключ на предприятие · Рабочие места подключаются сами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B8CAE6"/>
                </a:solidFill>
                <a:latin typeface="Arial"/>
              </a:rPr>
              <a:t>Облачные расчёты и локальное ядро · Работа без связи до 14 суток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ABD4"/>
                </a:solidFill>
                <a:latin typeface="Arial"/>
              </a:rPr>
              <a:t>ПВ-Система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Как устроено лицензирование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Один ключ на организацию, а не на каждый компьютер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1F1F"/>
                </a:solidFill>
                <a:latin typeface="Arial"/>
              </a:rPr>
              <a:t>Управляющая компания получает ОДИН лицензионный ключ с оплаченным количеством рабочих мест.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1F1F"/>
                </a:solidFill>
                <a:latin typeface="Arial"/>
              </a:rPr>
              <a:t>Ключ выдаётся на организацию и раздаётся специалистам предприятий. Отдельно активировать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1F1F"/>
                </a:solidFill>
                <a:latin typeface="Arial"/>
              </a:rPr>
              <a:t>каждый компьютер в кабинете администратора не нужно — место занимается автоматически.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50592"/>
            <a:ext cx="35204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50592"/>
            <a:ext cx="68580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6243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Ключ организации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008376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Формат PVS-XXXX-XXXX-XXXX-XXXX.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Выдаётся на управляющую компанию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 указанием числа рабочих мест.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450592"/>
            <a:ext cx="35204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450592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6243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Место занимается само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008376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Специалист вводит ключ один раз —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программа закрепляет за ним место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больше ключ не спрашивает.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2450592"/>
            <a:ext cx="352044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2450592"/>
            <a:ext cx="68580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62432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Контроль из одной точки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008376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Администратор видит все рабочие места,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может освободить любое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отозвать лицензию целиком.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520440" cy="16459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498848"/>
            <a:ext cx="68580" cy="16459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6725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Один компьютер — одно место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056632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Место привязывается к оборудованию.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Браузер, вкладки и переустановка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не занимают лишних мест.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4498848"/>
            <a:ext cx="3520440" cy="16459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4498848"/>
            <a:ext cx="68580" cy="16459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46725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Перенос на другой ПК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5056632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Администратор освобождает место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 журнале — оно сразу доступно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другому специалисту.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3" y="4498848"/>
            <a:ext cx="3520440" cy="16459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4498848"/>
            <a:ext cx="68580" cy="16459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6725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Срок действия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56632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У ключа есть дата окончания.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Бессрочный вариант тоже возможен —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задаётся при выдаче.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Принцип лицензирования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Схема распределения лицензий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Кто куда подключается при централизованном лицензировании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298448"/>
            <a:ext cx="2971800" cy="8686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26464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УПРАВЛЯЮЩАЯ КОМПАНИЯ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00784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CB8FB"/>
                </a:solidFill>
                <a:latin typeface="Arial"/>
              </a:rPr>
              <a:t>ключ PVS-XXXX-XXXX-XXXX-XXXX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FB8DA"/>
                </a:solidFill>
                <a:latin typeface="Arial"/>
              </a:rPr>
              <a:t>20 рабочих мест · срок 12 месяцев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298448"/>
            <a:ext cx="32918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417319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6B"/>
                </a:solidFill>
                <a:latin typeface="Arial"/>
              </a:rPr>
              <a:t>Лицензионная служба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64207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российский сервер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учёт мест · срок · отзыв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968496" y="1732788"/>
            <a:ext cx="649224" cy="0"/>
          </a:xfrm>
          <a:prstGeom prst="line">
            <a:avLst/>
          </a:prstGeom>
          <a:ln w="2032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808476" y="1681490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0" y="51298"/>
                </a:moveTo>
                <a:lnTo>
                  <a:pt x="133685" y="0"/>
                </a:lnTo>
                <a:lnTo>
                  <a:pt x="133685" y="102595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5133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выдача ключа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98448"/>
            <a:ext cx="343814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417319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3A6B"/>
                </a:solidFill>
                <a:latin typeface="Arial"/>
              </a:rPr>
              <a:t>Администратор УК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664207"/>
            <a:ext cx="3438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журнал мест · освобождение</a:t>
            </a:r>
          </a:p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A6372"/>
                </a:solidFill>
                <a:latin typeface="Arial"/>
              </a:rPr>
              <a:t>отзыв · статистика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0" y="1732788"/>
            <a:ext cx="484632" cy="0"/>
          </a:xfrm>
          <a:prstGeom prst="line">
            <a:avLst/>
          </a:prstGeom>
          <a:ln w="20320">
            <a:solidFill>
              <a:srgbClr val="B4530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8100486" y="1681490"/>
            <a:ext cx="133686" cy="102595"/>
          </a:xfrm>
          <a:custGeom>
            <a:avLst/>
            <a:gdLst/>
            <a:ahLst/>
            <a:cxnLst/>
            <a:rect l="l" t="t" r="r" b="b"/>
            <a:pathLst>
              <a:path w="133686" h="102595">
                <a:moveTo>
                  <a:pt x="133686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3" y="15133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B45309"/>
                </a:solidFill>
                <a:latin typeface="Arial"/>
              </a:rPr>
              <a:t>управление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569463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3A6B"/>
                </a:solidFill>
                <a:latin typeface="Arial"/>
              </a:rPr>
              <a:t>Предприятия и службы — каждый специалист вводит ключ один раз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843784"/>
            <a:ext cx="2697480" cy="40233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9443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3A6B"/>
                </a:solidFill>
                <a:latin typeface="Arial"/>
              </a:rPr>
              <a:t>Рудник «Северный»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96992" y="2167128"/>
            <a:ext cx="4106628" cy="636616"/>
          </a:xfrm>
          <a:prstGeom prst="line">
            <a:avLst/>
          </a:prstGeom>
          <a:ln w="15240">
            <a:solidFill>
              <a:srgbClr val="8C9B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1838861" y="2757086"/>
            <a:ext cx="139966" cy="101385"/>
          </a:xfrm>
          <a:custGeom>
            <a:avLst/>
            <a:gdLst/>
            <a:ahLst/>
            <a:cxnLst/>
            <a:rect l="l" t="t" r="r" b="b"/>
            <a:pathLst>
              <a:path w="139966" h="101385">
                <a:moveTo>
                  <a:pt x="0" y="71172"/>
                </a:moveTo>
                <a:lnTo>
                  <a:pt x="124249" y="0"/>
                </a:lnTo>
                <a:lnTo>
                  <a:pt x="139966" y="101385"/>
                </a:lnTo>
                <a:close/>
              </a:path>
            </a:pathLst>
          </a:custGeom>
          <a:solidFill>
            <a:srgbClr val="8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3355848"/>
            <a:ext cx="777240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983" y="3461186"/>
            <a:ext cx="497433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5086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Гл. инженер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028700" y="3246120"/>
            <a:ext cx="886968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490472" y="3355848"/>
            <a:ext cx="777240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30375" y="3461186"/>
            <a:ext cx="497433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0472" y="375086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Вент. служба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879091" y="3246120"/>
            <a:ext cx="36577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340864" y="3355848"/>
            <a:ext cx="777240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0767" y="3461186"/>
            <a:ext cx="497433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40864" y="375086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ПЛА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15668" y="3246120"/>
            <a:ext cx="813816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83280" y="2843784"/>
            <a:ext cx="2697480" cy="40233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29443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3A6B"/>
                </a:solidFill>
                <a:latin typeface="Arial"/>
              </a:rPr>
              <a:t>Рудник «Восточный»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4806404" y="2167128"/>
            <a:ext cx="1297216" cy="614015"/>
          </a:xfrm>
          <a:prstGeom prst="line">
            <a:avLst/>
          </a:prstGeom>
          <a:ln w="15240">
            <a:solidFill>
              <a:srgbClr val="8C9B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4661768" y="2746044"/>
            <a:ext cx="142779" cy="103560"/>
          </a:xfrm>
          <a:custGeom>
            <a:avLst/>
            <a:gdLst/>
            <a:ahLst/>
            <a:cxnLst/>
            <a:rect l="l" t="t" r="r" b="b"/>
            <a:pathLst>
              <a:path w="142779" h="103560">
                <a:moveTo>
                  <a:pt x="0" y="103560"/>
                </a:moveTo>
                <a:lnTo>
                  <a:pt x="98886" y="0"/>
                </a:lnTo>
                <a:lnTo>
                  <a:pt x="142779" y="92732"/>
                </a:lnTo>
                <a:close/>
              </a:path>
            </a:pathLst>
          </a:custGeom>
          <a:solidFill>
            <a:srgbClr val="8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56432" y="3355848"/>
            <a:ext cx="1202436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72870" y="3461186"/>
            <a:ext cx="769559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56432" y="3750868"/>
            <a:ext cx="12024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Гл. инженер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4057650" y="3246120"/>
            <a:ext cx="674370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732020" y="3355848"/>
            <a:ext cx="1202436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48458" y="3461186"/>
            <a:ext cx="769559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32020" y="3750868"/>
            <a:ext cx="12024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Вент. служба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732020" y="3246120"/>
            <a:ext cx="601218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199632" y="2843784"/>
            <a:ext cx="2697480" cy="40233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9632" y="29443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3A6B"/>
                </a:solidFill>
                <a:latin typeface="Arial"/>
              </a:rPr>
              <a:t>Шахта «Глубокая»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03620" y="2167128"/>
            <a:ext cx="1369686" cy="615492"/>
          </a:xfrm>
          <a:prstGeom prst="line">
            <a:avLst/>
          </a:prstGeom>
          <a:ln w="15240">
            <a:solidFill>
              <a:srgbClr val="8C9B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7476301" y="2746623"/>
            <a:ext cx="142965" cy="101586"/>
          </a:xfrm>
          <a:custGeom>
            <a:avLst/>
            <a:gdLst/>
            <a:ahLst/>
            <a:cxnLst/>
            <a:rect l="l" t="t" r="r" b="b"/>
            <a:pathLst>
              <a:path w="142965" h="101586">
                <a:moveTo>
                  <a:pt x="142965" y="101586"/>
                </a:moveTo>
                <a:lnTo>
                  <a:pt x="0" y="93582"/>
                </a:lnTo>
                <a:lnTo>
                  <a:pt x="42052" y="0"/>
                </a:lnTo>
                <a:close/>
              </a:path>
            </a:pathLst>
          </a:custGeom>
          <a:solidFill>
            <a:srgbClr val="8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72784" y="3355848"/>
            <a:ext cx="1202436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89222" y="3461186"/>
            <a:ext cx="769559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72784" y="3750868"/>
            <a:ext cx="12024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Вент. служба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6874002" y="3246120"/>
            <a:ext cx="674370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548372" y="3355848"/>
            <a:ext cx="1202436" cy="658368"/>
          </a:xfrm>
          <a:prstGeom prst="roundRect">
            <a:avLst/>
          </a:prstGeom>
          <a:solidFill>
            <a:srgbClr val="15803D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64810" y="3461186"/>
            <a:ext cx="769559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8372" y="3750868"/>
            <a:ext cx="12024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Проектировщик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548372" y="3246120"/>
            <a:ext cx="601218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015984" y="2843784"/>
            <a:ext cx="2697480" cy="40233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15984" y="29443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3A6B"/>
                </a:solidFill>
                <a:latin typeface="Arial"/>
              </a:rPr>
              <a:t>ВГСЧ отряд № 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103620" y="2167128"/>
            <a:ext cx="4179746" cy="636828"/>
          </a:xfrm>
          <a:prstGeom prst="line">
            <a:avLst/>
          </a:prstGeom>
          <a:ln w="15240">
            <a:solidFill>
              <a:srgbClr val="8C9B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0301674" y="2757210"/>
            <a:ext cx="139887" cy="101425"/>
          </a:xfrm>
          <a:custGeom>
            <a:avLst/>
            <a:gdLst/>
            <a:ahLst/>
            <a:cxnLst/>
            <a:rect l="l" t="t" r="r" b="b"/>
            <a:pathLst>
              <a:path w="139887" h="101425">
                <a:moveTo>
                  <a:pt x="139887" y="70848"/>
                </a:moveTo>
                <a:lnTo>
                  <a:pt x="0" y="101425"/>
                </a:lnTo>
                <a:lnTo>
                  <a:pt x="15453" y="0"/>
                </a:lnTo>
                <a:close/>
              </a:path>
            </a:pathLst>
          </a:custGeom>
          <a:solidFill>
            <a:srgbClr val="8C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089136" y="3355848"/>
            <a:ext cx="1202436" cy="658368"/>
          </a:xfrm>
          <a:prstGeom prst="roundRect">
            <a:avLst/>
          </a:prstGeom>
          <a:solidFill>
            <a:srgbClr val="B91C1C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05574" y="3461186"/>
            <a:ext cx="769559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89136" y="3750868"/>
            <a:ext cx="12024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Командир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9690354" y="3246120"/>
            <a:ext cx="674370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0364724" y="3355848"/>
            <a:ext cx="1202436" cy="658368"/>
          </a:xfrm>
          <a:prstGeom prst="roundRect">
            <a:avLst/>
          </a:prstGeom>
          <a:solidFill>
            <a:srgbClr val="B91C1C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81162" y="3461186"/>
            <a:ext cx="769559" cy="26334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64724" y="3750868"/>
            <a:ext cx="12024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3A6B"/>
                </a:solidFill>
                <a:latin typeface="Arial"/>
              </a:rPr>
              <a:t>Расчётчик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0364724" y="3246120"/>
            <a:ext cx="601218" cy="109728"/>
          </a:xfrm>
          <a:prstGeom prst="line">
            <a:avLst/>
          </a:prstGeom>
          <a:ln w="11430">
            <a:solidFill>
              <a:srgbClr val="B6C0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66928" y="4224528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Arial"/>
              </a:rPr>
              <a:t>Занято мест: 10 из 20  ·  свободно 10 — можно подключить новых специалистов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4617720"/>
            <a:ext cx="352044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4617720"/>
            <a:ext cx="68580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" y="479145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3A6B"/>
                </a:solidFill>
                <a:latin typeface="Arial"/>
              </a:rPr>
              <a:t>Проверка при запуске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9536" y="517550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Программа сама сверяется со службой: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действует ли ключ и есть ли место.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Человек этого не замечает.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4256" y="4617720"/>
            <a:ext cx="352044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334256" y="4617720"/>
            <a:ext cx="68580" cy="14173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26864" y="479145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3A6B"/>
                </a:solidFill>
                <a:latin typeface="Arial"/>
              </a:rPr>
              <a:t>Расчёты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26864" y="517550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 настольной версии — на своём ПК.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 браузере — на российском сервере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с резервным контуром.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01583" y="4617720"/>
            <a:ext cx="352044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101583" y="4617720"/>
            <a:ext cx="68580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94192" y="479145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3A6B"/>
                </a:solidFill>
                <a:latin typeface="Arial"/>
              </a:rPr>
              <a:t>Работа без связи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94192" y="517550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До 14 суток по сохранённому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разрешению. Дольше — по аварийному</a:t>
            </a:r>
          </a:p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ключу на весь срок его действия.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Схема централизованного лицензирования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Как рабочее место получает лицензию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От выдачи ключа до ежедневной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2121408" cy="16916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212140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35607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7" y="16459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665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Выдача ключа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7744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Управляющая компания получает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ключ с числом мест и сроком</a:t>
            </a:r>
          </a:p>
        </p:txBody>
      </p:sp>
      <p:sp>
        <p:nvSpPr>
          <p:cNvPr id="14" name="Freeform 13"/>
          <p:cNvSpPr/>
          <p:nvPr/>
        </p:nvSpPr>
        <p:spPr>
          <a:xfrm>
            <a:off x="2693822" y="2213305"/>
            <a:ext cx="117958" cy="90525"/>
          </a:xfrm>
          <a:custGeom>
            <a:avLst/>
            <a:gdLst/>
            <a:ahLst/>
            <a:cxnLst/>
            <a:rect l="l" t="t" r="r" b="b"/>
            <a:pathLst>
              <a:path w="117958" h="90525">
                <a:moveTo>
                  <a:pt x="117958" y="45263"/>
                </a:moveTo>
                <a:lnTo>
                  <a:pt x="0" y="90525"/>
                </a:lnTo>
                <a:lnTo>
                  <a:pt x="0" y="0"/>
                </a:lnTo>
                <a:close/>
              </a:path>
            </a:pathLst>
          </a:custGeom>
          <a:solidFill>
            <a:srgbClr val="A9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8064" y="1417320"/>
            <a:ext cx="2121408" cy="16916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1417320"/>
            <a:ext cx="212140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66744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16459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0665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Передача специалисту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37744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Ключ доводится до инженеров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предприятий — по обычной почте</a:t>
            </a:r>
          </a:p>
        </p:txBody>
      </p:sp>
      <p:sp>
        <p:nvSpPr>
          <p:cNvPr id="21" name="Freeform 20"/>
          <p:cNvSpPr/>
          <p:nvPr/>
        </p:nvSpPr>
        <p:spPr>
          <a:xfrm>
            <a:off x="4924958" y="2213305"/>
            <a:ext cx="117958" cy="90525"/>
          </a:xfrm>
          <a:custGeom>
            <a:avLst/>
            <a:gdLst/>
            <a:ahLst/>
            <a:cxnLst/>
            <a:rect l="l" t="t" r="r" b="b"/>
            <a:pathLst>
              <a:path w="117958" h="90525">
                <a:moveTo>
                  <a:pt x="117958" y="45263"/>
                </a:moveTo>
                <a:lnTo>
                  <a:pt x="0" y="90525"/>
                </a:lnTo>
                <a:lnTo>
                  <a:pt x="0" y="0"/>
                </a:lnTo>
                <a:close/>
              </a:path>
            </a:pathLst>
          </a:custGeom>
          <a:solidFill>
            <a:srgbClr val="A9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417320"/>
            <a:ext cx="2121408" cy="16916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417320"/>
            <a:ext cx="212140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7880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16459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20665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Ввод ключа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37744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Специалист вводит ключ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 программе один раз</a:t>
            </a:r>
          </a:p>
        </p:txBody>
      </p:sp>
      <p:sp>
        <p:nvSpPr>
          <p:cNvPr id="28" name="Freeform 27"/>
          <p:cNvSpPr/>
          <p:nvPr/>
        </p:nvSpPr>
        <p:spPr>
          <a:xfrm>
            <a:off x="7156094" y="2213305"/>
            <a:ext cx="117958" cy="90525"/>
          </a:xfrm>
          <a:custGeom>
            <a:avLst/>
            <a:gdLst/>
            <a:ahLst/>
            <a:cxnLst/>
            <a:rect l="l" t="t" r="r" b="b"/>
            <a:pathLst>
              <a:path w="117958" h="90525">
                <a:moveTo>
                  <a:pt x="117958" y="45263"/>
                </a:moveTo>
                <a:lnTo>
                  <a:pt x="0" y="90525"/>
                </a:lnTo>
                <a:lnTo>
                  <a:pt x="0" y="0"/>
                </a:lnTo>
                <a:close/>
              </a:path>
            </a:pathLst>
          </a:custGeom>
          <a:solidFill>
            <a:srgbClr val="A9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0336" y="1417320"/>
            <a:ext cx="2121408" cy="16916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0336" y="1417320"/>
            <a:ext cx="212140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29015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9015" y="16459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0665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Закрепление места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37744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Программа привязывает место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к компьютеру автоматически</a:t>
            </a:r>
          </a:p>
        </p:txBody>
      </p:sp>
      <p:sp>
        <p:nvSpPr>
          <p:cNvPr id="35" name="Freeform 34"/>
          <p:cNvSpPr/>
          <p:nvPr/>
        </p:nvSpPr>
        <p:spPr>
          <a:xfrm>
            <a:off x="9387230" y="2213305"/>
            <a:ext cx="117958" cy="90525"/>
          </a:xfrm>
          <a:custGeom>
            <a:avLst/>
            <a:gdLst/>
            <a:ahLst/>
            <a:cxnLst/>
            <a:rect l="l" t="t" r="r" b="b"/>
            <a:pathLst>
              <a:path w="117958" h="90525">
                <a:moveTo>
                  <a:pt x="117958" y="45263"/>
                </a:moveTo>
                <a:lnTo>
                  <a:pt x="0" y="90525"/>
                </a:lnTo>
                <a:lnTo>
                  <a:pt x="0" y="0"/>
                </a:lnTo>
                <a:close/>
              </a:path>
            </a:pathLst>
          </a:custGeom>
          <a:solidFill>
            <a:srgbClr val="A9B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91472" y="1417320"/>
            <a:ext cx="2121408" cy="16916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91472" y="1417320"/>
            <a:ext cx="212140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60151" y="15727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60151" y="164592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20665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Работа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377440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Ключ больше не запрашивается,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программа проверяет себя сама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36499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3A6B"/>
                </a:solidFill>
                <a:latin typeface="Arial"/>
              </a:rPr>
              <a:t>Периодичность проверки — зависит от остатка срока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794760"/>
            <a:ext cx="6400800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3863340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Остаток срока ключа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1024" y="3863340"/>
            <a:ext cx="3291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часто программа сверяется со службой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4265676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Больше 2 месяцев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21024" y="4265676"/>
            <a:ext cx="3291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один раз в неделю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599432"/>
            <a:ext cx="6400800" cy="4023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4668012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От 1 недели до 2 месяцев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1024" y="4668012"/>
            <a:ext cx="3291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один раз в сутки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5070348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Меньше недели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1024" y="5070348"/>
            <a:ext cx="3291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при каждом запуске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3794760"/>
            <a:ext cx="4361688" cy="1609344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69480" y="3794760"/>
            <a:ext cx="68580" cy="160934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62088" y="3968496"/>
            <a:ext cx="3858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Проверка не мешает работе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2088" y="4352544"/>
            <a:ext cx="385876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Сверка идёт в фоне и занимает секунды.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Если связи нет — программа берёт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сохранённое разрешение и работает дальше,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не отвлекая специалиста.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Если место больше не нужно — администратор освобождает его в журнале, и оно сразу переходит другому специалисту.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Подключение рабочего места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Работа при отсутствии 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Три рубежа защиты — рудник продолжает считать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Отсутствие интернета на промплощадке или в горных выработках не останавливает работу: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программа заранее сохраняет разрешение и продолжает считать по нему.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4454956" cy="47548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2196" y="2148840"/>
            <a:ext cx="3182112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4308" y="2148840"/>
            <a:ext cx="2969971" cy="47548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67712"/>
            <a:ext cx="44549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есть связь — обычный режим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2196" y="2267712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связи нет — до 14 суток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4308" y="2267712"/>
            <a:ext cx="29699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аварийный ключ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2624328"/>
            <a:ext cx="0" cy="164592"/>
          </a:xfrm>
          <a:prstGeom prst="line">
            <a:avLst/>
          </a:prstGeom>
          <a:ln w="12700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0" y="280720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32196" y="2624328"/>
            <a:ext cx="0" cy="164592"/>
          </a:xfrm>
          <a:prstGeom prst="line">
            <a:avLst/>
          </a:prstGeom>
          <a:ln w="12700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54956" y="280720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обрыв связи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4308" y="2624328"/>
            <a:ext cx="0" cy="164592"/>
          </a:xfrm>
          <a:prstGeom prst="line">
            <a:avLst/>
          </a:prstGeom>
          <a:ln w="12700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7068" y="280720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14-е сутки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84280" y="2624328"/>
            <a:ext cx="0" cy="164592"/>
          </a:xfrm>
          <a:prstGeom prst="line">
            <a:avLst/>
          </a:prstGeom>
          <a:ln w="12700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07040" y="280720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372"/>
                </a:solidFill>
                <a:latin typeface="Arial"/>
              </a:rPr>
              <a:t>до года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27248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127248"/>
            <a:ext cx="68580" cy="18288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3009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Рубеж 1 — обычная работа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685032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Пока связь есть, программа изредка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сверяется со службой и сохраняет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разрешение у себя на компьютере.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3127248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3127248"/>
            <a:ext cx="68580" cy="18288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3009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Рубеж 2 — 14 суток офлайн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685032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Связь пропала — работа продолжается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по сохранённому разрешению.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Ничего делать не нужно,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программа показывает остаток дней.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1583" y="3127248"/>
            <a:ext cx="3520440" cy="18288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3127248"/>
            <a:ext cx="68580" cy="1828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3009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Рубеж 3 — аварийный ключ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685032"/>
            <a:ext cx="3017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Для объектов без интернета выдаётся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особый ключ. Он проверяется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на самом компьютере без сети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действует до года.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3892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Важно для режимных объектов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5623559"/>
            <a:ext cx="91440" cy="91440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532120"/>
            <a:ext cx="10735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Настольная версия считает вентиляцию на своём компьютере — интернет для расчёта не нужен вообще</a:t>
            </a:r>
          </a:p>
        </p:txBody>
      </p:sp>
      <p:sp>
        <p:nvSpPr>
          <p:cNvPr id="38" name="Oval 37"/>
          <p:cNvSpPr/>
          <p:nvPr/>
        </p:nvSpPr>
        <p:spPr>
          <a:xfrm>
            <a:off x="566928" y="5989320"/>
            <a:ext cx="91440" cy="91440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897880"/>
            <a:ext cx="10735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Перевод часов компьютера назад программа распознаёт и не принимает — обойти срок не получится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Автономная работа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Где выполняются расчёты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Настольная версия и работа в браузере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Расчёт вентиляционной сети — самая тяжёлая операция. Где она выполняется, зависит от варианта работы.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54406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5440680" cy="38404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56816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НАСТОЛЬНАЯ ВЕРСИЯ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95728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Расчёт на своём компьютере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2834640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743200"/>
            <a:ext cx="4764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Расчётное ядро установлено вместе с программой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218688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127248"/>
            <a:ext cx="4764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Интернет для расчёта не требуется вообще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360273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11296"/>
            <a:ext cx="4764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Скорость не зависит от качества связи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3986783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895344"/>
            <a:ext cx="4764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Данные не покидают предприятие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407408"/>
            <a:ext cx="5001768" cy="420624"/>
          </a:xfrm>
          <a:prstGeom prst="rect">
            <a:avLst/>
          </a:prstGeom>
          <a:solidFill>
            <a:srgbClr val="ECF7F0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07992"/>
            <a:ext cx="4782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5803D"/>
                </a:solidFill>
                <a:latin typeface="Arial"/>
              </a:rPr>
              <a:t>Рекомендуется для рудников и ВГСЧ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1874519"/>
            <a:ext cx="5449824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1874519"/>
            <a:ext cx="5449824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1956816"/>
            <a:ext cx="5449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РАБОТА В БРАУЗЕРЕ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9572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3A6B"/>
                </a:solidFill>
                <a:latin typeface="Arial"/>
              </a:rPr>
              <a:t>Расчёт на российском сервере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83464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2743200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Ничего устанавливать не нужно — открыл и работаешь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2186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3127248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Доступ с любого компьютера предприятия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8544" y="3511296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Есть резервный расчётный контур на случай сбоя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3986783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8544" y="3895344"/>
            <a:ext cx="4773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Переключение на резерв — автоматическое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407408"/>
            <a:ext cx="5010912" cy="420624"/>
          </a:xfrm>
          <a:prstGeom prst="rect">
            <a:avLst/>
          </a:prstGeom>
          <a:solidFill>
            <a:srgbClr val="EEF4FD"/>
          </a:solidFill>
          <a:ln w="1143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4507992"/>
            <a:ext cx="4791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Arial"/>
              </a:rPr>
              <a:t>Удобно руководству и смежным службам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13892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Про хранение данных</a:t>
            </a:r>
          </a:p>
        </p:txBody>
      </p:sp>
      <p:sp>
        <p:nvSpPr>
          <p:cNvPr id="38" name="Oval 37"/>
          <p:cNvSpPr/>
          <p:nvPr/>
        </p:nvSpPr>
        <p:spPr>
          <a:xfrm>
            <a:off x="566928" y="5623559"/>
            <a:ext cx="91440" cy="91440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532120"/>
            <a:ext cx="10735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Файлы проектов хранятся у предприятия — на своём компьютере или в своей сети, а не в облаке</a:t>
            </a:r>
          </a:p>
        </p:txBody>
      </p:sp>
      <p:sp>
        <p:nvSpPr>
          <p:cNvPr id="40" name="Oval 39"/>
          <p:cNvSpPr/>
          <p:nvPr/>
        </p:nvSpPr>
        <p:spPr>
          <a:xfrm>
            <a:off x="566928" y="5989320"/>
            <a:ext cx="91440" cy="91440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897880"/>
            <a:ext cx="10735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На сервере ведётся только учёт лицензий: организация, число мест, срок и журнал подключений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Расчёты и хранение данных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Какой вариант выбрать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Подбор под условия конкретного объекта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11064240" cy="512064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85900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Условия объекта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485900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Вариант работы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1485900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Лицензия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97964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Рудник, устойчивого интернета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99796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Настольная версия, расчёт на месте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997964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Обычный ключ, офлайн до 14 суток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41448"/>
            <a:ext cx="11064240" cy="5120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510028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Горные выработки, связи нет совсем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2510028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Настольная версия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10028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Аварийный ключ на срок до года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022092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Режимный объект, сеть закрыта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022092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Настольная версия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022092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Аварийный ключ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65576"/>
            <a:ext cx="11064240" cy="5120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534156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Управление предприятия, сеть есть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534156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Настольная версия или браузер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534156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Обычный ключ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046220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Руководство, смежные службы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046220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Работа в браузере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046220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Обычный ключ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489704"/>
            <a:ext cx="11064240" cy="5120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558284"/>
            <a:ext cx="37490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ВГСЧ, выезд на объект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55828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Настольная версия на ноутбуке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558284"/>
            <a:ext cx="329183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Аварийный ключ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89204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Ключи разных видов сочетаются в пределах одной организации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28523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Управляющая компания может держать основной ключ для офисов и предприятий со связью, а для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удалённых участков и выездных расчётов ВГСЧ дополнительно получить аварийные ключи. Оба вида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учитываются в одном журнале, и администратор видит полную картину по всем объектам.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Выбор варианта под объект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Что видит и может 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Управление лицензиями из одного кабинета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В кабинете администратора управляющей компании собрана вся картина по лицензиям предприятий.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68580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4825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Список ключей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32303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Все лицензии организации: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владелец, число мест, срок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7451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74519"/>
            <a:ext cx="68580" cy="129844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04825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Занятые места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432303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Кто подключился: компьютер,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версия программы, последний вход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87451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874519"/>
            <a:ext cx="68580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4825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Освобождение места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32303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Снять место с компьютера —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оно сразу перейдёт другому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187451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5984" y="1874519"/>
            <a:ext cx="68580" cy="129844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04825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Отзыв лицензии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432303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Отключить ключ целиком,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если он больше не действует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9183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291839"/>
            <a:ext cx="68580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46557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Продление срока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849624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Изменить дату окончания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и количество мест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29183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291839"/>
            <a:ext cx="68580" cy="129844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46557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Аварийные ключи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8" y="3849624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Выдать ключ для объекта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без связи и отозвать его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329183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3291839"/>
            <a:ext cx="68580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46557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Журнал событий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849624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Подключения, отказы, попытки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обойти срок действия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5984" y="3291839"/>
            <a:ext cx="269748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15984" y="3291839"/>
            <a:ext cx="68580" cy="129844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8592" y="3465575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3A6B"/>
                </a:solidFill>
                <a:latin typeface="Arial"/>
              </a:rPr>
              <a:t>Статистика обращений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3849624"/>
            <a:ext cx="2194560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Сколько раз программа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обращалась к службе по дням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82803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Что фиксируется по каждому рабочему месту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230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Название компьютера и операционная система · версия программы и расчётного ядра · дата первого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подключения и последнего входа · используемые разделы. Этого достаточно, чтобы понять, кто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и на чём работает, и вовремя заметить, что место занято неиспользуемым компьютером.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Администрирование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Как обновляется программа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Единая версия у всех специалистов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Обновления выходят централизованно: не нужно рассылать дистрибутивы по предприятиям вручную.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057400"/>
            <a:ext cx="2743200" cy="91440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Разработчик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328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CB8FB"/>
                </a:solidFill>
                <a:latin typeface="Arial"/>
              </a:rPr>
              <a:t>выпускает новую версию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05740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2585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Служба обновлений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5328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хранит версию и описание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057400"/>
            <a:ext cx="2743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A3A6B"/>
                </a:solidFill>
                <a:latin typeface="Arial"/>
              </a:rPr>
              <a:t>Рабочее место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328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проверяет и ставит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2514600"/>
            <a:ext cx="804673" cy="0"/>
          </a:xfrm>
          <a:prstGeom prst="line">
            <a:avLst/>
          </a:prstGeom>
          <a:ln w="2032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4808646" y="2463302"/>
            <a:ext cx="133685" cy="102595"/>
          </a:xfrm>
          <a:custGeom>
            <a:avLst/>
            <a:gdLst/>
            <a:ahLst/>
            <a:cxnLst/>
            <a:rect l="l" t="t" r="r" b="b"/>
            <a:pathLst>
              <a:path w="133685" h="102595">
                <a:moveTo>
                  <a:pt x="133685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2443" y="229514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публикация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514600"/>
            <a:ext cx="804672" cy="0"/>
          </a:xfrm>
          <a:prstGeom prst="line">
            <a:avLst/>
          </a:prstGeom>
          <a:ln w="20320">
            <a:solidFill>
              <a:srgbClr val="158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8466246" y="2463302"/>
            <a:ext cx="133686" cy="102595"/>
          </a:xfrm>
          <a:custGeom>
            <a:avLst/>
            <a:gdLst/>
            <a:ahLst/>
            <a:cxnLst/>
            <a:rect l="l" t="t" r="r" b="b"/>
            <a:pathLst>
              <a:path w="133686" h="102595">
                <a:moveTo>
                  <a:pt x="133686" y="51298"/>
                </a:moveTo>
                <a:lnTo>
                  <a:pt x="0" y="102595"/>
                </a:lnTo>
                <a:lnTo>
                  <a:pt x="0" y="0"/>
                </a:lnTo>
                <a:close/>
              </a:path>
            </a:pathLst>
          </a:cu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0044" y="229514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5803D"/>
                </a:solidFill>
                <a:latin typeface="Arial"/>
              </a:rPr>
              <a:t>загрузка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429000"/>
            <a:ext cx="3520440" cy="16459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29000"/>
            <a:ext cx="68580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602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Проверка при запуске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986784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Программа сама смотрит,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не вышла ли новая версия,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сообщает специалисту.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4256" y="3429000"/>
            <a:ext cx="3520440" cy="16459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6" y="3429000"/>
            <a:ext cx="68580" cy="1645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602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Установка в один клик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986784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Обновление скачивается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и ставится без участия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системного администратора.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3" y="3429000"/>
            <a:ext cx="3520440" cy="16459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3" y="3429000"/>
            <a:ext cx="68580" cy="16459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602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3A6B"/>
                </a:solidFill>
                <a:latin typeface="Arial"/>
              </a:rPr>
              <a:t>Единая версия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986784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Все предприятия работают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на одной версии — расчёты</a:t>
            </a:r>
          </a:p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сопоставимы между объектами.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28523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Для объектов без интернета обновление передаётся файлом и устанавливается вручную —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372"/>
                </a:solidFill>
                <a:latin typeface="Arial"/>
              </a:rPr>
              <a:t>программа при этом продолжает работать по аварийному ключу, переактивация не требуется.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Обновление программы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Надёжность и соответствие требованиям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Что важно службе безопасности и закупкам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Российская инфраструктура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7510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Учёт лицензий ведётся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на российских серверах,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СУБД PostgreSQL.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Без иностранных сервисов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7510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Обращений к зарубежным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сетям доставки контента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и онлайн-сервисам нет.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141732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41732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Защита от подмены срока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7510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Перевод часов компьютера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назад распознаётся,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лицензия не принимается.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3756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3756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51129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Аварийный ключ с подписью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89534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Проверяется на самом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компьютере криптографически —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подделать нельзя.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33756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33756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1129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Данные остаются у вас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89534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Проекты рудника хранятся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на ваших компьютерах,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а не в чужом облаке.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432" y="3337560"/>
            <a:ext cx="36118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2" y="3337560"/>
            <a:ext cx="68580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51129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Отзыв в любой момент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89534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Утерянный ноутбук —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администратор отзывает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место или ключ целиком.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349240"/>
            <a:ext cx="110642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046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3A6B"/>
                </a:solidFill>
                <a:latin typeface="Arial"/>
              </a:rPr>
              <a:t>В комплект поставки входят справка об импортозамещении и техническая документация —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3A6B"/>
                </a:solidFill>
                <a:latin typeface="Arial"/>
              </a:rPr>
              <a:t>материалы для включения в реестр российского ПО и для проведения закупки.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Безопасность и импортозамещение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Сколько рабочих мест нужно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Расчёт от числа специалистов, работающих со схемой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Место нужно каждому, кто сам работает со схемой и запускает расчёты. Тем, кто только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смотрит готовые документы, лицензия не требуется — им передают отчёты и чертежи.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Типовой состав на один рудник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23160"/>
            <a:ext cx="5943600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00884"/>
            <a:ext cx="1929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Специалист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500884"/>
            <a:ext cx="2569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3" y="2500884"/>
            <a:ext cx="786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Мест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903220"/>
            <a:ext cx="1929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Главный инженер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903220"/>
            <a:ext cx="2569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Утверждение вентрежимов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3" y="2903220"/>
            <a:ext cx="786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227832"/>
            <a:ext cx="5943600" cy="4023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305556"/>
            <a:ext cx="1929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Участок ВТБ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3305556"/>
            <a:ext cx="2569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Вентиляция, депрессионная съёмка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2703" y="3305556"/>
            <a:ext cx="786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707891"/>
            <a:ext cx="1929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Инженер-проектировщик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3784" y="3707891"/>
            <a:ext cx="2569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Проекты, расчёт воздуха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2703" y="3707891"/>
            <a:ext cx="786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32504"/>
            <a:ext cx="5943600" cy="4023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110228"/>
            <a:ext cx="1929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Специалист по ПЛА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784" y="4110228"/>
            <a:ext cx="2569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Аварийные режимы, позиции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2703" y="4110228"/>
            <a:ext cx="786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434840"/>
            <a:ext cx="5943600" cy="402336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12564"/>
            <a:ext cx="1929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Arial"/>
              </a:rPr>
              <a:t>Итого на рудник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3784" y="4512564"/>
            <a:ext cx="25694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Arial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2703" y="4512564"/>
            <a:ext cx="7863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Arial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011680"/>
            <a:ext cx="4818888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12280" y="2011680"/>
            <a:ext cx="68580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4888" y="2185416"/>
            <a:ext cx="4315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Базовый пакет — ровно на рудник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2569464"/>
            <a:ext cx="4315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Один ключ рассчитан на 5 рабочих мест.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Это как раз закрывает вентиляционную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службу одного предприятия.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3520440"/>
            <a:ext cx="4818888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12280" y="3520440"/>
            <a:ext cx="68580" cy="1371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4888" y="3694176"/>
            <a:ext cx="4315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ВГСЧ считается отдельно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888" y="4078224"/>
            <a:ext cx="4315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Отряду обычно достаточно 2–3 мест: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командир и расчётчики маршрутов.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Входит в общий ключ группы.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5029200"/>
            <a:ext cx="4818888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12280" y="5029200"/>
            <a:ext cx="68580" cy="123444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04888" y="5202936"/>
            <a:ext cx="4315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3A6B"/>
                </a:solidFill>
                <a:latin typeface="Arial"/>
              </a:rPr>
              <a:t>Управляющая компания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5586984"/>
            <a:ext cx="43159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1–2 места для контроля расчётов</a:t>
            </a:r>
          </a:p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5A6372"/>
                </a:solidFill>
                <a:latin typeface="Arial"/>
              </a:rPr>
              <a:t>предприятий и сводных проверок.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02920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3A6B"/>
                </a:solidFill>
                <a:latin typeface="Arial"/>
              </a:rPr>
              <a:t>Места можно перераспределять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413248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Если специалист уволился или сменил компьютер, администратор освобождает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место в журнале — оно сразу переходит другому. Докупать при этом ничего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372"/>
                </a:solidFill>
                <a:latin typeface="Arial"/>
              </a:rPr>
              <a:t>не нужно, пока не превышено общее число мест по ключу.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Расчёт количества мест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rial"/>
              </a:rPr>
              <a:t>Расчёт стоимости для группы предприятий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CB8FB"/>
                </a:solidFill>
                <a:latin typeface="Arial"/>
              </a:rPr>
              <a:t>От числа рабочих мест — по действующему предложению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310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4A6BA0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1F1F"/>
                </a:solidFill>
                <a:latin typeface="Arial"/>
              </a:rPr>
              <a:t>Лицензия годовая. В стоимость входят установка, обучение персонала, поддержка и обновления.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3611880" cy="13716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7CB8FB"/>
                </a:solidFill>
                <a:latin typeface="Arial"/>
              </a:rPr>
              <a:t>БАЗОВЫЙ ПАКЕТ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1 200 000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8CAE6"/>
                </a:solidFill>
                <a:latin typeface="Arial"/>
              </a:rPr>
              <a:t>за 5 рабочих мест · 1 год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3611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993392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563EB"/>
                </a:solidFill>
                <a:latin typeface="Arial"/>
              </a:rPr>
              <a:t>ОДНО РАБОЧЕЕ МЕСТО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28600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A3A6B"/>
                </a:solidFill>
                <a:latin typeface="Arial"/>
              </a:rPr>
              <a:t>240 000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788920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в год · при пакете из 5 мест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1828800"/>
            <a:ext cx="3529584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1993392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Arial"/>
              </a:rPr>
              <a:t>В ПЕРЕСЧЁТЕ НА МЕСЯЦ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2286000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A3A6B"/>
                </a:solidFill>
                <a:latin typeface="Arial"/>
              </a:rPr>
              <a:t>20 000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2788920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372"/>
                </a:solidFill>
                <a:latin typeface="Arial"/>
              </a:rPr>
              <a:t>на одного специалиста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6499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3A6B"/>
                </a:solidFill>
                <a:latin typeface="Arial"/>
              </a:rPr>
              <a:t>Варианты для группы предприятий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67328"/>
            <a:ext cx="11064240" cy="420624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845052"/>
            <a:ext cx="49011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Состав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3" y="3845052"/>
            <a:ext cx="1152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Мест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3845052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Пакетов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845052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Стоимость, ₽ / год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265676"/>
            <a:ext cx="49011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Один рудник — пилотный проект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3" y="4265676"/>
            <a:ext cx="1152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3" y="4265676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4265676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1 200 000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608576"/>
            <a:ext cx="11064240" cy="42062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686300"/>
            <a:ext cx="49011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Два рудника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3" y="4686300"/>
            <a:ext cx="1152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3" y="4686300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3104" y="4686300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2 400 000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5106924"/>
            <a:ext cx="49011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Три рудника и отряд ВГСЧ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3" y="5106924"/>
            <a:ext cx="1152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3" y="5106924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5106924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4 800 000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449824"/>
            <a:ext cx="11064240" cy="42062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527548"/>
            <a:ext cx="49011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Пять рудников, ВГСЧ и управляющая компания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3" y="5527548"/>
            <a:ext cx="1152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3" y="5527548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5527548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7 200 000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5948172"/>
            <a:ext cx="49011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Группа предприятий полностью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583" y="5948172"/>
            <a:ext cx="1152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87183" y="5948172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3104" y="5948172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F1F1F"/>
                </a:solidFill>
                <a:latin typeface="Arial"/>
              </a:rPr>
              <a:t>12 000 000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03504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372"/>
                </a:solidFill>
                <a:latin typeface="Arial"/>
              </a:rPr>
              <a:t>Расчёт по базовой цене предложения. Условия для группы предприятий обсуждаются отдельно. НДС не облагается — пп. 26 п. 2 ст. 149 НК РФ.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659282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372"/>
                </a:solidFill>
                <a:latin typeface="Arial"/>
              </a:rPr>
              <a:t>Стоимость лицензий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82735" y="65928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A3A6B"/>
                </a:solidFill>
                <a:latin typeface="Arial"/>
              </a:rPr>
              <a:t>ПВ-Система · Лицензирование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5836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783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Что это даёт управляющей компании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450592"/>
            <a:ext cx="2377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52928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Один ключ на всю группу предприятий —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не нужно оформлять лицензию на каждый ПК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Места распределяются между рудниками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и службами по фактической потребности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Полная картина в одном кабинете: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кто подключён, где и на чём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52928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Рудник продолжает работать без связи —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до 14 суток, а с аварийным ключом дольше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Расчёты выполняются на месте,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данные предприятия остаются у предприятия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Отечественное решение, готовое</a:t>
            </a:r>
          </a:p>
          <a:p>
            <a:pPr algn="l">
              <a:lnSpc>
                <a:spcPct val="142000"/>
              </a:lnSpc>
            </a:pPr>
            <a:r>
              <a:rPr sz="1350" b="0" i="0">
                <a:solidFill>
                  <a:srgbClr val="D5E2F5"/>
                </a:solidFill>
                <a:latin typeface="Arial"/>
              </a:rPr>
              <a:t>к требованиям закупок и безопасности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577840"/>
            <a:ext cx="10744200" cy="45720"/>
          </a:xfrm>
          <a:prstGeom prst="rect">
            <a:avLst/>
          </a:prstGeom>
          <a:solidFill>
            <a:srgbClr val="2E5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B8FB"/>
                </a:solidFill>
                <a:latin typeface="Arial"/>
              </a:rPr>
              <a:t>ПВ-Система · централизованное лицензирование для группы предприятий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