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8">
          <p15:clr>
            <a:srgbClr val="A4A3A4"/>
          </p15:clr>
        </p15:guide>
        <p15:guide id="2" pos="45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276"/>
    <a:srgbClr val="596375"/>
    <a:srgbClr val="FEE8D2"/>
    <a:srgbClr val="B3E6FF"/>
    <a:srgbClr val="D6A1FD"/>
    <a:srgbClr val="FEEBC6"/>
    <a:srgbClr val="FDDEBF"/>
    <a:srgbClr val="FCD5AE"/>
    <a:srgbClr val="FCCCAE"/>
    <a:srgbClr val="FBC2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9" autoAdjust="0"/>
    <p:restoredTop sz="93444" autoAdjust="0"/>
  </p:normalViewPr>
  <p:slideViewPr>
    <p:cSldViewPr>
      <p:cViewPr varScale="1">
        <p:scale>
          <a:sx n="106" d="100"/>
          <a:sy n="106" d="100"/>
        </p:scale>
        <p:origin x="1914" y="102"/>
      </p:cViewPr>
      <p:guideLst>
        <p:guide orient="horz" pos="828"/>
        <p:guide pos="45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100" y="-102"/>
      </p:cViewPr>
      <p:guideLst>
        <p:guide orient="horz" pos="3127"/>
        <p:guide pos="2141"/>
      </p:guideLst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34741AA2-7C21-466D-B14D-5F1EB99898CF}" type="datetimeFigureOut">
              <a:rPr lang="ru-RU" smtClean="0"/>
              <a:pPr/>
              <a:t>21.09.2026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62525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3" y="4714879"/>
            <a:ext cx="5438775" cy="4467225"/>
          </a:xfrm>
          <a:prstGeom prst="rect">
            <a:avLst/>
          </a:prstGeom>
        </p:spPr>
        <p:txBody>
          <a:bodyPr vert="horz" lIns="91420" tIns="45710" rIns="91420" bIns="4571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28167"/>
            <a:ext cx="2946400" cy="496887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8167"/>
            <a:ext cx="2946400" cy="496887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90CBF0B7-A6FE-442A-BE63-7C1F26DF8B6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33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86512" y="6143644"/>
            <a:ext cx="2133600" cy="47625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536315EA-1711-4782-9563-69F006155C6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latin typeface="Calibri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496050"/>
            <a:ext cx="2133600" cy="476250"/>
          </a:xfrm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fld id="{536315EA-1711-4782-9563-69F006155C6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7" name="Номер слайда 5"/>
          <p:cNvSpPr txBox="1">
            <a:spLocks/>
          </p:cNvSpPr>
          <p:nvPr userDrawn="1"/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6315EA-1711-4782-9563-69F006155C6C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438150" y="184150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536315EA-1711-4782-9563-69F006155C6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alphaModFix amt="39000"/>
            <a:lum/>
          </a:blip>
          <a:srcRect/>
          <a:stretch>
            <a:fillRect l="-5000" t="-5000" r="-2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FF7926C-8109-4D56-B088-11068E931591}" type="slidenum">
              <a:rPr lang="ru-RU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0" r:id="rId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201168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СДС филиала «Копейский ВГСО» ФГУП «Военизированная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горноспасательная часть» МЧС России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783080"/>
            <a:ext cx="8321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333399"/>
                </a:solidFill>
                <a:latin typeface="Times New Roman"/>
              </a:rPr>
              <a:t>ДОКЛАД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03120"/>
            <a:ext cx="8321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02060"/>
                </a:solidFill>
                <a:latin typeface="Times New Roman"/>
              </a:rPr>
              <a:t>Обзор программных комплексов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02060"/>
                </a:solidFill>
                <a:latin typeface="Times New Roman"/>
              </a:rPr>
              <a:t>для проведения инженерных расчётов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предусмотренных пунктом 26 Федеральных норм и правил в области промышленной безопасности «Инструкция по локализации и ликвидации последствий аварий на опасных производственных объектах, на которых ведутся горные работы»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Утв. приказом Ростехнадзора от 11.12.2020 № 520 (в ред. от 20.02.2026 № 49)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98848"/>
            <a:ext cx="7863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333399"/>
                </a:solidFill>
                <a:latin typeface="Times New Roman"/>
              </a:rPr>
              <a:t>АэроСеть · Вентиляция · ПВ-Система · MineFrame · Ventsim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4983480"/>
            <a:ext cx="5120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Докладчик:</a:t>
            </a:r>
          </a:p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Командир взвода службы депрессионных съемок</a:t>
            </a:r>
          </a:p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филиала «Копейский ВГСО» ФГУП «ВГСЧ»</a:t>
            </a:r>
          </a:p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Ипатов Сергей Геннадьевич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22 сентября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ПЛАН ВЫСТУПЛЕНИЯ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Содержание доклада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138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Нормативная база. Пункт 26 и Приложение № 11 Инструкции № 520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Какие расчёты должны выполняться при ликвидации аварий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Обзор рынка отечественного и зарубежного ПО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«АэроСеть» — возможности, плюсы и минусы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«Вентиляция» (Шахтэксперт-Системы) — анализ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«ПВ-Система» — специализированное ПО для ВГСЧ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Дополнительные комплексы: MineFrame, Ventsim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Сравнительная таблица по критериям выбора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Импортозамещение и реестр отечественного ПО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Выводы и рекомендации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1 · НОРМАТИВНАЯ БАЗА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Нормативная основа доклада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ФНП «Инструкция по локализации и ликвидации последствий аварий на ОПО, на которых ведутся горные работы»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Приказ Ростехнадзора № 520 от 11.12.2020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Зарегистрирован в Минюсте России 21.12.2020, рег. № 61628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Действующая редакция — приказ от 20.02.2026 № 49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Распространяется на ОПО подземных и открытых горных работ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Определяет порядок разработки оперативных планов (ОП) по локализации и ликвидации последствий аварий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Пункт 26 — инженерные расчёты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Обязывает при разработке оперативного плана выполнять инженерные расчёты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Перечень и методики — Приложение № 11 к Инструкции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Расчёты выполняются техническим отделением / службой ВГСЧ на командном пункте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Результаты прикладываются к оперативному плану и фиксируются в оперативном журнале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60720"/>
            <a:ext cx="8138160" cy="566928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843016"/>
            <a:ext cx="7818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Расчёты должны выполняться ОПЕРАТИВНО — в условиях дефицита времени и высокой цены ошибки. Ручной счёт занимает часы.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2 · СОСТАВ РАСЧЁТОВ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Приложение № 11: перечень инженерных расчётов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Что именно требует нормативный документ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40" cy="192024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01. Взрывоопасность рудничной атмосферы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37398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Оценка состава пожарных газов (CH₄, H₂, CO, O₂, N₂) по треугольнику Коуарда / диаграмме Эллиота–Ламберта. Определение категории взрывоопасности и допустимости работ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40" cy="192024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463040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02. Проёмы в изоляционных перемычках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828800"/>
            <a:ext cx="37398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Определение площади окна, обеспечивающей требуемое проветривание аварийного участка и безопасный режим при изоляции пожара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3977640" cy="192024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547872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03. Параметры водоупорных перемычек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913632"/>
            <a:ext cx="37398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Определение толщины, глубины врубов, прочности перемычки при прорыве воды, рассола, заиловочной пульпы и обводнённой горной массы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56432"/>
            <a:ext cx="3977640" cy="192024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3547872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04. Взрывоопасность атмосферы нефтяных шахт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3913632"/>
            <a:ext cx="37398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Учёт углеводородов нефтяного ряда, специфика термошахтной добычи, НКПР смеси по правилу Ле-Шателье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596128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678424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Дополнительно требуются: устойчивость проветривания, депрессия пожара, тепловые режимы, время загазирования выработок.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2 · ПОСТАНОВКА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Почему нужны программные комплексы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Ограничения ручного счёта в условиях аварии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Фактор времени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Ручной расчёт треугольника взрывоопасности — 20–40 мин. на одну пробу. При аварии проб десятки, счёт идёт непрерывно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137160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547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Сложность сети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472" y="182880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Вентиляционная сеть шахты — сотни и тысячи ветвей. Аналитический расчёт воздухораспределения невозможен без ЭВМ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0280" y="137160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915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Цена ошибки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182880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Ошибка в оценке взрывоопасности — гибель горноспасательного отделения. Требуется верифицированный алгоритм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2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73552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Документирование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639312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Результаты должны быть оформлены, приложены к ОП, храниться и предъявляться надзору и комиссии по расследованию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6600" y="3182112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5472" y="3273552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Прогноз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5472" y="3639312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Необходимо моделировать «что будет, если» — реверс, закорачивание, изоляция, вариантные проработки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0280" y="3182112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9152" y="3273552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Обучение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9152" y="3639312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Тренировки, учения, подготовка респираторщиков и ИТР шахт требуют воспроизводимого расчётного инструмента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3 · ЛАНДШАФТ РЕШЕНИЙ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Обзор рынка расчётного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Отечественные и зарубежные решения, применимые для задач ВГСЧ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89888"/>
          <a:ext cx="813816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77440"/>
                <a:gridCol w="3200400"/>
                <a:gridCol w="1188720"/>
              </a:tblGrid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Продукт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Разработчик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Назначение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Страна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АэроСеть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ООО «Аэрология горных предприятий» / ГИ УрО РАН, Пермь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Расчёт вентиляционных сетей, аварийные режимы, тепло- и газодинамика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Россия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«Вентиляция»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ООО «Шахтэксперт-Системы», Кемерово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Аэрологические расчёты, депрессионные съёмки, ПЛА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Россия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ПВ-Система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Специализированный комплекс для ВГСЧ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Расчёты Приложения № 11: взрывоопасность, перемычки, гидравлика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Россия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MineFrame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ГГИС «МайнФрэйм», Апатиты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Горно-геологическая ИС с вентиляционным модулем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Россия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Ventsim DESIGN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Howden / Chasm Consulting, Австралия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3D-моделирование вентиляции, пожарные и тепловые режимы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Зарубеж.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4 · АЭРОСЕТЬ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Программный комплекс «АэроСеть»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ООО «Аэрология горных предприятий» (г. Пермь), при участии Горного института УрО РАН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✔  Преимущества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Наиболее полный отечественный расчёт вентиляционных сетей — тысячи ветвей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Реализован расчёт аварийных режимов и динамики загазирования — прямая польза для ОП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Включён в Реестр российского ПО, активно развивается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Внедрён на большинстве крупных угольных и рудных предприятий РФ (СУЭК, ЕВРАЗ, Норникель)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Есть учебные курсы и техническая поддержка разработчика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✖  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Высокая стоимость лицензии и сопровождения — ощутимо для бюджета подразделения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Требует построения и постоянной актуализации цифровой модели сети шахты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Порог вхождения: нужен подготовленный инженер-аэролог, обучение 3–5 дней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Нацелен на службу ВТБ предприятия, а не на оперативную работу на командном пункте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Расчёты Приложения № 11 представлены не в полном объёме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4 · АЭРОСЕТЬ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«АэроСеть»: применение в задачах ВГСЧ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Где комплекс даёт максимальный эффект при ликвидации аварии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4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Разработка ПЛА и ОП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373989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Проработка вариантов аварийных вентиляционных режимов заранее, в мирное время; проверка реализуемости позиций ПЛА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4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463040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Оценка режима проветривания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828800"/>
            <a:ext cx="373989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Расчёт последствий реверса, закорачивания струи, остановки ГВУ; прогноз загазирования и зон поражения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90672"/>
            <a:ext cx="397764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182112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Изоляция аварийного участка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547872"/>
            <a:ext cx="373989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Оценка влияния возводимых перемычек на распределение воздуха в сети шахты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090672"/>
            <a:ext cx="397764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3182112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Маршруты вывода людей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3547872"/>
            <a:ext cx="373989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Расчёт времени движения по выработкам и сопоставление со временем защитного действия самоспасателя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64607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946903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«АэроСеть» — сильный инструмент вентиляционного анализа, но для закрытия п. 26 требует дополнения расчётами взрывоопасности.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5 · «ВЕНТИЛЯЦИЯ»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Программный комплекс «Вентиляция»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ООО «Шахтэксперт-Системы» (г. Кемерово) — семейство отраслевых расчётных программ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✔  Преимущества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Ориентирован на реальную отчётность службы ВТБ угольных шахт — готовые формы документов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Существенно ниже стоимость по сравнению с комплексными 3D-системами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Простой интерфейс, невысокие требования к ПК, быстрый ввод в эксплуатацию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Многолетняя практика применения на шахтах Кузбасса, методики согласованы с отраслевыми НИИ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Хорошо решает задачи депрессионных съёмок и нормирования воздуха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✖  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Более узкая функциональность: 3D-визуализация и динамика пожара развиты слабее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Аварийные и тепловые режимы моделируются упрощённо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Слабая интеграция с современными ГГИС и системами АГК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Ориентация преимущественно на угольные шахты; для рудников адаптация ограничена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Расчёты Приложения № 11 покрываются частично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6 · ПВ-СИСТЕМА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Программный комплекс «ПВ-Система»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Специализированное решение для инженерных расчётов горноспасательных работ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✔  Преимущества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Единственный класс ПО, покрывающий ВСЕ четыре расчёта Приложения № 11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Заточен под регламент работы ВГСЧ, а не под службу ВТБ предприятия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Минимальные исходные данные — работает по данным газового анализа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Скорость: результат по пробе за секунды, без построения модели всей шахты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Автоматический протокол расчёта с формулами и ссылками на пункты НПА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Отечественная разработка, работа в закрытом контуре / офлайн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✖  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Не заменяет полноценный сетевой расчёт вентиляции всей шахты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Нет 3D-визуализации горных выработок и анимации распространения пожара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Требует корректных и свежих данных газового анализа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Необходимо обучение персонала интерпретации результатов, программа не снимает ответственность с РГСР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Экосистема интеграций пока уже, чем у крупных ГГИС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6 · ПВ-СИСТЕМА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«ПВ-Система»: типовой сценарий применения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От отбора пробы до решения руководителя горноспасательных работ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590800" cy="157276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ШАГ 1 · Отбор пробы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235305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Отделение ВГСЧ отбирает пробу рудничной атмосферы за перемычкой или в зоне пожара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1371600"/>
            <a:ext cx="2590800" cy="157276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547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ШАГ 2 · Газовый анализ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472" y="1828800"/>
            <a:ext cx="235305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Лаборатория определяет содержание CH₄, H₂, CO, CO₂, O₂, N₂, C₂H₄, C₂H₂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0280" y="1371600"/>
            <a:ext cx="2590800" cy="157276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915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ШАГ 3 · Ввод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1828800"/>
            <a:ext cx="235305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Инженер вводит состав пробы, температуру и параметры участка в программу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08960"/>
            <a:ext cx="2590800" cy="157276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040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ШАГ 4 · Расчёт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566160"/>
            <a:ext cx="235305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Автоматическое построение треугольника взрывоопасности, оценка НКПР/ВКПР, категория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6600" y="3108960"/>
            <a:ext cx="2590800" cy="157276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5472" y="320040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ШАГ 5 · Протокол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5472" y="3566160"/>
            <a:ext cx="235305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Формирование расчётного листа с формулами, графиком и выводом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0280" y="3108960"/>
            <a:ext cx="2590800" cy="157276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9152" y="320040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ШАГ 6 · Решение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9152" y="3566160"/>
            <a:ext cx="235305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РГСР принимает решение о допуске людей, изоляции или продолжении тушения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01183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983479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Контрольное время всего цикла — единицы минут вместо десятков. Это и есть требование оперативности п. 26 Инструкции № 520.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7 · ДОПОЛНИТЕЛЬНО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Дополнительные комплексы: MineFrame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Горно-геологическая информационная система (г. Апатиты)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✔  Преимущества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Полностью отечественная разработка академического уровня, в Реестре российского ПО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3D-модель выработок помогает наглядно планировать маршруты движения отделений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Единая среда: геология + маркшейдерия + вентиляция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Применяется на рудниках АО «Апатит», «Норникель», КМА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✖  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Избыточна для задач ВГСЧ: основное назначение — проектирование и планирование горных работ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Вентиляционный модуль уступает специализированным комплексам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Требует мощного оборудования и подготовленного оператора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Расчёты Приложения № 11 не реализованы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7 · ДОПОЛНИТЕЛЬНО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Зарубежные комплексы: Ventsim DESIGN, VentPRO, VUMA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Технически сильные решения с принципиальными ограничениями применения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✔  Преимущества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Лучшие в классе визуализация и удобство моделирования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Продвинутая физика: тепло-, массоперенос, динамика пожара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Модули пожара (Fire), тепла (Thermodynamic), газов (Contaminant)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Расчёт климатических параметров глубоких рудников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Широкая международная практика и верификация на реальных авариях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✖  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Не соответствуют российским методикам и формам документов Приложения № 11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Санкционные и лицензионные риски: невозможность продления и поддержки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Противоречие политике импортозамещения; отсутствие в Реестре российского ПО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Валютная стоимость лицензий, проблемы оплаты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Неприемлемы для работы с данными ограниченного доступа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8 · СРАВНЕНИЕ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Сравнительная таблица программных комплексов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Оценка по ключевым для ВГСЧ критериям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89888"/>
          <a:ext cx="8138160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52144"/>
                <a:gridCol w="1152144"/>
                <a:gridCol w="1152144"/>
                <a:gridCol w="1152144"/>
                <a:gridCol w="1152144"/>
              </a:tblGrid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Критерий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АэроСеть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«Вентиляция»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ПВ-Система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MineFrame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Ventsim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Расчёты Приложения № 11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частично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частично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полностью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Сетевой расчёт вентиляции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отлично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хорошо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базово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хорошо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отлично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Аварийные режимы, пожар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отлично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удовл.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хорошо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удовл.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отлично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Скорость работы на КП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средняя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средняя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высокая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низкая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средняя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Порог вхождения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высокий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средний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низкий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высокий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средний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Реестр российского ПО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Стоимость владения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высокая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средняя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низкая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высокая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высокая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Работа офлайн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Times New Roman"/>
                        </a:rPr>
                        <a:t>огранич.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9 · ИМПОРТОЗАМЕЩЕНИЕ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Импортозамещение и требования к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Правовые основания выбора отечественных программных решений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Нормативные требования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Постановление Правительства РФ № 1236 — запрет на допуск иностранного ПО при госзакупках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Указ Президента РФ № 166 от 30.03.2022 — переход субъектов КИИ на отечественное ПО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ФЗ № 187-ФЗ — ОПО горной добычи относятся к критической информационной инфраструктуре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Обязательное наличие в Едином реестре российских программ (Минцифры России)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39" cy="4224528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72184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Практические следствия для ВГСЧ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47088"/>
            <a:ext cx="370331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Закупка зарубежного ПО требует обоснования отсутствия аналогов — как правило, невозможна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Приоритет решений, работающих на Astra Linux / РЕД ОС и российских СУБД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Необходима техподдержка на территории РФ и документация на русском языке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•  Предпочтительна работа в изолированном контуре без обращения к внешним серверам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60720"/>
            <a:ext cx="8138160" cy="566928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843016"/>
            <a:ext cx="7818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Все рассмотренные отечественные комплексы соответствуют требованиям импортозамещения и могут использоваться без ограничений.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9 · МЕТОДИКА ВЫБОРА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Критерии выбора программного комплекса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Чек-лист для подразделения при принятии решения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77640" cy="1133856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1. Соответствие п. 26 и Приложению №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373989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Полнота реализации всех четырёх видов расчётов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40" cy="1133856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463040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2. Верифицируемость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828800"/>
            <a:ext cx="373989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Возможность проверить результат вручную, прозрачность формул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70048"/>
            <a:ext cx="3977640" cy="1133856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761488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3. Оперативность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127248"/>
            <a:ext cx="373989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Время получения результата в условиях аварии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670048"/>
            <a:ext cx="3977640" cy="1133856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2761488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4. Форма выходных документов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3127248"/>
            <a:ext cx="373989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Готовые расчётные листы для приложения к ОП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8496"/>
            <a:ext cx="3977640" cy="1133856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059936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5. Автономность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425696"/>
            <a:ext cx="373989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Работа без интернета, на ноутбуке оперативной группы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968496"/>
            <a:ext cx="3977640" cy="1133856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4059936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6. Стоимость владения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4425696"/>
            <a:ext cx="373989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Лицензия + сопровождение + обучение на горизонте 3–5 лет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66944"/>
            <a:ext cx="3977640" cy="1133856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358384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7. Поддержка и обновления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724144"/>
            <a:ext cx="373989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Реакция разработчика на изменения НПА (напр., ред. от 20.02.2026)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5266944"/>
            <a:ext cx="3977640" cy="1133856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5358384"/>
            <a:ext cx="3739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8. Обучаемость персонала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5724144"/>
            <a:ext cx="373989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Срок подготовки инженера технического отделения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10 ·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Рекомендуемая схема комплексирования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Ни один продукт не закрывает все задачи в одиночку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590800" cy="21031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Уровень предприятия (служба ВТБ)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АэроСеть / «Вентиляция»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2353056" cy="1554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Ведение цифровой модели вентиляционной сети, депрессионные съёмки, разработка ПЛА, вариантные проработки аварийных режимов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1371600"/>
            <a:ext cx="2590800" cy="21031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547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Уровень командного пункта ВГСЧ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ПВ-Система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472" y="1828800"/>
            <a:ext cx="2353056" cy="1554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Оперативные расчёты Приложения № 11: взрывоопасность атмосферы, проёмы и параметры перемычек, гидравлика; приложения к ОП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0280" y="1371600"/>
            <a:ext cx="2590800" cy="21031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915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Уровень анализа и обучения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MineFrame / 3D-модели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1828800"/>
            <a:ext cx="2353056" cy="1554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Разбор аварий, тренировки, подготовка респираторщиков и ИТР, наглядная проработка маршрутов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10 ·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Итоги проведённого обзора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•  Пункт 26 Инструкции № 520 делает инженерные расчёты обязательным элементом оперативного плана; выполнение их вручную в условиях аварии практически нереализуемо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•  Приложение № 11 требует четырёх видов расчётов: взрывоопасность рудничной атмосферы, проёмы в изоляционных перемычках, параметры водоупорных перемычек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•  «АэроСеть» — сильнейший отечественный инструмент сетевого моделирования, но дорогой и ориентированный на службу ВТБ предприятия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•  «Вентиляция» — экономичное решение для повседневных аэрологических расчётов и отчётности, со слабым покрытием аварийных сценариев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•  «ПВ-Система» — единственный класс ПО, напрямую реализующий методики Приложения № 11 в оперативном формате командного пункта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•  Зарубежные комплексы технически сильны, но неприменимы по нормативным, санкционным и методическим причинам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•  Рациональна многоуровневая схема: сетевое моделирование на предприятии + специализированные расчёты в подразделении ВГСЧ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10 · РЕКОМЕНДАЦИИ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Практические рекомендации подразделениям ВГСЧ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Предлагаемый план мероприятий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Ближайшая перспектива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Провести инвентаризацию расчётных средств, применяемых в отряде; оценить соответствие ред. приказа от 20.02.2026 № 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137160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547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Оснащение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472" y="182880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Обеспечить каждый оперативный взвод автономным расчётным комплексом на защищённом ноутбуке командного пункта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0280" y="137160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915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Подготовка кадров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182880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Включить работу с расчётным ПО в программу подготовки командиров отделений и инженеров технического отделения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2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73552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Тренировки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639312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Отрабатывать расчёты в ходе учебных тревог и плановых проверок ПЛА на обслуживаемых объектах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6600" y="3182112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5472" y="3273552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Взаимодействие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5472" y="3639312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Согласовать с предприятиями порядок передачи актуальных цифровых моделей вентиляционных сетей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0280" y="3182112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9152" y="3273552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Методическое сопровождение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9152" y="3639312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Вести реестр выполненных расчётов и анализировать расхождения расчёта с фактической обстановкой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Обзор программ для инженерных расчётов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46888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Благодарю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ФГУП «Военизированная горноспасательная часть»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Копейский военизированный горноспасательный отряд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Служба депрессионных съемок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41819</TotalTime>
  <Words>4802</Words>
  <Application>Microsoft Office PowerPoint</Application>
  <PresentationFormat>Экран (4:3)</PresentationFormat>
  <Paragraphs>1779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Оформление по умолчанию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VGCSH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СДС</dc:creator>
  <cp:lastModifiedBy>SDS</cp:lastModifiedBy>
  <cp:revision>1651</cp:revision>
  <cp:lastPrinted>2022-09-14T09:21:57Z</cp:lastPrinted>
  <dcterms:created xsi:type="dcterms:W3CDTF">2011-01-08T06:33:34Z</dcterms:created>
  <dcterms:modified xsi:type="dcterms:W3CDTF">2026-09-21T08:42:26Z</dcterms:modified>
</cp:coreProperties>
</file>