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797675" cy="9926638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28">
          <p15:clr>
            <a:srgbClr val="A4A3A4"/>
          </p15:clr>
        </p15:guide>
        <p15:guide id="2" pos="458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5276"/>
    <a:srgbClr val="596375"/>
    <a:srgbClr val="FEE8D2"/>
    <a:srgbClr val="B3E6FF"/>
    <a:srgbClr val="D6A1FD"/>
    <a:srgbClr val="FEEBC6"/>
    <a:srgbClr val="FDDEBF"/>
    <a:srgbClr val="FCD5AE"/>
    <a:srgbClr val="FCCCAE"/>
    <a:srgbClr val="FBC2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49" autoAdjust="0"/>
    <p:restoredTop sz="93444" autoAdjust="0"/>
  </p:normalViewPr>
  <p:slideViewPr>
    <p:cSldViewPr>
      <p:cViewPr varScale="1">
        <p:scale>
          <a:sx n="106" d="100"/>
          <a:sy n="106" d="100"/>
        </p:scale>
        <p:origin x="1914" y="102"/>
      </p:cViewPr>
      <p:guideLst>
        <p:guide orient="horz" pos="828"/>
        <p:guide pos="458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-2100" y="-102"/>
      </p:cViewPr>
      <p:guideLst>
        <p:guide orient="horz" pos="3127"/>
        <p:guide pos="2141"/>
      </p:guideLst>
    </p:cSldViewPr>
  </p:notesViewPr>
  <p:gridSpacing cx="45005" cy="45005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6400" cy="496888"/>
          </a:xfrm>
          <a:prstGeom prst="rect">
            <a:avLst/>
          </a:prstGeom>
        </p:spPr>
        <p:txBody>
          <a:bodyPr vert="horz" lIns="91420" tIns="45710" rIns="91420" bIns="4571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20" tIns="45710" rIns="91420" bIns="45710" rtlCol="0"/>
          <a:lstStyle>
            <a:lvl1pPr algn="r">
              <a:defRPr sz="1200"/>
            </a:lvl1pPr>
          </a:lstStyle>
          <a:p>
            <a:fld id="{34741AA2-7C21-466D-B14D-5F1EB99898CF}" type="datetimeFigureOut">
              <a:rPr lang="ru-RU" smtClean="0"/>
              <a:pPr/>
              <a:t>21.09.2026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6125"/>
            <a:ext cx="4962525" cy="37226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0" tIns="45710" rIns="91420" bIns="4571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453" y="4714879"/>
            <a:ext cx="5438775" cy="4467225"/>
          </a:xfrm>
          <a:prstGeom prst="rect">
            <a:avLst/>
          </a:prstGeom>
        </p:spPr>
        <p:txBody>
          <a:bodyPr vert="horz" lIns="91420" tIns="45710" rIns="91420" bIns="4571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1" y="9428167"/>
            <a:ext cx="2946400" cy="496887"/>
          </a:xfrm>
          <a:prstGeom prst="rect">
            <a:avLst/>
          </a:prstGeom>
        </p:spPr>
        <p:txBody>
          <a:bodyPr vert="horz" lIns="91420" tIns="45710" rIns="91420" bIns="4571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49688" y="9428167"/>
            <a:ext cx="2946400" cy="496887"/>
          </a:xfrm>
          <a:prstGeom prst="rect">
            <a:avLst/>
          </a:prstGeom>
        </p:spPr>
        <p:txBody>
          <a:bodyPr vert="horz" lIns="91420" tIns="45710" rIns="91420" bIns="45710" rtlCol="0" anchor="b"/>
          <a:lstStyle>
            <a:lvl1pPr algn="r">
              <a:defRPr sz="1200"/>
            </a:lvl1pPr>
          </a:lstStyle>
          <a:p>
            <a:fld id="{90CBF0B7-A6FE-442A-BE63-7C1F26DF8B66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54336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dirty="0"/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286512" y="6143644"/>
            <a:ext cx="2133600" cy="476250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536315EA-1711-4782-9563-69F006155C6C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 b="1">
                <a:latin typeface="Calibri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dirty="0"/>
          </a:p>
        </p:txBody>
      </p:sp>
      <p:sp>
        <p:nvSpPr>
          <p:cNvPr id="9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10400" y="6496050"/>
            <a:ext cx="2133600" cy="476250"/>
          </a:xfrm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fld id="{536315EA-1711-4782-9563-69F006155C6C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dirty="0"/>
          </a:p>
        </p:txBody>
      </p:sp>
      <p:sp>
        <p:nvSpPr>
          <p:cNvPr id="7" name="Номер слайда 5"/>
          <p:cNvSpPr txBox="1">
            <a:spLocks/>
          </p:cNvSpPr>
          <p:nvPr userDrawn="1"/>
        </p:nvSpPr>
        <p:spPr bwMode="auto">
          <a:xfrm>
            <a:off x="70104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6315EA-1711-4782-9563-69F006155C6C}" type="slidenum">
              <a:rPr kumimoji="0" lang="ru-RU" sz="1400" b="0" i="0" u="none" strike="noStrike" kern="1200" cap="none" spc="0" normalizeH="0" baseline="0" noProof="0" smtClean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Заголовок и четыре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sz="quarter"/>
          </p:nvPr>
        </p:nvSpPr>
        <p:spPr>
          <a:xfrm>
            <a:off x="438150" y="184150"/>
            <a:ext cx="82296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ru-RU" dirty="0"/>
          </a:p>
        </p:txBody>
      </p:sp>
      <p:sp>
        <p:nvSpPr>
          <p:cNvPr id="11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10400" y="6381750"/>
            <a:ext cx="2133600" cy="476250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536315EA-1711-4782-9563-69F006155C6C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 cstate="print">
            <a:alphaModFix amt="39000"/>
            <a:lum/>
          </a:blip>
          <a:srcRect/>
          <a:stretch>
            <a:fillRect l="-5000" t="-5000" r="-2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ru-RU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ru-RU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FF7926C-8109-4D56-B088-11068E931591}" type="slidenum">
              <a:rPr lang="ru-RU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60" r:id="rId4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432"/>
            <a:ext cx="9144000" cy="6885432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" y="100584"/>
            <a:ext cx="1527048" cy="1527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37360" y="201168"/>
            <a:ext cx="7223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02060"/>
                </a:solidFill>
                <a:latin typeface="Times New Roman"/>
              </a:rPr>
              <a:t>СДС филиала «Копейский ВГСО» ФГУП «Военизированная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02060"/>
                </a:solidFill>
                <a:latin typeface="Times New Roman"/>
              </a:rPr>
              <a:t>горноспасательная часть» МЧС России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783080"/>
            <a:ext cx="8321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333399"/>
                </a:solidFill>
                <a:latin typeface="Times New Roman"/>
              </a:rPr>
              <a:t>ДОКЛАД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103120"/>
            <a:ext cx="8321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2400" b="1">
                <a:solidFill>
                  <a:srgbClr val="002060"/>
                </a:solidFill>
                <a:latin typeface="Times New Roman"/>
              </a:rPr>
              <a:t>Практический опыт применения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2400" b="1">
                <a:solidFill>
                  <a:srgbClr val="002060"/>
                </a:solidFill>
                <a:latin typeface="Times New Roman"/>
              </a:rPr>
              <a:t>искусственного интеллекта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29000"/>
            <a:ext cx="7863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Обзор разработанных программ, решение задач группы инженерного обеспечения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и проблемы, возникающие при решении инженерных задач с использованием 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98848"/>
            <a:ext cx="7863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333399"/>
                </a:solidFill>
                <a:latin typeface="Times New Roman"/>
              </a:rPr>
              <a:t>СДС / ГИО  ·  САУ  ·  АРМ дежурного ВГСЧ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4983480"/>
            <a:ext cx="51206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Times New Roman"/>
              </a:rPr>
              <a:t>Докладчик:</a:t>
            </a:r>
          </a:p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Times New Roman"/>
              </a:rPr>
              <a:t>Командир взвода службы депрессионных съемок</a:t>
            </a:r>
          </a:p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Times New Roman"/>
              </a:rPr>
              <a:t>филиала «Копейский ВГСО» ФГУП «ВГСЧ»</a:t>
            </a:r>
          </a:p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Times New Roman"/>
              </a:rPr>
              <a:t>Ипатов Сергей Геннадьевич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" y="649224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404040"/>
                </a:solidFill>
                <a:latin typeface="Times New Roman"/>
              </a:rPr>
              <a:t>22 сентября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432"/>
            <a:ext cx="9144000" cy="6885432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" y="100584"/>
            <a:ext cx="1527048" cy="1527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37360" y="182880"/>
            <a:ext cx="7223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333399"/>
                </a:solidFill>
                <a:latin typeface="Times New Roman"/>
              </a:rPr>
              <a:t>ПЛАН ВЫСТУПЛЕНИЯ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20624"/>
            <a:ext cx="7223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002060"/>
                </a:solidFill>
                <a:latin typeface="Times New Roman"/>
              </a:rPr>
              <a:t>Содержание доклада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15568"/>
            <a:ext cx="2590800" cy="1554480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207008"/>
            <a:ext cx="23530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1. Предпосылки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572768"/>
            <a:ext cx="2353056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Задачи ГИО, объём рутинной работы, ограничения штатных средств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6600" y="1115568"/>
            <a:ext cx="2590800" cy="1554480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5472" y="1207008"/>
            <a:ext cx="23530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2. Что такое ИИ-разработка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5472" y="1572768"/>
            <a:ext cx="2353056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Технология: постановка задачи на русском языке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50280" y="1115568"/>
            <a:ext cx="2590800" cy="1554480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69152" y="1207008"/>
            <a:ext cx="23530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3. Обзор программ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69152" y="1572768"/>
            <a:ext cx="2353056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Три работающих сервиса: СДС/ГИО, САУ, АРМ дежурного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834639"/>
            <a:ext cx="2590800" cy="1554480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926079"/>
            <a:ext cx="23530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4. Практические результаты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291839"/>
            <a:ext cx="2353056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Экономия времени, снижение ошибок, тиражируемость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6600" y="2834639"/>
            <a:ext cx="2590800" cy="1554480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95472" y="2926079"/>
            <a:ext cx="23530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5. Проблемы и риски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95472" y="3291839"/>
            <a:ext cx="2353056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Галлюцинации, нормативка, верификация, ИБ, поддержка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0280" y="2834639"/>
            <a:ext cx="2590800" cy="1554480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69152" y="2926079"/>
            <a:ext cx="23530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6. Выводы и предложения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69152" y="3291839"/>
            <a:ext cx="2353056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Регламент применения ИИ, тиражирование опыта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7589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404040"/>
                </a:solidFill>
                <a:latin typeface="Times New Roman"/>
              </a:rPr>
              <a:t>СДС филиала «Копейский ВГСО» ФГУП «ВГСЧ» · Практический опыт применения ИИ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6446520"/>
            <a:ext cx="548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333399"/>
                </a:solidFill>
                <a:latin typeface="Times New Roman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432"/>
            <a:ext cx="9144000" cy="6885432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" y="100584"/>
            <a:ext cx="1527048" cy="1527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37360" y="182880"/>
            <a:ext cx="7223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333399"/>
                </a:solidFill>
                <a:latin typeface="Times New Roman"/>
              </a:rPr>
              <a:t>РАЗДЕЛ 1 · ПРЕДПОСЫЛКИ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20624"/>
            <a:ext cx="7223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002060"/>
                </a:solidFill>
                <a:latin typeface="Times New Roman"/>
              </a:rPr>
              <a:t>Предпосылки: задачи группы инженерного обеспечения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969264"/>
            <a:ext cx="7223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404040"/>
                </a:solidFill>
                <a:latin typeface="Times New Roman"/>
              </a:rPr>
              <a:t>Почему потребовались собственные инструменты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81381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Расчётная работа — расчёты СДС, депрессии, воздухораспределения, параметров средств защиты — объёмны, повторяемы, чувствительны к арифметическим ошибкам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Графическая документация — схемы аварийных участков, планы ликвидации аварий — оформление вручную занимает часы на один документ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Оперативный учёт — сведения о выездах, дислокации отделений, оснащении — разрозненные таблицы и бумажные журналы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Единообразие — разные подразделения оформляют одни и те же документы по-разному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Штатные средства — универсальное ПО не учитывает отраслевую специфику, а заказная разработка — это сроки и бюджет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806440"/>
            <a:ext cx="8138160" cy="530352"/>
          </a:xfrm>
          <a:prstGeom prst="roundRect">
            <a:avLst>
              <a:gd name="adj" fmla="val 6000"/>
            </a:avLst>
          </a:prstGeom>
          <a:solidFill>
            <a:srgbClr val="EFE6CC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5888736"/>
            <a:ext cx="7818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002060"/>
                </a:solidFill>
                <a:latin typeface="Times New Roman"/>
              </a:rPr>
              <a:t>Требовался инструмент, позволяющий инженеру-практику самому создавать прикладные программы без штата программистов.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589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404040"/>
                </a:solidFill>
                <a:latin typeface="Times New Roman"/>
              </a:rPr>
              <a:t>СДС филиала «Копейский ВГСО» ФГУП «ВГСЧ» · Практический опыт применения 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6446520"/>
            <a:ext cx="548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333399"/>
                </a:solidFill>
                <a:latin typeface="Times New Roman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432"/>
            <a:ext cx="9144000" cy="6885432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" y="100584"/>
            <a:ext cx="1527048" cy="1527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37360" y="182880"/>
            <a:ext cx="7223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333399"/>
                </a:solidFill>
                <a:latin typeface="Times New Roman"/>
              </a:rPr>
              <a:t>РАЗДЕЛ 2 · ПОДХОД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20624"/>
            <a:ext cx="7223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002060"/>
                </a:solidFill>
                <a:latin typeface="Times New Roman"/>
              </a:rPr>
              <a:t>Подход: разработка прикладного ПО с помощью 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969264"/>
            <a:ext cx="7223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404040"/>
                </a:solidFill>
                <a:latin typeface="Times New Roman"/>
              </a:rPr>
              <a:t>Инженер формулирует задачу — ИИ пишет код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81381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Постановка задачи — техническое задание формулируется на обычном русском языке, как поручение исполнителю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Генерация кода — ИИ создаёт веб-приложение: интерфейс, расчётное ядро, базу данных, экспорт документов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Итерации — проверка результата инженером → замечания → доработка. Цикл занимает минуты, а не недели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Публикация — готовый сервис размещается по адресу в сети и доступен с любого компьютера, планшета и телефона без установки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Носитель компетенции — предметные знания горноспасателя, а не навыки программирования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806440"/>
            <a:ext cx="8138160" cy="530352"/>
          </a:xfrm>
          <a:prstGeom prst="roundRect">
            <a:avLst>
              <a:gd name="adj" fmla="val 6000"/>
            </a:avLst>
          </a:prstGeom>
          <a:solidFill>
            <a:srgbClr val="EFE6CC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5888736"/>
            <a:ext cx="7818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002060"/>
                </a:solidFill>
                <a:latin typeface="Times New Roman"/>
              </a:rPr>
              <a:t>3 сервиса в работе  ·  1–3 дня от идеи до прототипа  ·  0 привлечённых программистов  ·  работает в браузере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589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404040"/>
                </a:solidFill>
                <a:latin typeface="Times New Roman"/>
              </a:rPr>
              <a:t>СДС филиала «Копейский ВГСО» ФГУП «ВГСЧ» · Практический опыт применения 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6446520"/>
            <a:ext cx="548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333399"/>
                </a:solidFill>
                <a:latin typeface="Times New Roman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432"/>
            <a:ext cx="9144000" cy="6885432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" y="100584"/>
            <a:ext cx="1527048" cy="1527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37360" y="2148840"/>
            <a:ext cx="7223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5400" b="1">
                <a:solidFill>
                  <a:srgbClr val="333399"/>
                </a:solidFill>
                <a:latin typeface="Times New Roman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46120"/>
            <a:ext cx="7589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400" b="1">
                <a:solidFill>
                  <a:srgbClr val="002060"/>
                </a:solidFill>
                <a:latin typeface="Times New Roman"/>
              </a:rPr>
              <a:t>Обзор разработанных программ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977639"/>
            <a:ext cx="7589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404040"/>
                </a:solidFill>
                <a:latin typeface="Times New Roman"/>
              </a:rPr>
              <a:t>Три действующих сервиса группы инженерного обеспечения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589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404040"/>
                </a:solidFill>
                <a:latin typeface="Times New Roman"/>
              </a:rPr>
              <a:t>СДС филиала «Копейский ВГСО» ФГУП «ВГСЧ» · Практический опыт применения 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446520"/>
            <a:ext cx="548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333399"/>
                </a:solidFill>
                <a:latin typeface="Times New Roman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432"/>
            <a:ext cx="9144000" cy="6885432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" y="100584"/>
            <a:ext cx="1527048" cy="1527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37360" y="182880"/>
            <a:ext cx="7223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333399"/>
                </a:solidFill>
                <a:latin typeface="Times New Roman"/>
              </a:rPr>
              <a:t>ПРОГРАММА № 1 · giosds.ru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20624"/>
            <a:ext cx="7223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002060"/>
                </a:solidFill>
                <a:latin typeface="Times New Roman"/>
              </a:rPr>
              <a:t>«СДС» — расчёты СДС и ГИО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969264"/>
            <a:ext cx="7223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404040"/>
                </a:solidFill>
                <a:latin typeface="Times New Roman"/>
              </a:rPr>
              <a:t>Назначение: автоматизация инженерных расчётов по средствам дыхательной службы и инженерному обеспечению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81381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Расчётный модуль — типовые расчёты выполняются по заданным формулам с фиксированными коэффициентами, исключена арифметическая ошибка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Единая методика — все подразделения считают по одному алгоритму, результат сопоставим и проверяем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Готовый документ — результат сразу формируется в виде оформленного протокола расчёта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Доступ с любого устройства — работает как приложение на телефоне (PWA), в том числе на выезде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Скорость — расчёт, занимавший ранее до часа с калькулятором и таблицами, выполняется за минуты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806440"/>
            <a:ext cx="8138160" cy="530352"/>
          </a:xfrm>
          <a:prstGeom prst="roundRect">
            <a:avLst>
              <a:gd name="adj" fmla="val 6000"/>
            </a:avLst>
          </a:prstGeom>
          <a:solidFill>
            <a:srgbClr val="EFE6CC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5888736"/>
            <a:ext cx="7818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002060"/>
                </a:solidFill>
                <a:latin typeface="Times New Roman"/>
              </a:rPr>
              <a:t>Эффект: снижение трудозатрат на расчётную часть и исключение ошибок «человеческого фактора» в арифметике.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589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404040"/>
                </a:solidFill>
                <a:latin typeface="Times New Roman"/>
              </a:rPr>
              <a:t>СДС филиала «Копейский ВГСО» ФГУП «ВГСЧ» · Практический опыт применения 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6446520"/>
            <a:ext cx="548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333399"/>
                </a:solidFill>
                <a:latin typeface="Times New Roman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432"/>
            <a:ext cx="9144000" cy="6885432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" y="100584"/>
            <a:ext cx="1527048" cy="1527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37360" y="182880"/>
            <a:ext cx="7223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333399"/>
                </a:solidFill>
                <a:latin typeface="Times New Roman"/>
              </a:rPr>
              <a:t>ПРОГРАММА № 2 · avaria-schema.ru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20624"/>
            <a:ext cx="7223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002060"/>
                </a:solidFill>
                <a:latin typeface="Times New Roman"/>
              </a:rPr>
              <a:t>«САУ» — схема аварийного участка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969264"/>
            <a:ext cx="7223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404040"/>
                </a:solidFill>
                <a:latin typeface="Times New Roman"/>
              </a:rPr>
              <a:t>Назначение: автоматизированное оформление схем аварийного участка для горнодобывающих предприятий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2590800" cy="1600200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463040"/>
            <a:ext cx="23530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Графический редактор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828800"/>
            <a:ext cx="2353056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Построение схемы выработок мышью: узлы, ветви, направления вентиляционной струи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76600" y="1371600"/>
            <a:ext cx="2590800" cy="1600200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95472" y="1463040"/>
            <a:ext cx="23530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Условные обозначения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5472" y="1828800"/>
            <a:ext cx="2353056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Встроенная библиотека знаков горноспасательной службы — единообразие документа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50280" y="1371600"/>
            <a:ext cx="2590800" cy="1600200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69152" y="1463040"/>
            <a:ext cx="23530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Формат А4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9152" y="1828800"/>
            <a:ext cx="2353056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Схема сразу размещается на листе установленного формата, готова к подписи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136391"/>
            <a:ext cx="2590800" cy="1600200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227831"/>
            <a:ext cx="23530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Экспорт PDF и Excel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3593591"/>
            <a:ext cx="2353056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Документ выгружается для печати, вложения в акт и передачи на предприятие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76600" y="3136391"/>
            <a:ext cx="2590800" cy="1600200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95472" y="3227831"/>
            <a:ext cx="23530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Скорость оформления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95472" y="3593591"/>
            <a:ext cx="2353056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Схема, которая чертилась вручную несколько часов, собирается за 15–20 минут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50280" y="3136391"/>
            <a:ext cx="2590800" cy="1600200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69152" y="3227831"/>
            <a:ext cx="23530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Тиражируемость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69152" y="3593591"/>
            <a:ext cx="2353056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Готовые шаблоны участков переиспользуются при повторных выездах и учениях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956047"/>
            <a:ext cx="8138160" cy="530352"/>
          </a:xfrm>
          <a:prstGeom prst="roundRect">
            <a:avLst>
              <a:gd name="adj" fmla="val 6000"/>
            </a:avLst>
          </a:prstGeom>
          <a:solidFill>
            <a:srgbClr val="EFE6CC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5038343"/>
            <a:ext cx="7818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002060"/>
                </a:solidFill>
                <a:latin typeface="Times New Roman"/>
              </a:rPr>
              <a:t>Эффект: единый вид документации по всем подразделениям и кратное сокращение времени оформления.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7589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404040"/>
                </a:solidFill>
                <a:latin typeface="Times New Roman"/>
              </a:rPr>
              <a:t>СДС филиала «Копейский ВГСО» ФГУП «ВГСЧ» · Практический опыт применения ИИ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6446520"/>
            <a:ext cx="548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333399"/>
                </a:solidFill>
                <a:latin typeface="Times New Roman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432"/>
            <a:ext cx="9144000" cy="6885432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" y="100584"/>
            <a:ext cx="1527048" cy="1527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37360" y="182880"/>
            <a:ext cx="7223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333399"/>
                </a:solidFill>
                <a:latin typeface="Times New Roman"/>
              </a:rPr>
              <a:t>ПРОГРАММА № 3 · ситуационный мониторинг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20624"/>
            <a:ext cx="7223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002060"/>
                </a:solidFill>
                <a:latin typeface="Times New Roman"/>
              </a:rPr>
              <a:t>«АРМ дежурного ВГСЧ»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969264"/>
            <a:ext cx="7223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404040"/>
                </a:solidFill>
                <a:latin typeface="Times New Roman"/>
              </a:rPr>
              <a:t>Назначение: автоматизированное рабочее место дежурного — ситуационный мониторинг обстановки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81381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Единое окно дежурного — оперативная обстановка, дислокация отделений и состояние сил и средств на одном экране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Учёт событий — регистрация вызовов и выездов с автоматическим формированием хронологии происшествия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Сводки и отчётность — донесения и сводные формы формируются из уже введённых данных, а не набираются заново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Мониторинг в реальном времени — изменения видят все причастные рабочие места одновременно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•  Мобильный режим — устанавливается как приложение, работает на планшете оперативного штаба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806440"/>
            <a:ext cx="8138160" cy="530352"/>
          </a:xfrm>
          <a:prstGeom prst="roundRect">
            <a:avLst>
              <a:gd name="adj" fmla="val 6000"/>
            </a:avLst>
          </a:prstGeom>
          <a:solidFill>
            <a:srgbClr val="EFE6CC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5888736"/>
            <a:ext cx="7818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002060"/>
                </a:solidFill>
                <a:latin typeface="Times New Roman"/>
              </a:rPr>
              <a:t>Эффект: сокращение времени на подготовку донесений и повышение достоверности оперативной информации.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589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404040"/>
                </a:solidFill>
                <a:latin typeface="Times New Roman"/>
              </a:rPr>
              <a:t>СДС филиала «Копейский ВГСО» ФГУП «ВГСЧ» · Практический опыт применения 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6446520"/>
            <a:ext cx="548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333399"/>
                </a:solidFill>
                <a:latin typeface="Times New Roman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432"/>
            <a:ext cx="9144000" cy="6885432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" y="100584"/>
            <a:ext cx="1527048" cy="1527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37360" y="182880"/>
            <a:ext cx="7223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333399"/>
                </a:solidFill>
                <a:latin typeface="Times New Roman"/>
              </a:rPr>
              <a:t>ИТОГИ РАЗДЕЛА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20624"/>
            <a:ext cx="7223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002060"/>
                </a:solidFill>
                <a:latin typeface="Times New Roman"/>
              </a:rPr>
              <a:t>Сводная таблица разработанных решений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8138160" cy="1591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651760"/>
                <a:gridCol w="2194560"/>
                <a:gridCol w="1463040"/>
              </a:tblGrid>
              <a:tr h="3977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Программа</a:t>
                      </a:r>
                    </a:p>
                  </a:txBody>
                  <a:tcPr marL="54864" marR="54864" marT="18288" marB="18288" anchor="ctr"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Решаемая задача ГИО</a:t>
                      </a:r>
                    </a:p>
                  </a:txBody>
                  <a:tcPr marL="54864" marR="54864" marT="18288" marB="18288" anchor="ctr"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Результат на выходе</a:t>
                      </a:r>
                    </a:p>
                  </a:txBody>
                  <a:tcPr marL="54864" marR="54864" marT="18288" marB="18288" anchor="ctr"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Состояние</a:t>
                      </a:r>
                    </a:p>
                  </a:txBody>
                  <a:tcPr marL="54864" marR="54864" marT="18288" marB="18288" anchor="ctr">
                    <a:solidFill>
                      <a:srgbClr val="333399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СДС / ГИО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giosds.ru</a:t>
                      </a:r>
                    </a:p>
                  </a:txBody>
                  <a:tcPr marL="54864" marR="54864" marT="18288" marB="18288" anchor="ctr"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Расчёты средств дыхательной службы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и инженерного обеспечения</a:t>
                      </a:r>
                    </a:p>
                  </a:txBody>
                  <a:tcPr marL="54864" marR="54864" marT="18288" marB="18288" anchor="ctr"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Протокол расчёта,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единая методика</a:t>
                      </a:r>
                    </a:p>
                  </a:txBody>
                  <a:tcPr marL="54864" marR="54864" marT="18288" marB="18288" anchor="ctr"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Опытная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эксплуатация</a:t>
                      </a:r>
                    </a:p>
                  </a:txBody>
                  <a:tcPr marL="54864" marR="54864" marT="18288" marB="18288" anchor="ctr">
                    <a:solidFill>
                      <a:srgbClr val="FAF3E0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САУ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avaria-schema.ru</a:t>
                      </a:r>
                    </a:p>
                  </a:txBody>
                  <a:tcPr marL="54864" marR="54864" marT="18288" marB="18288" anchor="ctr"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Оформление схем аварийного участка</a:t>
                      </a:r>
                    </a:p>
                  </a:txBody>
                  <a:tcPr marL="54864" marR="54864" marT="18288" marB="18288" anchor="ctr"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Схема А4,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экспорт PDF / Excel</a:t>
                      </a:r>
                    </a:p>
                  </a:txBody>
                  <a:tcPr marL="54864" marR="54864" marT="18288" marB="18288" anchor="ctr"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Опытная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эксплуатация</a:t>
                      </a:r>
                    </a:p>
                  </a:txBody>
                  <a:tcPr marL="54864" marR="54864" marT="18288" marB="18288" anchor="ctr">
                    <a:solidFill>
                      <a:srgbClr val="FFFBF0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АРМ дежурного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ситуац. мониторинг</a:t>
                      </a:r>
                    </a:p>
                  </a:txBody>
                  <a:tcPr marL="54864" marR="54864" marT="18288" marB="18288" anchor="ctr"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Оперативный учёт обстановки,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сил и средств</a:t>
                      </a:r>
                    </a:p>
                  </a:txBody>
                  <a:tcPr marL="54864" marR="54864" marT="18288" marB="18288" anchor="ctr"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Сводки, донесения,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хронология событий</a:t>
                      </a:r>
                    </a:p>
                  </a:txBody>
                  <a:tcPr marL="54864" marR="54864" marT="18288" marB="18288" anchor="ctr"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Прототип,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доработка</a:t>
                      </a:r>
                    </a:p>
                  </a:txBody>
                  <a:tcPr marL="54864" marR="54864" marT="18288" marB="18288" anchor="ctr">
                    <a:solidFill>
                      <a:srgbClr val="FAF3E0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5806440"/>
            <a:ext cx="8138160" cy="530352"/>
          </a:xfrm>
          <a:prstGeom prst="roundRect">
            <a:avLst>
              <a:gd name="adj" fmla="val 6000"/>
            </a:avLst>
          </a:prstGeom>
          <a:solidFill>
            <a:srgbClr val="EFE6CC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5888736"/>
            <a:ext cx="7818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002060"/>
                </a:solidFill>
                <a:latin typeface="Times New Roman"/>
              </a:rPr>
              <a:t>3 действующих сервиса  ·  ~70 % сокращение времени на документ  ·  100 % единообразие  ·  0 ₽ затрат на закупку ПО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7589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404040"/>
                </a:solidFill>
                <a:latin typeface="Times New Roman"/>
              </a:rPr>
              <a:t>СДС филиала «Копейский ВГСО» ФГУП «ВГСЧ» · Практический опыт применения 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6446520"/>
            <a:ext cx="548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333399"/>
                </a:solidFill>
                <a:latin typeface="Times New Roman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432"/>
            <a:ext cx="9144000" cy="6885432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" y="100584"/>
            <a:ext cx="1527048" cy="1527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37360" y="2148840"/>
            <a:ext cx="7223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5400" b="1">
                <a:solidFill>
                  <a:srgbClr val="333399"/>
                </a:solidFill>
                <a:latin typeface="Times New Roman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46120"/>
            <a:ext cx="7589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400" b="1">
                <a:solidFill>
                  <a:srgbClr val="002060"/>
                </a:solidFill>
                <a:latin typeface="Times New Roman"/>
              </a:rPr>
              <a:t>Практические результаты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977639"/>
            <a:ext cx="7589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404040"/>
                </a:solidFill>
                <a:latin typeface="Times New Roman"/>
              </a:rPr>
              <a:t>Что реально изменилось в работе группы инженерного обеспечения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589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404040"/>
                </a:solidFill>
                <a:latin typeface="Times New Roman"/>
              </a:rPr>
              <a:t>СДС филиала «Копейский ВГСО» ФГУП «ВГСЧ» · Практический опыт применения 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446520"/>
            <a:ext cx="548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333399"/>
                </a:solidFill>
                <a:latin typeface="Times New Roman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432"/>
            <a:ext cx="9144000" cy="6885432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" y="100584"/>
            <a:ext cx="1527048" cy="1527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37360" y="182880"/>
            <a:ext cx="7223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333399"/>
                </a:solidFill>
                <a:latin typeface="Times New Roman"/>
              </a:rPr>
              <a:t>РАЗДЕЛ 4 · РЕЗУЛЬТАТЫ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20624"/>
            <a:ext cx="7223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002060"/>
                </a:solidFill>
                <a:latin typeface="Times New Roman"/>
              </a:rPr>
              <a:t>Практический эффект применения ИИ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15568"/>
            <a:ext cx="2590800" cy="1645920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207008"/>
            <a:ext cx="23530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Скорость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572768"/>
            <a:ext cx="235305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От постановки задачи до работающего прототипа — 1–3 дня вместо месяцев согласования и заказной разработки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6600" y="1115568"/>
            <a:ext cx="2590800" cy="1645920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5472" y="1207008"/>
            <a:ext cx="23530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Точность расчётов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5472" y="1572768"/>
            <a:ext cx="235305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Формулы и коэффициенты зашиты в программу: исключены описки, потерянные множители, устаревшие таблицы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50280" y="1115568"/>
            <a:ext cx="2590800" cy="1645920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69152" y="1207008"/>
            <a:ext cx="23530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Единообразие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69152" y="1572768"/>
            <a:ext cx="235305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Все подразделения формируют документы по одному шаблону — проверка и сопоставление упрощаются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926080"/>
            <a:ext cx="2590800" cy="1645920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017520"/>
            <a:ext cx="23530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Доступность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383280"/>
            <a:ext cx="235305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Веб-формат: ничего не нужно устанавливать, работает на служебном ПК, планшете и телефоне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6600" y="2926080"/>
            <a:ext cx="2590800" cy="1645920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95472" y="3017520"/>
            <a:ext cx="23530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Гибкость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95472" y="3383280"/>
            <a:ext cx="235305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Изменилась методика или форма документа — правка вносится за часы силами самого инженера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0280" y="2926080"/>
            <a:ext cx="2590800" cy="1645920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69152" y="3017520"/>
            <a:ext cx="23530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Передача опыта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69152" y="3383280"/>
            <a:ext cx="235305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Знания опытного специалиста фиксируются в алгоритме, а не уходят вместе с человеком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791455"/>
            <a:ext cx="8138160" cy="530352"/>
          </a:xfrm>
          <a:prstGeom prst="roundRect">
            <a:avLst>
              <a:gd name="adj" fmla="val 6000"/>
            </a:avLst>
          </a:prstGeom>
          <a:solidFill>
            <a:srgbClr val="EFE6CC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4873751"/>
            <a:ext cx="7818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002060"/>
                </a:solidFill>
                <a:latin typeface="Times New Roman"/>
              </a:rPr>
              <a:t>Главный результат: инженер-горноспасатель стал самостоятельным разработчиком своего рабочего инструмента.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7589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404040"/>
                </a:solidFill>
                <a:latin typeface="Times New Roman"/>
              </a:rPr>
              <a:t>СДС филиала «Копейский ВГСО» ФГУП «ВГСЧ» · Практический опыт применения ИИ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446520"/>
            <a:ext cx="548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333399"/>
                </a:solidFill>
                <a:latin typeface="Times New Roman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432"/>
            <a:ext cx="9144000" cy="6885432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" y="100584"/>
            <a:ext cx="1527048" cy="1527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37360" y="2148840"/>
            <a:ext cx="7223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5400" b="1">
                <a:solidFill>
                  <a:srgbClr val="333399"/>
                </a:solidFill>
                <a:latin typeface="Times New Roman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46120"/>
            <a:ext cx="7589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400" b="1">
                <a:solidFill>
                  <a:srgbClr val="002060"/>
                </a:solidFill>
                <a:latin typeface="Times New Roman"/>
              </a:rPr>
              <a:t>Проблемы применения 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977639"/>
            <a:ext cx="7589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404040"/>
                </a:solidFill>
                <a:latin typeface="Times New Roman"/>
              </a:rPr>
              <a:t>Объективные ограничения при решении инженерных задач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589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404040"/>
                </a:solidFill>
                <a:latin typeface="Times New Roman"/>
              </a:rPr>
              <a:t>СДС филиала «Копейский ВГСО» ФГУП «ВГСЧ» · Практический опыт применения 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446520"/>
            <a:ext cx="548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333399"/>
                </a:solidFill>
                <a:latin typeface="Times New Roman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432"/>
            <a:ext cx="9144000" cy="6885432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" y="100584"/>
            <a:ext cx="1527048" cy="1527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37360" y="182880"/>
            <a:ext cx="7223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333399"/>
                </a:solidFill>
                <a:latin typeface="Times New Roman"/>
              </a:rPr>
              <a:t>РАЗДЕЛ 5 · РИСКИ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20624"/>
            <a:ext cx="7223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002060"/>
                </a:solidFill>
                <a:latin typeface="Times New Roman"/>
              </a:rPr>
              <a:t>Проблемы при решении инженерных задач с помощью 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969264"/>
            <a:ext cx="7223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404040"/>
                </a:solidFill>
                <a:latin typeface="Times New Roman"/>
              </a:rPr>
              <a:t>Часть 1: содержательные риски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81381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•  Галлюцинации — ИИ уверенно выдаёт несуществующие формулы, коэффициенты и ссылки на пункты нормативных документов. Внешне текст безупречен, по существу — вымысел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•  Незнание отраслевой нормативки — модель обучена на общедоступных данных и не владеет действующими ФНиП, уставом ВГСЧ, ведомственными методиками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•  Устаревание данных — ИИ может опираться на отменённые редакции документов; изменение норматива он не отслеживает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•  Отсутствие ответственности — юридическую ответственность за расчёт и документ несёт инженер, а не программа. ИИ не является источником нормы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•  Иллюзия правильности — красиво оформленный результат снижает критичность восприятия, возрастает риск принять ошибку без проверки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7589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404040"/>
                </a:solidFill>
                <a:latin typeface="Times New Roman"/>
              </a:rPr>
              <a:t>СДС филиала «Копейский ВГСО» ФГУП «ВГСЧ» · Практический опыт применения 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6446520"/>
            <a:ext cx="548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333399"/>
                </a:solidFill>
                <a:latin typeface="Times New Roman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432"/>
            <a:ext cx="9144000" cy="6885432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" y="100584"/>
            <a:ext cx="1527048" cy="1527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37360" y="182880"/>
            <a:ext cx="7223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333399"/>
                </a:solidFill>
                <a:latin typeface="Times New Roman"/>
              </a:rPr>
              <a:t>РАЗДЕЛ 5 · РИСКИ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20624"/>
            <a:ext cx="7223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002060"/>
                </a:solidFill>
                <a:latin typeface="Times New Roman"/>
              </a:rPr>
              <a:t>Проблемы при решении инженерных задач с помощью 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969264"/>
            <a:ext cx="7223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404040"/>
                </a:solidFill>
                <a:latin typeface="Times New Roman"/>
              </a:rPr>
              <a:t>Часть 2: технические и организационные риски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81381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•  Информационная безопасность — сведения об объектах, планах ликвидации аварий и дислокации сил нельзя передавать во внешние облачные сервисы. Требуется обезличивание данных или контур внутри организации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•  Зависимость от внешней платформы — сервис размещён на стороннем хостинге: недоступность площадки означает недоступность инструмента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•  Сопровождение и «владелец» продукта — программа держится на одном специалисте. Нужны документация, резервные копии и второй сотрудник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•  Деградация при доработках — правка одной функции способна незаметно сломать другую, необходим регулярный контрольный прогон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•  Статус документа — выходные формы не имеют юридической силы, пока не утверждены и не включены в документооборот установленным порядком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7589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404040"/>
                </a:solidFill>
                <a:latin typeface="Times New Roman"/>
              </a:rPr>
              <a:t>СДС филиала «Копейский ВГСО» ФГУП «ВГСЧ» · Практический опыт применения 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6446520"/>
            <a:ext cx="548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333399"/>
                </a:solidFill>
                <a:latin typeface="Times New Roman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432"/>
            <a:ext cx="9144000" cy="6885432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" y="100584"/>
            <a:ext cx="1527048" cy="1527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37360" y="182880"/>
            <a:ext cx="7223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333399"/>
                </a:solidFill>
                <a:latin typeface="Times New Roman"/>
              </a:rPr>
              <a:t>РАЗДЕЛ 5 · МЕРЫ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20624"/>
            <a:ext cx="7223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002060"/>
                </a:solidFill>
                <a:latin typeface="Times New Roman"/>
              </a:rPr>
              <a:t>Как мы снижаем риски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969264"/>
            <a:ext cx="7223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404040"/>
                </a:solidFill>
                <a:latin typeface="Times New Roman"/>
              </a:rPr>
              <a:t>Практические меры, применяемые при разработке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2590800" cy="1627632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463040"/>
            <a:ext cx="23530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Двойной контроль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828800"/>
            <a:ext cx="2353056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Любой расчёт ИИ проверяется вручную на контрольном примере с известным ответом до ввода в работу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76600" y="1371600"/>
            <a:ext cx="2590800" cy="1627632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95472" y="1463040"/>
            <a:ext cx="23530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Нормативная база — от человека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5472" y="1828800"/>
            <a:ext cx="2353056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Формулы, коэффициенты и формы документов задаёт инженер по действующему документу, а не ИИ по памяти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50280" y="1371600"/>
            <a:ext cx="2590800" cy="1627632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69152" y="1463040"/>
            <a:ext cx="23530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Обезличивание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9152" y="1828800"/>
            <a:ext cx="2353056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В открытые сервисы не передаются наименования объектов и сведения ограниченного доступа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163824"/>
            <a:ext cx="2590800" cy="1627632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255264"/>
            <a:ext cx="23530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Контрольные примеры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3621024"/>
            <a:ext cx="2353056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Набор эталонных задач прогоняется после каждой доработки программы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76600" y="3163824"/>
            <a:ext cx="2590800" cy="1627632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95472" y="3255264"/>
            <a:ext cx="23530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Постепенное внедрение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95472" y="3621024"/>
            <a:ext cx="2353056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Опытная эксплуатация параллельно с существующим порядком, затем — замена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50280" y="3163824"/>
            <a:ext cx="2590800" cy="1627632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69152" y="3255264"/>
            <a:ext cx="23530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Резервирование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69152" y="3621024"/>
            <a:ext cx="2353056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Выгрузка данных и исходных файлов, возможность переноса сервиса на другую площадку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010912"/>
            <a:ext cx="8138160" cy="530352"/>
          </a:xfrm>
          <a:prstGeom prst="roundRect">
            <a:avLst>
              <a:gd name="adj" fmla="val 6000"/>
            </a:avLst>
          </a:prstGeom>
          <a:solidFill>
            <a:srgbClr val="EFE6CC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5093207"/>
            <a:ext cx="7818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002060"/>
                </a:solidFill>
                <a:latin typeface="Times New Roman"/>
              </a:rPr>
              <a:t>Принцип: ИИ — инструмент ускорения, решение принимает и подписывает специалист.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7589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404040"/>
                </a:solidFill>
                <a:latin typeface="Times New Roman"/>
              </a:rPr>
              <a:t>СДС филиала «Копейский ВГСО» ФГУП «ВГСЧ» · Практический опыт применения ИИ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6446520"/>
            <a:ext cx="548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333399"/>
                </a:solidFill>
                <a:latin typeface="Times New Roman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432"/>
            <a:ext cx="9144000" cy="6885432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" y="100584"/>
            <a:ext cx="1527048" cy="1527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37360" y="182880"/>
            <a:ext cx="7223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333399"/>
                </a:solidFill>
                <a:latin typeface="Times New Roman"/>
              </a:rPr>
              <a:t>РАЗДЕЛ 6 · ВЫВОДЫ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20624"/>
            <a:ext cx="7223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002060"/>
                </a:solidFill>
                <a:latin typeface="Times New Roman"/>
              </a:rPr>
              <a:t>Выводы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81381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•  Применение ИИ позволило силами группы инженерного обеспечения, без привлечения программистов и закупки ПО, создать три работающих прикладных сервиса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•  Автоматизированы наиболее трудоёмкие участки: расчёты СДС и ГИО, оформление схем аварийного участка, оперативный учёт обстановки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•  Достигнуты сокращение времени подготовки документов, единообразие форм и исключение арифметических ошибок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•  Ключевое ограничение — ИИ не является источником нормативных данных и не несёт ответственности за результат; обязателен инженерный контроль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•  Вопросы информационной безопасности требуют отдельного решения до перевода сервисов в промышленную эксплуатацию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300" b="0">
                <a:solidFill>
                  <a:srgbClr val="000000"/>
                </a:solidFill>
                <a:latin typeface="Times New Roman"/>
              </a:rPr>
              <a:t>•  Технология применима и к другим задачам ВГСЧ: учёт оснащения, подготовка личного состава, анализ выездов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589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404040"/>
                </a:solidFill>
                <a:latin typeface="Times New Roman"/>
              </a:rPr>
              <a:t>СДС филиала «Копейский ВГСО» ФГУП «ВГСЧ» · Практический опыт применения 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446520"/>
            <a:ext cx="548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333399"/>
                </a:solidFill>
                <a:latin typeface="Times New Roman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432"/>
            <a:ext cx="9144000" cy="6885432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" y="100584"/>
            <a:ext cx="1527048" cy="1527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37360" y="182880"/>
            <a:ext cx="7223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333399"/>
                </a:solidFill>
                <a:latin typeface="Times New Roman"/>
              </a:rPr>
              <a:t>РАЗДЕЛ 6 · ПРЕДЛОЖЕНИЯ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20624"/>
            <a:ext cx="7223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002060"/>
                </a:solidFill>
                <a:latin typeface="Times New Roman"/>
              </a:rPr>
              <a:t>Предложения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15568"/>
            <a:ext cx="2590800" cy="1645920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207008"/>
            <a:ext cx="23530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1. Опытная эксплуатация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572768"/>
            <a:ext cx="235305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Закрепить приказом опытную эксплуатацию сервисов СДС/ГИО и САУ в подразделениях с назначением ответственных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6600" y="1115568"/>
            <a:ext cx="2590800" cy="1645920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5472" y="1207008"/>
            <a:ext cx="23530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2. Регламент применения 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5472" y="1572768"/>
            <a:ext cx="235305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Утвердить порядок: что можно и чего нельзя передавать в ИИ-сервисы, обязательная верификация расчётов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50280" y="1115568"/>
            <a:ext cx="2590800" cy="1645920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69152" y="1207008"/>
            <a:ext cx="23530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3. Внутренний контур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69152" y="1572768"/>
            <a:ext cx="235305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Проработать размещение сервисов на ресурсах организации для работы со служебной информацией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926080"/>
            <a:ext cx="2590800" cy="1645920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017520"/>
            <a:ext cx="23530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4. Обучение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383280"/>
            <a:ext cx="235305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Подготовить 2–3 специалистов в каждом филиале по постановке задач ИИ и сопровождению сервисов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6600" y="2926080"/>
            <a:ext cx="2590800" cy="1645920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95472" y="3017520"/>
            <a:ext cx="23530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5. Развитие функционала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95472" y="3383280"/>
            <a:ext cx="235305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Доработать АРМ дежурного до полноценного ситуационного мониторинга с интеграцией данных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0280" y="2926080"/>
            <a:ext cx="2590800" cy="1645920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69152" y="3017520"/>
            <a:ext cx="23530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6. Тиражирование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69152" y="3383280"/>
            <a:ext cx="235305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Сформировать банк типовых решений и шаблонов для использования всеми филиалами ФГУП ВГСЧ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7589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404040"/>
                </a:solidFill>
                <a:latin typeface="Times New Roman"/>
              </a:rPr>
              <a:t>СДС филиала «Копейский ВГСО» ФГУП «ВГСЧ» · Практический опыт применения ИИ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6446520"/>
            <a:ext cx="548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333399"/>
                </a:solidFill>
                <a:latin typeface="Times New Roman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432"/>
            <a:ext cx="9144000" cy="6885432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" y="100584"/>
            <a:ext cx="1527048" cy="1527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37360" y="182880"/>
            <a:ext cx="7223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333399"/>
                </a:solidFill>
                <a:latin typeface="Times New Roman"/>
              </a:rPr>
              <a:t>РАЗРАБОТАННЫЕ СЕРВИСЫ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20624"/>
            <a:ext cx="7223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002060"/>
                </a:solidFill>
                <a:latin typeface="Times New Roman"/>
              </a:rPr>
              <a:t>Разработанные сервисы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15568"/>
            <a:ext cx="2590800" cy="2194560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207008"/>
            <a:ext cx="23530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СДС / ГИО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572768"/>
            <a:ext cx="2353056" cy="1645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Расчёты службы депрессионной съемки и группы инженерного обеспечения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giosds.ru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6600" y="1115568"/>
            <a:ext cx="2590800" cy="2194560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5472" y="1207008"/>
            <a:ext cx="23530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САУ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5472" y="1572768"/>
            <a:ext cx="2353056" cy="1645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Схема аварийного участка, экспорт PDF и Excel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avaria-schema.ru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50280" y="1115568"/>
            <a:ext cx="2590800" cy="2194560"/>
          </a:xfrm>
          <a:prstGeom prst="roundRect">
            <a:avLst>
              <a:gd name="adj" fmla="val 6000"/>
            </a:avLst>
          </a:prstGeom>
          <a:solidFill>
            <a:srgbClr val="FAF3E0"/>
          </a:solidFill>
          <a:ln w="9525">
            <a:solidFill>
              <a:srgbClr val="33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69152" y="1207008"/>
            <a:ext cx="23530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</a:rPr>
              <a:t>АРМ дежурного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69152" y="1572768"/>
            <a:ext cx="2353056" cy="1645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Ситуационный мониторинг обстановки, сил и средств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mchs-situational-monitoring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7589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404040"/>
                </a:solidFill>
                <a:latin typeface="Times New Roman"/>
              </a:rPr>
              <a:t>СДС филиала «Копейский ВГСО» ФГУП «ВГСЧ» · Практический опыт применения ИИ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6446520"/>
            <a:ext cx="548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333399"/>
                </a:solidFill>
                <a:latin typeface="Times New Roman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432"/>
            <a:ext cx="9144000" cy="6885432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" y="100584"/>
            <a:ext cx="1527048" cy="1527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37360" y="182880"/>
            <a:ext cx="7223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333399"/>
                </a:solidFill>
                <a:latin typeface="Times New Roman"/>
              </a:rPr>
              <a:t>РАЗРАБОТАННЫЕ СЕРВИСЫ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20624"/>
            <a:ext cx="7223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002060"/>
                </a:solidFill>
                <a:latin typeface="Times New Roman"/>
              </a:rPr>
              <a:t>Разработанные сервисы</a:t>
            </a:r>
          </a:p>
        </p:txBody>
      </p:sp>
      <p:pic>
        <p:nvPicPr>
          <p:cNvPr id="6" name="Picture 5" descr="s19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11" y="1170432"/>
            <a:ext cx="4023377" cy="2176272"/>
          </a:xfrm>
          <a:prstGeom prst="rect">
            <a:avLst/>
          </a:prstGeom>
        </p:spPr>
      </p:pic>
      <p:pic>
        <p:nvPicPr>
          <p:cNvPr id="7" name="Picture 6" descr="s19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8199" y="3493008"/>
            <a:ext cx="4007601" cy="21762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46520"/>
            <a:ext cx="7589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404040"/>
                </a:solidFill>
                <a:latin typeface="Times New Roman"/>
              </a:rPr>
              <a:t>СДС филиала «Копейский ВГСО» ФГУП «ВГСЧ» · Практический опыт применения 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6446520"/>
            <a:ext cx="548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333399"/>
                </a:solidFill>
                <a:latin typeface="Times New Roman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432"/>
            <a:ext cx="9144000" cy="6885432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" y="100584"/>
            <a:ext cx="1527048" cy="1527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37360" y="182880"/>
            <a:ext cx="7223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333399"/>
                </a:solidFill>
                <a:latin typeface="Times New Roman"/>
              </a:rPr>
              <a:t>РАЗРАБОТАННЫЕ СЕРВИСЫ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20624"/>
            <a:ext cx="7223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002060"/>
                </a:solidFill>
                <a:latin typeface="Times New Roman"/>
              </a:rPr>
              <a:t>Разработанные сервисы</a:t>
            </a:r>
          </a:p>
        </p:txBody>
      </p:sp>
      <p:pic>
        <p:nvPicPr>
          <p:cNvPr id="6" name="Picture 5" descr="s20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3084" y="1170432"/>
            <a:ext cx="3997830" cy="2176272"/>
          </a:xfrm>
          <a:prstGeom prst="rect">
            <a:avLst/>
          </a:prstGeom>
        </p:spPr>
      </p:pic>
      <p:pic>
        <p:nvPicPr>
          <p:cNvPr id="7" name="Picture 6" descr="s20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7593" y="3493008"/>
            <a:ext cx="4008812" cy="21762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46520"/>
            <a:ext cx="7589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404040"/>
                </a:solidFill>
                <a:latin typeface="Times New Roman"/>
              </a:rPr>
              <a:t>СДС филиала «Копейский ВГСО» ФГУП «ВГСЧ» · Практический опыт применения 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6446520"/>
            <a:ext cx="548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333399"/>
                </a:solidFill>
                <a:latin typeface="Times New Roman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432"/>
            <a:ext cx="9144000" cy="6885432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" y="100584"/>
            <a:ext cx="1527048" cy="1527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37360" y="182880"/>
            <a:ext cx="7223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333399"/>
                </a:solidFill>
                <a:latin typeface="Times New Roman"/>
              </a:rPr>
              <a:t>РАЗРАБОТАННЫЕ СЕРВИСЫ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20624"/>
            <a:ext cx="7223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002060"/>
                </a:solidFill>
                <a:latin typeface="Times New Roman"/>
              </a:rPr>
              <a:t>Разработанные сервисы</a:t>
            </a:r>
          </a:p>
        </p:txBody>
      </p:sp>
      <p:pic>
        <p:nvPicPr>
          <p:cNvPr id="6" name="Picture 5" descr="s21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7352" y="1170432"/>
            <a:ext cx="4209295" cy="2176272"/>
          </a:xfrm>
          <a:prstGeom prst="rect">
            <a:avLst/>
          </a:prstGeom>
        </p:spPr>
      </p:pic>
      <p:pic>
        <p:nvPicPr>
          <p:cNvPr id="7" name="Picture 6" descr="s21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8496" y="3493008"/>
            <a:ext cx="4247007" cy="21762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46520"/>
            <a:ext cx="7589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404040"/>
                </a:solidFill>
                <a:latin typeface="Times New Roman"/>
              </a:rPr>
              <a:t>СДС филиала «Копейский ВГСО» ФГУП «ВГСЧ» · Практический опыт применения 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6446520"/>
            <a:ext cx="548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333399"/>
                </a:solidFill>
                <a:latin typeface="Times New Roman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432"/>
            <a:ext cx="9144000" cy="6885432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" y="100584"/>
            <a:ext cx="1527048" cy="1527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46888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3200" b="1">
                <a:solidFill>
                  <a:srgbClr val="002060"/>
                </a:solidFill>
                <a:latin typeface="Times New Roman"/>
              </a:rPr>
              <a:t>Спасибо за внимание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2044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СДС филиала «Копейский ВГСО»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ФГУП «ВГСЧ» МЧС России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8056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333399"/>
                </a:solidFill>
                <a:latin typeface="Times New Roman"/>
              </a:rPr>
              <a:t>giosds.ru  ·  avaria-schema.ru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Оформление по умолчанию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Оформление по умолчанию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41819</TotalTime>
  <Words>4802</Words>
  <Application>Microsoft Office PowerPoint</Application>
  <PresentationFormat>Экран (4:3)</PresentationFormat>
  <Paragraphs>1779</Paragraphs>
  <Slides>28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2" baseType="lpstr">
      <vt:lpstr>Arial</vt:lpstr>
      <vt:lpstr>Calibri</vt:lpstr>
      <vt:lpstr>Times New Roman</vt:lpstr>
      <vt:lpstr>Оформление по умолчанию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VGCSH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СДС</dc:creator>
  <cp:lastModifiedBy>SDS</cp:lastModifiedBy>
  <cp:revision>1651</cp:revision>
  <cp:lastPrinted>2022-09-14T09:21:57Z</cp:lastPrinted>
  <dcterms:created xsi:type="dcterms:W3CDTF">2011-01-08T06:33:34Z</dcterms:created>
  <dcterms:modified xsi:type="dcterms:W3CDTF">2026-09-21T08:42:26Z</dcterms:modified>
</cp:coreProperties>
</file>