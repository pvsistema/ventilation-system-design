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s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101600"/>
            <a:ext cx="1066800" cy="106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152400"/>
            <a:ext cx="7620000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002060"/>
                </a:solidFill>
                <a:latin typeface="Times New Roman"/>
              </a:rPr>
              <a:t>Служба депрессионных съемок</a:t>
            </a:r>
          </a:p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002060"/>
                </a:solidFill>
                <a:latin typeface="Times New Roman"/>
              </a:rPr>
              <a:t>филиала «Копейский ВГСО» ФГУП «ВГСЧ»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270000"/>
            <a:ext cx="8382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1">
                <a:solidFill>
                  <a:srgbClr val="002060"/>
                </a:solidFill>
                <a:latin typeface="Times New Roman"/>
              </a:rPr>
              <a:t>Всероссийская научная конференция «Аэрология и техносферная безопасность»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905000"/>
            <a:ext cx="8382000" cy="241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02060"/>
                </a:solidFill>
                <a:latin typeface="Times New Roman"/>
              </a:rPr>
              <a:t>Определение устойчивости проветривания наклонных горных выработок рудников при пожаре с учетом фактической пожарной нагрузки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0" y="4826000"/>
            <a:ext cx="5080000" cy="1397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2060"/>
                </a:solidFill>
                <a:latin typeface="Times New Roman"/>
              </a:rPr>
              <a:t>Докладчик: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002060"/>
                </a:solidFill>
                <a:latin typeface="Times New Roman"/>
              </a:rPr>
              <a:t>командир взвода службы депрессионных съемок филиала «Копейский ВГСО» ФГУП «ВГСЧ»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2060"/>
                </a:solidFill>
                <a:latin typeface="Times New Roman"/>
              </a:rPr>
              <a:t>Ипатов Сергей Геннадьевич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000" y="6350000"/>
            <a:ext cx="5080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02060"/>
                </a:solidFill>
                <a:latin typeface="Times New Roman"/>
              </a:rPr>
              <a:t>Санкт-Петербургский горный университет,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s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101600"/>
            <a:ext cx="1066800" cy="106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177800"/>
            <a:ext cx="76835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2060"/>
                </a:solidFill>
                <a:latin typeface="Times New Roman"/>
              </a:rPr>
              <a:t>Актуальность и постановка задачи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0000" y="1143000"/>
            <a:ext cx="7683500" cy="317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8000" y="1422400"/>
            <a:ext cx="2540000" cy="1168400"/>
          </a:xfrm>
          <a:prstGeom prst="roundRect">
            <a:avLst/>
          </a:prstGeom>
          <a:solidFill>
            <a:srgbClr val="2E5596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6 рудников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Times New Roman"/>
              </a:rPr>
              <a:t>ПО «Вентиляция»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02000" y="1422400"/>
            <a:ext cx="2540000" cy="1168400"/>
          </a:xfrm>
          <a:prstGeom prst="roundRect">
            <a:avLst/>
          </a:prstGeom>
          <a:solidFill>
            <a:srgbClr val="2E5596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9 рудников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Times New Roman"/>
              </a:rPr>
              <a:t>ПО «АэроСеть»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0" y="1422400"/>
            <a:ext cx="2540000" cy="1168400"/>
          </a:xfrm>
          <a:prstGeom prst="roundRect">
            <a:avLst/>
          </a:prstGeom>
          <a:solidFill>
            <a:srgbClr val="2E5596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1 рудник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Times New Roman"/>
              </a:rPr>
              <a:t>ПО «ПВ-Система»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667000"/>
            <a:ext cx="8128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1">
                <a:solidFill>
                  <a:srgbClr val="002060"/>
                </a:solidFill>
                <a:latin typeface="Times New Roman"/>
              </a:rPr>
              <a:t>17 рудников, обслуживаемых филиалом, – три разных программных комплекса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3175000"/>
            <a:ext cx="8191500" cy="279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000">
                <a:solidFill>
                  <a:srgbClr val="0070C0"/>
                </a:solidFill>
                <a:latin typeface="Times New Roman"/>
              </a:rPr>
              <a:t>■  </a:t>
            </a:r>
            <a:r>
              <a:rPr sz="1600" b="0" i="0">
                <a:solidFill>
                  <a:srgbClr val="002060"/>
                </a:solidFill>
                <a:latin typeface="Times New Roman"/>
              </a:rPr>
              <a:t>Проверка устойчивости проветривания при пожаре – к каждому ПМЛЛПА, для выработок с углом </a:t>
            </a:r>
            <a:r>
              <a:rPr sz="1600" b="1" i="0">
                <a:solidFill>
                  <a:srgbClr val="002060"/>
                </a:solidFill>
                <a:latin typeface="Times New Roman"/>
              </a:rPr>
              <a:t>≥ 5°</a:t>
            </a:r>
            <a:r>
              <a:rPr sz="1600" b="0" i="0">
                <a:solidFill>
                  <a:srgbClr val="002060"/>
                </a:solidFill>
                <a:latin typeface="Times New Roman"/>
              </a:rPr>
              <a:t> и длиной </a:t>
            </a:r>
            <a:r>
              <a:rPr sz="1600" b="1" i="0">
                <a:solidFill>
                  <a:srgbClr val="002060"/>
                </a:solidFill>
                <a:latin typeface="Times New Roman"/>
              </a:rPr>
              <a:t>≥ 30 м</a:t>
            </a:r>
          </a:p>
          <a:p>
            <a:pPr algn="l">
              <a:spcAft>
                <a:spcPts val="900"/>
              </a:spcAft>
            </a:pPr>
            <a:r>
              <a:rPr sz="1000">
                <a:solidFill>
                  <a:srgbClr val="0070C0"/>
                </a:solidFill>
                <a:latin typeface="Times New Roman"/>
              </a:rPr>
              <a:t>■  </a:t>
            </a:r>
            <a:r>
              <a:rPr sz="1600" b="0" i="0">
                <a:solidFill>
                  <a:srgbClr val="002060"/>
                </a:solidFill>
                <a:latin typeface="Times New Roman"/>
              </a:rPr>
              <a:t>В ПО «Вентиляция» очаг задается </a:t>
            </a:r>
            <a:r>
              <a:rPr sz="1600" b="1" i="0">
                <a:solidFill>
                  <a:srgbClr val="002060"/>
                </a:solidFill>
                <a:latin typeface="Times New Roman"/>
              </a:rPr>
              <a:t>температурой 1000 °C по умолчанию</a:t>
            </a:r>
            <a:r>
              <a:rPr sz="1600" b="0" i="0">
                <a:solidFill>
                  <a:srgbClr val="002060"/>
                </a:solidFill>
                <a:latin typeface="Times New Roman"/>
              </a:rPr>
              <a:t> – без связи с горючей нагрузкой; нагрев </a:t>
            </a:r>
            <a:r>
              <a:rPr sz="1600" b="1" i="0">
                <a:solidFill>
                  <a:srgbClr val="002060"/>
                </a:solidFill>
                <a:latin typeface="Times New Roman"/>
              </a:rPr>
              <a:t>менее 100 °C</a:t>
            </a:r>
            <a:r>
              <a:rPr sz="1600" b="0" i="0">
                <a:solidFill>
                  <a:srgbClr val="002060"/>
                </a:solidFill>
                <a:latin typeface="Times New Roman"/>
              </a:rPr>
              <a:t> задать нельзя</a:t>
            </a:r>
          </a:p>
          <a:p>
            <a:pPr algn="l">
              <a:spcAft>
                <a:spcPts val="900"/>
              </a:spcAft>
            </a:pPr>
            <a:r>
              <a:rPr sz="1000">
                <a:solidFill>
                  <a:srgbClr val="0070C0"/>
                </a:solidFill>
                <a:latin typeface="Times New Roman"/>
              </a:rPr>
              <a:t>■  </a:t>
            </a:r>
            <a:r>
              <a:rPr sz="1600" b="0" i="0">
                <a:solidFill>
                  <a:srgbClr val="002060"/>
                </a:solidFill>
                <a:latin typeface="Times New Roman"/>
              </a:rPr>
              <a:t>Температура в выработке – </a:t>
            </a:r>
            <a:r>
              <a:rPr sz="1600" b="1" i="0">
                <a:solidFill>
                  <a:srgbClr val="002060"/>
                </a:solidFill>
                <a:latin typeface="Times New Roman"/>
              </a:rPr>
              <a:t>не исходная величина, а результат</a:t>
            </a:r>
            <a:r>
              <a:rPr sz="1600" b="0" i="0">
                <a:solidFill>
                  <a:srgbClr val="002060"/>
                </a:solidFill>
                <a:latin typeface="Times New Roman"/>
              </a:rPr>
              <a:t>: она зависит от того, что горит, и от расхода воздуха</a:t>
            </a:r>
          </a:p>
          <a:p>
            <a:pPr algn="l">
              <a:spcAft>
                <a:spcPts val="900"/>
              </a:spcAft>
            </a:pPr>
            <a:r>
              <a:rPr sz="1000">
                <a:solidFill>
                  <a:srgbClr val="0070C0"/>
                </a:solidFill>
                <a:latin typeface="Times New Roman"/>
              </a:rPr>
              <a:t>■  </a:t>
            </a:r>
            <a:r>
              <a:rPr sz="1600" b="1" i="0">
                <a:solidFill>
                  <a:srgbClr val="002060"/>
                </a:solidFill>
                <a:latin typeface="Times New Roman"/>
              </a:rPr>
              <a:t>Цель: </a:t>
            </a:r>
            <a:r>
              <a:rPr sz="1600" b="0" i="0">
                <a:solidFill>
                  <a:srgbClr val="002060"/>
                </a:solidFill>
                <a:latin typeface="Times New Roman"/>
              </a:rPr>
              <a:t>определять тепловую депрессию по фактической пожарной нагрузке каждой ветви и расходу воздуха в ней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s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101600"/>
            <a:ext cx="1066800" cy="106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177800"/>
            <a:ext cx="76835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2060"/>
                </a:solidFill>
                <a:latin typeface="Times New Roman"/>
              </a:rPr>
              <a:t>Порядок расчета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0000" y="1143000"/>
            <a:ext cx="7683500" cy="317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9400" y="1371600"/>
            <a:ext cx="1473200" cy="990600"/>
          </a:xfrm>
          <a:prstGeom prst="round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Выгрузка ветвей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Times New Roman"/>
              </a:rPr>
              <a:t>≥ 5°, ≥ 30 м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78000" y="1739900"/>
            <a:ext cx="228600" cy="254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32000" y="1371600"/>
            <a:ext cx="1473200" cy="990600"/>
          </a:xfrm>
          <a:prstGeom prst="round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Запрос на ОПО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Times New Roman"/>
              </a:rPr>
              <a:t>фактическая нагрузка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30600" y="1739900"/>
            <a:ext cx="228600" cy="254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84600" y="1371600"/>
            <a:ext cx="1473200" cy="990600"/>
          </a:xfrm>
          <a:prstGeom prst="round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СИТИС-СПН-1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Times New Roman"/>
              </a:rPr>
              <a:t>свойства материалов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83200" y="1739900"/>
            <a:ext cx="228600" cy="254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37200" y="1371600"/>
            <a:ext cx="1473200" cy="9906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Мощность пожара 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Times New Roman"/>
              </a:rPr>
              <a:t>по виду нагрузки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35800" y="1739900"/>
            <a:ext cx="228600" cy="254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89800" y="1371600"/>
            <a:ext cx="1473200" cy="990600"/>
          </a:xfrm>
          <a:prstGeom prst="round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Акт проверки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Times New Roman"/>
              </a:rPr>
              <a:t>устойчивости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000" y="2590800"/>
            <a:ext cx="8382000" cy="2870200"/>
          </a:xfrm>
          <a:prstGeom prst="rect">
            <a:avLst/>
          </a:prstGeom>
          <a:solidFill>
            <a:srgbClr val="FFFFFF"/>
          </a:solidFill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" y="2667000"/>
            <a:ext cx="8064500" cy="279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2060"/>
                </a:solidFill>
                <a:latin typeface="Times New Roman"/>
              </a:rPr>
              <a:t>Нагрев воздушной струи: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02060"/>
                </a:solidFill>
                <a:latin typeface="Times New Roman"/>
              </a:rPr>
              <a:t>        Δt = N · 10⁶ / (ρ · cₚ · Q),   </a:t>
            </a:r>
            <a:r>
              <a:rPr sz="1500" b="0" i="1">
                <a:solidFill>
                  <a:srgbClr val="002060"/>
                </a:solidFill>
                <a:latin typeface="Times New Roman"/>
              </a:rPr>
              <a:t>ρ = 1,25 кг/м³,  cₚ = 1005 Дж/(кг·К),  t ≤ 1200 °C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2060"/>
                </a:solidFill>
                <a:latin typeface="Times New Roman"/>
              </a:rPr>
              <a:t>Тепловая депрессия пожара (нормативная методика, ф. 4.5):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02060"/>
                </a:solidFill>
                <a:latin typeface="Times New Roman"/>
              </a:rPr>
              <a:t>        hт = k₁ · Δz · (0,766 + a · ln(Tм / Tк)),   </a:t>
            </a:r>
            <a:r>
              <a:rPr sz="1500" b="0" i="1">
                <a:solidFill>
                  <a:srgbClr val="002060"/>
                </a:solidFill>
                <a:latin typeface="Times New Roman"/>
              </a:rPr>
              <a:t>k₁ = 12 Н/м³</a:t>
            </a:r>
          </a:p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002060"/>
                </a:solidFill>
                <a:latin typeface="Times New Roman"/>
              </a:rPr>
              <a:t>        Tм ограничена фактической температурой по нагрузке, зона горения – длиной выработки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2060"/>
                </a:solidFill>
                <a:latin typeface="Times New Roman"/>
              </a:rPr>
              <a:t>Показатель устойчивости: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02060"/>
                </a:solidFill>
                <a:latin typeface="Times New Roman"/>
              </a:rPr>
              <a:t>        pу = hкр / hт;   pу &gt; 1 – устойчиво;  </a:t>
            </a:r>
            <a:r>
              <a:rPr sz="1500" b="0" i="1">
                <a:solidFill>
                  <a:srgbClr val="002060"/>
                </a:solidFill>
                <a:latin typeface="Times New Roman"/>
              </a:rPr>
              <a:t>для восходящих – проверка по Q₀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5588000"/>
            <a:ext cx="8382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002060"/>
                </a:solidFill>
                <a:latin typeface="Times New Roman"/>
              </a:rPr>
              <a:t>Все расчеты выполнены в программном комплексе </a:t>
            </a:r>
            <a:r>
              <a:rPr sz="1500" b="1" i="0">
                <a:solidFill>
                  <a:srgbClr val="002060"/>
                </a:solidFill>
                <a:latin typeface="Times New Roman"/>
              </a:rPr>
              <a:t>«ПВ-Система»</a:t>
            </a:r>
            <a:r>
              <a:rPr sz="1500" b="0" i="0">
                <a:solidFill>
                  <a:srgbClr val="002060"/>
                </a:solidFill>
                <a:latin typeface="Times New Roman"/>
              </a:rPr>
              <a:t>: мощность пожара, тепловая и критическая депрессия, формирование акта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s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101600"/>
            <a:ext cx="1066800" cy="106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177800"/>
            <a:ext cx="76835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2060"/>
                </a:solidFill>
                <a:latin typeface="Times New Roman"/>
              </a:rPr>
              <a:t>Мощность пожара по видам горючей нагрузки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0000" y="1143000"/>
            <a:ext cx="7683500" cy="317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9400" y="1422400"/>
          <a:ext cx="85852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3886200"/>
                <a:gridCol w="889000"/>
                <a:gridCol w="889000"/>
                <a:gridCol w="101600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Выработка</a:t>
                      </a:r>
                    </a:p>
                  </a:txBody>
                  <a:tcPr anchor="ctr" marL="50800" marR="50800" marT="25400" marB="254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Горючая нагрузка</a:t>
                      </a:r>
                    </a:p>
                  </a:txBody>
                  <a:tcPr anchor="ctr" marL="50800" marR="50800" marT="25400" marB="254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Q, м³/с</a:t>
                      </a:r>
                    </a:p>
                  </a:txBody>
                  <a:tcPr anchor="ctr" marL="50800" marR="50800" marT="25400" marB="254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N, МВт</a:t>
                      </a:r>
                    </a:p>
                  </a:txBody>
                  <a:tcPr anchor="ctr" marL="50800" marR="50800" marT="25400" marB="254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Δt, °C</a:t>
                      </a:r>
                    </a:p>
                  </a:txBody>
                  <a:tcPr anchor="ctr" marL="50800" marR="50800" marT="25400" marB="25400">
                    <a:solidFill>
                      <a:srgbClr val="00206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2060"/>
                          </a:solidFill>
                          <a:latin typeface="Times New Roman"/>
                        </a:rPr>
                        <a:t>Заезд на ВТШ, 17,4°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2060"/>
                          </a:solidFill>
                          <a:latin typeface="Times New Roman"/>
                        </a:rPr>
                        <a:t>ПДМ DALI VJ8: резина 3200 кг, дизель 620 кг, масло 600 кг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2060"/>
                          </a:solidFill>
                          <a:latin typeface="Times New Roman"/>
                        </a:rPr>
                        <a:t>6,5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2060"/>
                          </a:solidFill>
                          <a:latin typeface="Times New Roman"/>
                        </a:rPr>
                        <a:t>10,72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0000"/>
                          </a:solidFill>
                          <a:latin typeface="Times New Roman"/>
                        </a:rPr>
                        <a:t>1180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2060"/>
                          </a:solidFill>
                          <a:latin typeface="Times New Roman"/>
                        </a:rPr>
                        <a:t>Транспортный уклон, 7,1°</a:t>
                      </a:r>
                    </a:p>
                  </a:txBody>
                  <a:tcPr anchor="ctr" marL="50800" marR="50800" marT="25400" marB="254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2060"/>
                          </a:solidFill>
                          <a:latin typeface="Times New Roman"/>
                        </a:rPr>
                        <a:t>ТН-545: резина 1200 кг, дизель 400 л, масло 200 л</a:t>
                      </a:r>
                    </a:p>
                  </a:txBody>
                  <a:tcPr anchor="ctr" marL="50800" marR="50800" marT="25400" marB="254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2060"/>
                          </a:solidFill>
                          <a:latin typeface="Times New Roman"/>
                        </a:rPr>
                        <a:t>21,2</a:t>
                      </a:r>
                    </a:p>
                  </a:txBody>
                  <a:tcPr anchor="ctr" marL="50800" marR="50800" marT="25400" marB="254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2060"/>
                          </a:solidFill>
                          <a:latin typeface="Times New Roman"/>
                        </a:rPr>
                        <a:t>8,04</a:t>
                      </a:r>
                    </a:p>
                  </a:txBody>
                  <a:tcPr anchor="ctr" marL="50800" marR="50800" marT="25400" marB="254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2060"/>
                          </a:solidFill>
                          <a:latin typeface="Times New Roman"/>
                        </a:rPr>
                        <a:t>302</a:t>
                      </a:r>
                    </a:p>
                  </a:txBody>
                  <a:tcPr anchor="ctr" marL="50800" marR="50800" marT="25400" marB="25400">
                    <a:solidFill>
                      <a:srgbClr val="EEF2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2060"/>
                          </a:solidFill>
                          <a:latin typeface="Times New Roman"/>
                        </a:rPr>
                        <a:t>Ствол скипо-клетевой, 90°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2060"/>
                          </a:solidFill>
                          <a:latin typeface="Times New Roman"/>
                        </a:rPr>
                        <a:t>Кабель ПВС, 65 м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2060"/>
                          </a:solidFill>
                          <a:latin typeface="Times New Roman"/>
                        </a:rPr>
                        <a:t>142,2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2060"/>
                          </a:solidFill>
                          <a:latin typeface="Times New Roman"/>
                        </a:rPr>
                        <a:t>0,96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B34"/>
                          </a:solidFill>
                          <a:latin typeface="Times New Roman"/>
                        </a:rPr>
                        <a:t>5,4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2060"/>
                          </a:solidFill>
                          <a:latin typeface="Times New Roman"/>
                        </a:rPr>
                        <a:t>Вент. восстающий, 90°</a:t>
                      </a:r>
                    </a:p>
                  </a:txBody>
                  <a:tcPr anchor="ctr" marL="50800" marR="50800" marT="25400" marB="254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2060"/>
                          </a:solidFill>
                          <a:latin typeface="Times New Roman"/>
                        </a:rPr>
                        <a:t>Деревянная крепь по периметру, 2 см, 67 м</a:t>
                      </a:r>
                    </a:p>
                  </a:txBody>
                  <a:tcPr anchor="ctr" marL="50800" marR="50800" marT="25400" marB="254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2060"/>
                          </a:solidFill>
                          <a:latin typeface="Times New Roman"/>
                        </a:rPr>
                        <a:t>21,3</a:t>
                      </a:r>
                    </a:p>
                  </a:txBody>
                  <a:tcPr anchor="ctr" marL="50800" marR="50800" marT="25400" marB="254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2060"/>
                          </a:solidFill>
                          <a:latin typeface="Times New Roman"/>
                        </a:rPr>
                        <a:t>29,5</a:t>
                      </a:r>
                    </a:p>
                  </a:txBody>
                  <a:tcPr anchor="ctr" marL="50800" marR="50800" marT="25400" marB="254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0000"/>
                          </a:solidFill>
                          <a:latin typeface="Times New Roman"/>
                        </a:rPr>
                        <a:t>1104</a:t>
                      </a:r>
                    </a:p>
                  </a:txBody>
                  <a:tcPr anchor="ctr" marL="50800" marR="50800" marT="25400" marB="25400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1000" y="4699000"/>
            <a:ext cx="8382000" cy="177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>
                <a:solidFill>
                  <a:srgbClr val="0070C0"/>
                </a:solidFill>
                <a:latin typeface="Times New Roman"/>
              </a:rPr>
              <a:t>■  </a:t>
            </a:r>
            <a:r>
              <a:rPr sz="1500" b="1" i="0">
                <a:solidFill>
                  <a:srgbClr val="002060"/>
                </a:solidFill>
                <a:latin typeface="Times New Roman"/>
              </a:rPr>
              <a:t>Техника</a:t>
            </a:r>
            <a:r>
              <a:rPr sz="1500" b="0" i="0">
                <a:solidFill>
                  <a:srgbClr val="002060"/>
                </a:solidFill>
                <a:latin typeface="Times New Roman"/>
              </a:rPr>
              <a:t> – эквивалентная поверхность горения и время выгорания каждого материала</a:t>
            </a:r>
          </a:p>
          <a:p>
            <a:pPr algn="l">
              <a:spcAft>
                <a:spcPts val="600"/>
              </a:spcAft>
            </a:pPr>
            <a:r>
              <a:rPr sz="900">
                <a:solidFill>
                  <a:srgbClr val="0070C0"/>
                </a:solidFill>
                <a:latin typeface="Times New Roman"/>
              </a:rPr>
              <a:t>■  </a:t>
            </a:r>
            <a:r>
              <a:rPr sz="1500" b="1" i="0">
                <a:solidFill>
                  <a:srgbClr val="002060"/>
                </a:solidFill>
                <a:latin typeface="Times New Roman"/>
              </a:rPr>
              <a:t>Кабель, крепь, лента</a:t>
            </a:r>
            <a:r>
              <a:rPr sz="1500" b="0" i="0">
                <a:solidFill>
                  <a:srgbClr val="002060"/>
                </a:solidFill>
                <a:latin typeface="Times New Roman"/>
              </a:rPr>
              <a:t> – площадь горения растет со скоростью фронта пламени и уменьшается за счет выгорания</a:t>
            </a:r>
          </a:p>
          <a:p>
            <a:pPr algn="l">
              <a:spcAft>
                <a:spcPts val="600"/>
              </a:spcAft>
            </a:pPr>
            <a:r>
              <a:rPr sz="900">
                <a:solidFill>
                  <a:srgbClr val="0070C0"/>
                </a:solidFill>
                <a:latin typeface="Times New Roman"/>
              </a:rPr>
              <a:t>■  </a:t>
            </a:r>
            <a:r>
              <a:rPr sz="1500" b="1" i="0">
                <a:solidFill>
                  <a:srgbClr val="002060"/>
                </a:solidFill>
                <a:latin typeface="Times New Roman"/>
              </a:rPr>
              <a:t>Один и тот же расчет нагрузки дает нагрев от 5 °C до 1200 °C – в зависимости от расхода воздуха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s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101600"/>
            <a:ext cx="1066800" cy="106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177800"/>
            <a:ext cx="76835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2060"/>
                </a:solidFill>
                <a:latin typeface="Times New Roman"/>
              </a:rPr>
              <a:t>Развитие пожара деревянной крепи во времени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0000" y="1143000"/>
            <a:ext cx="7683500" cy="317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wo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346200"/>
            <a:ext cx="8534400" cy="3870251"/>
          </a:xfrm>
          <a:prstGeom prst="rect">
            <a:avLst/>
          </a:prstGeom>
          <a:ln w="9525">
            <a:solidFill>
              <a:srgbClr val="00206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81000" y="5334000"/>
            <a:ext cx="8382000" cy="12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>
                <a:solidFill>
                  <a:srgbClr val="0070C0"/>
                </a:solidFill>
                <a:latin typeface="Times New Roman"/>
              </a:rPr>
              <a:t>■  </a:t>
            </a:r>
            <a:r>
              <a:rPr sz="1500" b="0" i="0">
                <a:solidFill>
                  <a:srgbClr val="002060"/>
                </a:solidFill>
                <a:latin typeface="Times New Roman"/>
              </a:rPr>
              <a:t>Мощность достигает </a:t>
            </a:r>
            <a:r>
              <a:rPr sz="1500" b="1" i="0">
                <a:solidFill>
                  <a:srgbClr val="002060"/>
                </a:solidFill>
                <a:latin typeface="Times New Roman"/>
              </a:rPr>
              <a:t>29,5 МВт за 7 мин</a:t>
            </a:r>
            <a:r>
              <a:rPr sz="1500" b="0" i="0">
                <a:solidFill>
                  <a:srgbClr val="002060"/>
                </a:solidFill>
                <a:latin typeface="Times New Roman"/>
              </a:rPr>
              <a:t> и сохраняется до полного прохода пламени по выработке</a:t>
            </a:r>
          </a:p>
          <a:p>
            <a:pPr algn="l">
              <a:spcAft>
                <a:spcPts val="600"/>
              </a:spcAft>
            </a:pPr>
            <a:r>
              <a:rPr sz="900">
                <a:solidFill>
                  <a:srgbClr val="0070C0"/>
                </a:solidFill>
                <a:latin typeface="Times New Roman"/>
              </a:rPr>
              <a:t>■  </a:t>
            </a:r>
            <a:r>
              <a:rPr sz="1500" b="0" i="0">
                <a:solidFill>
                  <a:srgbClr val="002060"/>
                </a:solidFill>
                <a:latin typeface="Times New Roman"/>
              </a:rPr>
              <a:t>К прибытию отделения ВГСЧ (30 мин) пожар – </a:t>
            </a:r>
            <a:r>
              <a:rPr sz="1500" b="1" i="0">
                <a:solidFill>
                  <a:srgbClr val="002060"/>
                </a:solidFill>
                <a:latin typeface="Times New Roman"/>
              </a:rPr>
              <a:t>в наиболее опасной фазе</a:t>
            </a:r>
            <a:r>
              <a:rPr sz="1500" b="0" i="0">
                <a:solidFill>
                  <a:srgbClr val="002060"/>
                </a:solidFill>
                <a:latin typeface="Times New Roman"/>
              </a:rPr>
              <a:t>; в акте принимается пиковая мощность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s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101600"/>
            <a:ext cx="1066800" cy="106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177800"/>
            <a:ext cx="76835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2060"/>
                </a:solidFill>
                <a:latin typeface="Times New Roman"/>
              </a:rPr>
              <a:t>Тепловая депрессия: условная температура и расчет по нагрузке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0000" y="1143000"/>
            <a:ext cx="7683500" cy="317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b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346200"/>
            <a:ext cx="8534400" cy="3870251"/>
          </a:xfrm>
          <a:prstGeom prst="rect">
            <a:avLst/>
          </a:prstGeom>
          <a:ln w="9525">
            <a:solidFill>
              <a:srgbClr val="00206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81000" y="5334000"/>
            <a:ext cx="8382000" cy="12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>
                <a:solidFill>
                  <a:srgbClr val="0070C0"/>
                </a:solidFill>
                <a:latin typeface="Times New Roman"/>
              </a:rPr>
              <a:t>■  </a:t>
            </a:r>
            <a:r>
              <a:rPr sz="1500" b="0" i="0">
                <a:solidFill>
                  <a:srgbClr val="002060"/>
                </a:solidFill>
                <a:latin typeface="Times New Roman"/>
              </a:rPr>
              <a:t>Ствол с кабелем: </a:t>
            </a:r>
            <a:r>
              <a:rPr sz="1500" b="1" i="0">
                <a:solidFill>
                  <a:srgbClr val="1E7B34"/>
                </a:solidFill>
                <a:latin typeface="Times New Roman"/>
              </a:rPr>
              <a:t>14 Па</a:t>
            </a:r>
            <a:r>
              <a:rPr sz="1500" b="0" i="0">
                <a:solidFill>
                  <a:srgbClr val="002060"/>
                </a:solidFill>
                <a:latin typeface="Times New Roman"/>
              </a:rPr>
              <a:t> вместо </a:t>
            </a:r>
            <a:r>
              <a:rPr sz="1500" b="1" i="0">
                <a:solidFill>
                  <a:srgbClr val="C00000"/>
                </a:solidFill>
                <a:latin typeface="Times New Roman"/>
              </a:rPr>
              <a:t>600 Па</a:t>
            </a:r>
            <a:r>
              <a:rPr sz="1500" b="0" i="0">
                <a:solidFill>
                  <a:srgbClr val="002060"/>
                </a:solidFill>
                <a:latin typeface="Times New Roman"/>
              </a:rPr>
              <a:t> – условные 1000 °C ведут к </a:t>
            </a:r>
            <a:r>
              <a:rPr sz="1500" b="1" i="0">
                <a:solidFill>
                  <a:srgbClr val="002060"/>
                </a:solidFill>
                <a:latin typeface="Times New Roman"/>
              </a:rPr>
              <a:t>ложному выводу о неустойчивости</a:t>
            </a:r>
          </a:p>
          <a:p>
            <a:pPr algn="l">
              <a:spcAft>
                <a:spcPts val="600"/>
              </a:spcAft>
            </a:pPr>
            <a:r>
              <a:rPr sz="900">
                <a:solidFill>
                  <a:srgbClr val="0070C0"/>
                </a:solidFill>
                <a:latin typeface="Times New Roman"/>
              </a:rPr>
              <a:t>■  </a:t>
            </a:r>
            <a:r>
              <a:rPr sz="1500" b="0" i="0">
                <a:solidFill>
                  <a:srgbClr val="002060"/>
                </a:solidFill>
                <a:latin typeface="Times New Roman"/>
              </a:rPr>
              <a:t>Техника и крепь при малом расходе: результаты совпадают – </a:t>
            </a:r>
            <a:r>
              <a:rPr sz="1500" b="1" i="0">
                <a:solidFill>
                  <a:srgbClr val="002060"/>
                </a:solidFill>
                <a:latin typeface="Times New Roman"/>
              </a:rPr>
              <a:t>опасность подтверждена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s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101600"/>
            <a:ext cx="1066800" cy="106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177800"/>
            <a:ext cx="76835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2060"/>
                </a:solidFill>
                <a:latin typeface="Times New Roman"/>
              </a:rPr>
              <a:t>Акт проверки устойчивости: результаты по выработкам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0000" y="1143000"/>
            <a:ext cx="7683500" cy="317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14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1422400"/>
            <a:ext cx="4191000" cy="3020670"/>
          </a:xfrm>
          <a:prstGeom prst="rect">
            <a:avLst/>
          </a:prstGeom>
          <a:ln w="9525">
            <a:solidFill>
              <a:srgbClr val="002060"/>
            </a:solidFill>
          </a:ln>
        </p:spPr>
      </p:pic>
      <p:pic>
        <p:nvPicPr>
          <p:cNvPr id="7" name="Picture 6" descr="s16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1346200"/>
            <a:ext cx="3487986" cy="3810000"/>
          </a:xfrm>
          <a:prstGeom prst="rect">
            <a:avLst/>
          </a:prstGeom>
          <a:ln w="9525">
            <a:solidFill>
              <a:srgbClr val="00206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279400" y="4521200"/>
            <a:ext cx="4191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002060"/>
                </a:solidFill>
                <a:latin typeface="Times New Roman"/>
              </a:rPr>
              <a:t>Горение техники, ветвь 289 (N = 10,7 МВт)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4000" y="4876800"/>
            <a:ext cx="1778000" cy="381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НЕУСТОЙЧИВО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3600" y="5207000"/>
            <a:ext cx="4191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002060"/>
                </a:solidFill>
                <a:latin typeface="Times New Roman"/>
              </a:rPr>
              <a:t>Горение кабеля, ствол, ветвь 4 (N = 0,96 МВт)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80100" y="5562600"/>
            <a:ext cx="1778000" cy="381000"/>
          </a:xfrm>
          <a:prstGeom prst="roundRect">
            <a:avLst/>
          </a:prstGeom>
          <a:solidFill>
            <a:srgbClr val="1E7B34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УСТОЙЧИВО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00" y="5461000"/>
            <a:ext cx="4191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02060"/>
                </a:solidFill>
                <a:latin typeface="Times New Roman"/>
              </a:rPr>
              <a:t>Меры – только там, где опасность подтверждена: </a:t>
            </a:r>
            <a:r>
              <a:rPr sz="1400" b="1" i="0">
                <a:solidFill>
                  <a:srgbClr val="002060"/>
                </a:solidFill>
                <a:latin typeface="Times New Roman"/>
              </a:rPr>
              <a:t>вентиляционная перемычка R = 0,024 кМюрг</a:t>
            </a:r>
            <a:r>
              <a:rPr sz="1400" b="0" i="0">
                <a:solidFill>
                  <a:srgbClr val="002060"/>
                </a:solidFill>
                <a:latin typeface="Times New Roman"/>
              </a:rPr>
              <a:t> в ветвях 685 и 774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s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101600"/>
            <a:ext cx="1066800" cy="106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177800"/>
            <a:ext cx="76835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2060"/>
                </a:solidFill>
                <a:latin typeface="Times New Roman"/>
              </a:rPr>
              <a:t>Сравнение программных комплексов на одной простой сети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0000" y="1143000"/>
            <a:ext cx="7683500" cy="317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9400" y="1270000"/>
            <a:ext cx="2743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2060"/>
                </a:solidFill>
                <a:latin typeface="Times New Roman"/>
              </a:rPr>
              <a:t>«АэроСеть»</a:t>
            </a:r>
          </a:p>
        </p:txBody>
      </p:sp>
      <p:pic>
        <p:nvPicPr>
          <p:cNvPr id="7" name="Picture 6" descr="s25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06" y="1600200"/>
            <a:ext cx="2721987" cy="3175000"/>
          </a:xfrm>
          <a:prstGeom prst="rect">
            <a:avLst/>
          </a:prstGeom>
          <a:ln w="9525">
            <a:solidFill>
              <a:srgbClr val="00206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279400" y="4876800"/>
            <a:ext cx="2743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070C0"/>
                </a:solidFill>
                <a:latin typeface="Times New Roman"/>
              </a:rPr>
              <a:t>68,2 → 38,3…71,7 м³/с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400" y="5181600"/>
            <a:ext cx="2743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02060"/>
                </a:solidFill>
                <a:latin typeface="Times New Roman"/>
              </a:rPr>
              <a:t>зависит от алгоритма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5800" y="1270000"/>
            <a:ext cx="2743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2060"/>
                </a:solidFill>
                <a:latin typeface="Times New Roman"/>
              </a:rPr>
              <a:t>«Вентиляция»</a:t>
            </a:r>
          </a:p>
        </p:txBody>
      </p:sp>
      <p:pic>
        <p:nvPicPr>
          <p:cNvPr id="11" name="Picture 10" descr="s26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0579" y="1600200"/>
            <a:ext cx="2033640" cy="3175000"/>
          </a:xfrm>
          <a:prstGeom prst="rect">
            <a:avLst/>
          </a:prstGeom>
          <a:ln w="9525">
            <a:solidFill>
              <a:srgbClr val="00206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3225800" y="4876800"/>
            <a:ext cx="2743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070C0"/>
                </a:solidFill>
                <a:latin typeface="Times New Roman"/>
              </a:rPr>
              <a:t>68,49 → 70,03 м³/с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5800" y="5181600"/>
            <a:ext cx="2743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02060"/>
                </a:solidFill>
                <a:latin typeface="Times New Roman"/>
              </a:rPr>
              <a:t>на пожар почти не реагирует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270000"/>
            <a:ext cx="2743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2060"/>
                </a:solidFill>
                <a:latin typeface="Times New Roman"/>
              </a:rPr>
              <a:t>«ПВ-Система»</a:t>
            </a:r>
          </a:p>
        </p:txBody>
      </p:sp>
      <p:pic>
        <p:nvPicPr>
          <p:cNvPr id="15" name="Picture 14" descr="s27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7521" y="1600200"/>
            <a:ext cx="2932558" cy="3175000"/>
          </a:xfrm>
          <a:prstGeom prst="rect">
            <a:avLst/>
          </a:prstGeom>
          <a:ln w="9525">
            <a:solidFill>
              <a:srgbClr val="002060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172200" y="4876800"/>
            <a:ext cx="2743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070C0"/>
                </a:solidFill>
                <a:latin typeface="Times New Roman"/>
              </a:rPr>
              <a:t>58,63 → 49,76 м³/с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5181600"/>
            <a:ext cx="2743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02060"/>
                </a:solidFill>
                <a:latin typeface="Times New Roman"/>
              </a:rPr>
              <a:t>hт = 516 Па, hкр = 936 Па, pу = 1,81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5689600"/>
            <a:ext cx="8382000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002060"/>
                </a:solidFill>
                <a:latin typeface="Times New Roman"/>
              </a:rPr>
              <a:t>Два ствола, соединенные выработкой, вентилятор, пожар в нисходящем стволе. </a:t>
            </a:r>
            <a:r>
              <a:rPr sz="1400" b="1" i="0">
                <a:solidFill>
                  <a:srgbClr val="002060"/>
                </a:solidFill>
                <a:latin typeface="Times New Roman"/>
              </a:rPr>
              <a:t>Разные модели пожара – разные выводы: акт должен раскрывать исходные данные и формулы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s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101600"/>
            <a:ext cx="1066800" cy="106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177800"/>
            <a:ext cx="76835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2060"/>
                </a:solidFill>
                <a:latin typeface="Times New Roman"/>
              </a:rPr>
              <a:t>Выводы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0000" y="1143000"/>
            <a:ext cx="7683500" cy="317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31800" y="1524000"/>
            <a:ext cx="558800" cy="5588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8400" y="1422400"/>
            <a:ext cx="7620000" cy="812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002060"/>
                </a:solidFill>
                <a:latin typeface="Times New Roman"/>
              </a:rPr>
              <a:t>Температуру пожара следует рассчитывать по фактической нагрузке и расходу воздуха в каждой выработке, а не задавать постоянной</a:t>
            </a:r>
          </a:p>
        </p:txBody>
      </p:sp>
      <p:sp>
        <p:nvSpPr>
          <p:cNvPr id="8" name="Oval 7"/>
          <p:cNvSpPr/>
          <p:nvPr/>
        </p:nvSpPr>
        <p:spPr>
          <a:xfrm>
            <a:off x="431800" y="2514600"/>
            <a:ext cx="558800" cy="5588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8400" y="2413000"/>
            <a:ext cx="7620000" cy="812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002060"/>
                </a:solidFill>
                <a:latin typeface="Times New Roman"/>
              </a:rPr>
              <a:t>Условные 1000 °C завышают тепловую депрессию в выработках с большим расходом и малой нагрузкой – более чем в 40 раз</a:t>
            </a:r>
          </a:p>
        </p:txBody>
      </p:sp>
      <p:sp>
        <p:nvSpPr>
          <p:cNvPr id="10" name="Oval 9"/>
          <p:cNvSpPr/>
          <p:nvPr/>
        </p:nvSpPr>
        <p:spPr>
          <a:xfrm>
            <a:off x="431800" y="3505200"/>
            <a:ext cx="558800" cy="5588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8400" y="3403600"/>
            <a:ext cx="7620000" cy="812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002060"/>
                </a:solidFill>
                <a:latin typeface="Times New Roman"/>
              </a:rPr>
              <a:t>Расчет по нагрузке сосредотачивает меры на действительно опасных выработках: техника и деревянная крепь при малом расходе</a:t>
            </a:r>
          </a:p>
        </p:txBody>
      </p:sp>
      <p:sp>
        <p:nvSpPr>
          <p:cNvPr id="12" name="Oval 11"/>
          <p:cNvSpPr/>
          <p:nvPr/>
        </p:nvSpPr>
        <p:spPr>
          <a:xfrm>
            <a:off x="431800" y="4495800"/>
            <a:ext cx="558800" cy="5588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8400" y="4394200"/>
            <a:ext cx="7620000" cy="812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002060"/>
                </a:solidFill>
                <a:latin typeface="Times New Roman"/>
              </a:rPr>
              <a:t>Порядок реализован в ПК «ПВ-Система» и применяется при подготовке актов проверки устойчивости к ПМЛЛПА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5537200"/>
            <a:ext cx="8382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02060"/>
                </a:solidFill>
                <a:latin typeface="Times New Roman"/>
              </a:rPr>
              <a:t>Дальнейшая работа: </a:t>
            </a:r>
            <a:r>
              <a:rPr sz="1500" b="0" i="1">
                <a:solidFill>
                  <a:srgbClr val="002060"/>
                </a:solidFill>
                <a:latin typeface="Times New Roman"/>
              </a:rPr>
              <a:t>учет нестационарности пожара и сопоставление расчетов с данными депрессионных съемок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905000"/>
            <a:ext cx="7620000" cy="279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600" b="0" i="0">
                <a:solidFill>
                  <a:srgbClr val="0070C0"/>
                </a:solidFill>
                <a:latin typeface="Times New Roman"/>
              </a:rPr>
              <a:t>СПАСИБО</a:t>
            </a:r>
          </a:p>
          <a:p>
            <a:pPr algn="ctr">
              <a:spcAft>
                <a:spcPts val="0"/>
              </a:spcAft>
            </a:pPr>
            <a:r>
              <a:rPr sz="6600" b="0" i="0">
                <a:solidFill>
                  <a:srgbClr val="0070C0"/>
                </a:solidFill>
                <a:latin typeface="Times New Roman"/>
              </a:rPr>
              <a:t>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080000"/>
            <a:ext cx="7620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002060"/>
                </a:solidFill>
                <a:latin typeface="Times New Roman"/>
              </a:rPr>
              <a:t>Ипатов Сергей Геннадьевич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002060"/>
                </a:solidFill>
                <a:latin typeface="Times New Roman"/>
              </a:rPr>
              <a:t>филиал «Копейский ВГСО» ФГУП «ВГСЧ»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