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4224528"/>
            <a:ext cx="292608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9FB6D8"/>
                </a:solidFill>
                <a:latin typeface="Oswald"/>
              </a:rPr>
              <a:t>ФГУП «ВОЕНИЗИРОВАННАЯ ГОРНОСПАСАТЕЛЬНАЯ ЧАСТЬ» МЧС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424160" cy="2377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Oswald"/>
              </a:rPr>
              <a:t>ПРАКТИЧЕСКИЙ ОПЫТ ПРИМЕНЕНИЯ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Oswald"/>
              </a:rPr>
              <a:t>ИСКУССТВЕННОГО ИНТЕЛЛЕКТА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42416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i="0">
                <a:solidFill>
                  <a:srgbClr val="C8D6EC"/>
                </a:solidFill>
                <a:latin typeface="IBM Plex Sans"/>
              </a:rPr>
              <a:t>Обзор разработанных программ, решение задач группы инженерного обеспечения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i="0">
                <a:solidFill>
                  <a:srgbClr val="C8D6EC"/>
                </a:solidFill>
                <a:latin typeface="IBM Plex Sans"/>
              </a:rPr>
              <a:t>и проблемы, возникающие при решении инженерных задач с использованием 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424160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9FB6D8"/>
                </a:solidFill>
                <a:latin typeface="IBM Plex Sans"/>
              </a:rPr>
              <a:t>Доклад группы инженерного обеспечения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9FB6D8"/>
                </a:solidFill>
                <a:latin typeface="IBM Plex Sans"/>
              </a:rPr>
              <a:t>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Содержание доклада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454298" cy="201168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1. Предпосылки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997098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Задачи ГИО, объём рутинной работы, ограничения штатных средств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1554480"/>
            <a:ext cx="3454298" cy="201168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8698" y="155448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2. Что такое ИИ-разработка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331720"/>
            <a:ext cx="2997098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Технология no-code/vibe-coding: постановка задачи на русском языке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7316" y="1554480"/>
            <a:ext cx="3454298" cy="201168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55448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1828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3. Обзор программ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2331720"/>
            <a:ext cx="2997098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Три работающих сервиса: СДС/ГИО, САУ, АРМ дежурного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3454298" cy="201168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4048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14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4. Практические результаты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2997098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Экономия времени, снижение ошибок, тиражируемость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8698" y="3840480"/>
            <a:ext cx="3454298" cy="201168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8698" y="384048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7298" y="4114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5. Проблемы и риски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7298" y="4617720"/>
            <a:ext cx="2997098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Галлюцинации, нормативка, верификация, ИБ, поддержка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7316" y="3840480"/>
            <a:ext cx="3454298" cy="201168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7316" y="384048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5916" y="4114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6. Выводы и предложения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5916" y="4617720"/>
            <a:ext cx="2997098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Регламент применения ИИ, дорожная карта развития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Предпосылки: задачи группы инженерного обеспечения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42416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9FB6D8"/>
                </a:solidFill>
                <a:latin typeface="IBM Plex Sans"/>
              </a:rPr>
              <a:t>Почему потребовались собственные инструменты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3677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Расчётная работа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расчёты СДС, депрессии, воздухораспределения, параметров средств защиты — объёмны, повторяемы, чувствительны к арифметическим ошибкам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0545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0487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Графическая документация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схемы аварийных участков, планы ликвидации аварий — оформление вручную занимает часы на один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7413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7355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Оперативный учёт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сведения о выездах, дислокации отделений, оснащении — разрозненные таблицы и бумажные журналы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4281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4223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Единообразие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разные подразделения оформляют одни и те же документы по-разному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1149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1091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Штатные средства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универсальное ПО не учитывает отраслевую специфику, а заказная разработка — это сроки и бюджет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881360" cy="6858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961888"/>
            <a:ext cx="105156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001A40"/>
                </a:solidFill>
                <a:latin typeface="IBM Plex Sans"/>
              </a:rPr>
              <a:t>Вывод: требовался инструмент, позволяющий инженеру-практику самому создавать прикладные программы без штата программистов.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Подход: разработка прикладного ПО с помощью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42416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9FB6D8"/>
                </a:solidFill>
                <a:latin typeface="IBM Plex Sans"/>
              </a:rPr>
              <a:t>Инженер формулирует задачу — ИИ пишет код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3677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Постановка задачи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техническое задание формулируется на обычном русском языке, как поручение исполнителю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6829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6771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Генерация кода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ИИ создаёт веб-приложение: интерфейс, расчётное ядро, базу данных, экспорт документов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9981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99923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Итерации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проверка результата инженером → замечания → доработка. Цикл занимает минуты, а не недели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73075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Публикация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готовый сервис размещается по адресу в сети и доступен с любого компьютера, планшета и телефона без установки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6285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46227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Носитель компетенции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предметные знания горноспасателя, а не навыки программирования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29200"/>
            <a:ext cx="2522143" cy="12801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2522143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F97316"/>
                </a:solidFill>
                <a:latin typeface="Oswa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2522143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C8D6EC"/>
                </a:solidFill>
                <a:latin typeface="IBM Plex Sans"/>
              </a:rPr>
              <a:t>сервиса в работе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36543" y="5029200"/>
            <a:ext cx="2522143" cy="12801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6543" y="5212080"/>
            <a:ext cx="2522143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F97316"/>
                </a:solidFill>
                <a:latin typeface="Oswald"/>
              </a:rPr>
              <a:t>дни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6543" y="5806440"/>
            <a:ext cx="2522143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C8D6EC"/>
                </a:solidFill>
                <a:latin typeface="IBM Plex Sans"/>
              </a:rPr>
              <a:t>срок от идеи до прототипа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6" y="5029200"/>
            <a:ext cx="2522143" cy="12801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3006" y="5212080"/>
            <a:ext cx="2522143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F97316"/>
                </a:solidFill>
                <a:latin typeface="Oswald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3006" y="5806440"/>
            <a:ext cx="2522143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C8D6EC"/>
                </a:solidFill>
                <a:latin typeface="IBM Plex Sans"/>
              </a:rPr>
              <a:t>привлечённых программистов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9469" y="5029200"/>
            <a:ext cx="2522143" cy="12801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9469" y="5212080"/>
            <a:ext cx="2522143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F97316"/>
                </a:solidFill>
                <a:latin typeface="Oswald"/>
              </a:rPr>
              <a:t>web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9469" y="5806440"/>
            <a:ext cx="2522143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C8D6EC"/>
                </a:solidFill>
                <a:latin typeface="IBM Plex Sans"/>
              </a:rPr>
              <a:t>работает в браузере, без установки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82880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200" b="1" i="0">
                <a:solidFill>
                  <a:srgbClr val="F97316"/>
                </a:solidFill>
                <a:latin typeface="Oswa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Oswald"/>
              </a:rPr>
              <a:t>ОБЗОР РАЗРАБОТАННЫХ ПРОГРАММ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960120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C8D6EC"/>
                </a:solidFill>
                <a:latin typeface="IBM Plex Sans"/>
              </a:rPr>
              <a:t>Три действующих сервиса группы инженерного обеспечения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Программа № 1. «СДС» — расчёты СДС и ГИО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42416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9FB6D8"/>
                </a:solidFill>
                <a:latin typeface="IBM Plex Sans"/>
              </a:rPr>
              <a:t>giosds.ru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42416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IBM Plex Sans"/>
              </a:rPr>
              <a:t>Назначение: автоматизация инженерных расчётов по средствам дыхательной службы и инженерному обеспечению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3113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3055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Расчётный модуль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типовые расчёты выполняются по заданным формулам с фиксированными коэффициентами — исключена арифметическая ошибка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6265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86207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Единая методика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все подразделения считают по одному алгоритму, результат сопоставим и проверяем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9417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59359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Готовый документ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результат сразу формируется в виде оформленного протокола расчёта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2569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32511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Доступ с любого устройства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работает как приложение на телефоне (PWA), в том числе на выезде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5721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5663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Скорость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расчёт, занимавший ранее до часа с калькулятором и таблицами, выполняется за минуты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852160"/>
            <a:ext cx="10881360" cy="566928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1042416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E7A4B"/>
                </a:solidFill>
                <a:latin typeface="IBM Plex Sans"/>
              </a:rPr>
              <a:t>Эффект: снижение трудозатрат на расчётную часть и исключение ошибок «человеческого фактора» в арифметике.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Программа № 2. «САУ» — схема аварийного участка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42416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9FB6D8"/>
                </a:solidFill>
                <a:latin typeface="IBM Plex Sans"/>
              </a:rPr>
              <a:t>avaria-schema.ru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42416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IBM Plex Sans"/>
              </a:rPr>
              <a:t>Назначение: автоматизированное оформление схем аварийного участка для горнодобывающих предприятий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3454298" cy="187451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Графический редактор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2997098" cy="960119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Построение схемы выработок мышью: узлы, ветви, направления вентиляционной струи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8698" y="2103120"/>
            <a:ext cx="3454298" cy="187451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8698" y="210312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7298" y="237744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Условные обозначения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7298" y="2880360"/>
            <a:ext cx="2997098" cy="960119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Встроенная библиотека знаков горноспасательной службы — единообразие документа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7316" y="2103120"/>
            <a:ext cx="3454298" cy="187451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210312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5916" y="237744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Формат А4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2880360"/>
            <a:ext cx="2997098" cy="960119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Схема сразу размещается на листе установленного формата, готова к подписи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51959"/>
            <a:ext cx="3454298" cy="187451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51959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26279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Экспорт PDF и Excel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029199"/>
            <a:ext cx="2997098" cy="960119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Документ выгружается для печати, вложения в акт и передачи на предприятие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8698" y="4251959"/>
            <a:ext cx="3454298" cy="187451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8698" y="4251959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7298" y="4526279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Скорость оформления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7298" y="5029199"/>
            <a:ext cx="2997098" cy="960119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Схема, которая чертилась вручную несколько часов, собирается за 15–20 минут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7316" y="4251959"/>
            <a:ext cx="3454298" cy="187451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7316" y="4251959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5916" y="4526279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Тиражируемость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5916" y="5029199"/>
            <a:ext cx="2997098" cy="960119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Готовые шаблоны участков переиспользуются при повторных выездах и учениях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6263640"/>
            <a:ext cx="104241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1E7A4B"/>
                </a:solidFill>
                <a:latin typeface="IBM Plex Sans"/>
              </a:rPr>
              <a:t>Эффект: единый вид документации по всем подразделениям и кратное сокращение времени оформления.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Программа № 3. «АРМ дежурного ВГСЧ»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42416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9FB6D8"/>
                </a:solidFill>
                <a:latin typeface="IBM Plex Sans"/>
              </a:rPr>
              <a:t>mchs-situational-monitoring — ситуационный мониторинг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42416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IBM Plex Sans"/>
              </a:rPr>
              <a:t>Назначение: автоматизированное рабочее место дежурного — ситуационный мониторинг обстановки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3113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3055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Единое окно дежурного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оперативная обстановка, дислокация отделений и состояние сил и средств на одном экране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6265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86207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Учёт событий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регистрация вызовов и выездов с автоматическим формированием хронологии происшествия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9417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59359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Сводки и отчётность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донесения и сводные формы формируются из уже введённых данных, а не набираются заново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2569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32511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Мониторинг в реальном времени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изменения видят все причастные рабочие места одновременно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5721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5663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01A40"/>
                </a:solidFill>
                <a:latin typeface="IBM Plex Sans"/>
              </a:rPr>
              <a:t>Мобильный режим — </a:t>
            </a:r>
            <a:r>
              <a:rPr sz="1500">
                <a:solidFill>
                  <a:srgbClr val="141B2A"/>
                </a:solidFill>
                <a:latin typeface="IBM Plex Sans"/>
              </a:rPr>
              <a:t>устанавливается как приложение, работает на планшете оперативного штаба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852160"/>
            <a:ext cx="10881360" cy="566928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1042416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1E7A4B"/>
                </a:solidFill>
                <a:latin typeface="IBM Plex Sans"/>
              </a:rPr>
              <a:t>Эффект: сокращение времени на подготовку донесений и повышение достоверности оперативной информации.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Сводная таблица разработанных решений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3017520"/>
                <a:gridCol w="2194560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IBM Plex Sans"/>
                        </a:rPr>
                        <a:t>Программа</a:t>
                      </a:r>
                    </a:p>
                  </a:txBody>
                  <a:tcPr anchor="ctr" marL="137160">
                    <a:solidFill>
                      <a:srgbClr val="001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IBM Plex Sans"/>
                        </a:rPr>
                        <a:t>Решаемая задача ГИО</a:t>
                      </a:r>
                    </a:p>
                  </a:txBody>
                  <a:tcPr anchor="ctr" marL="137160">
                    <a:solidFill>
                      <a:srgbClr val="001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IBM Plex Sans"/>
                        </a:rPr>
                        <a:t>Результат на выходе</a:t>
                      </a:r>
                    </a:p>
                  </a:txBody>
                  <a:tcPr anchor="ctr" marL="137160">
                    <a:solidFill>
                      <a:srgbClr val="001A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IBM Plex Sans"/>
                        </a:rPr>
                        <a:t>Состояние</a:t>
                      </a:r>
                    </a:p>
                  </a:txBody>
                  <a:tcPr anchor="ctr" marL="137160">
                    <a:solidFill>
                      <a:srgbClr val="001A4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41B2A"/>
                          </a:solidFill>
                          <a:latin typeface="IBM Plex Sans"/>
                        </a:rPr>
                        <a:t>СДС / ГИО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41B2A"/>
                          </a:solidFill>
                          <a:latin typeface="IBM Plex Sans"/>
                        </a:rPr>
                        <a:t>giosds.ru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Расчёты средств дыхательной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службы и инженерного обеспечения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Протокол расчёта,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единая методика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Опытная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эксплуатация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41B2A"/>
                          </a:solidFill>
                          <a:latin typeface="IBM Plex Sans"/>
                        </a:rPr>
                        <a:t>САУ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41B2A"/>
                          </a:solidFill>
                          <a:latin typeface="IBM Plex Sans"/>
                        </a:rPr>
                        <a:t>avaria-schema.ru</a:t>
                      </a:r>
                    </a:p>
                  </a:txBody>
                  <a:tcPr anchor="ctr" marL="13716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Оформление схем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аварийного участка</a:t>
                      </a:r>
                    </a:p>
                  </a:txBody>
                  <a:tcPr anchor="ctr" marL="13716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Схема А4,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экспорт PDF / Excel</a:t>
                      </a:r>
                    </a:p>
                  </a:txBody>
                  <a:tcPr anchor="ctr" marL="13716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Опытная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эксплуатация</a:t>
                      </a:r>
                    </a:p>
                  </a:txBody>
                  <a:tcPr anchor="ctr" marL="137160">
                    <a:solidFill>
                      <a:srgbClr val="F1F4F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41B2A"/>
                          </a:solidFill>
                          <a:latin typeface="IBM Plex Sans"/>
                        </a:rPr>
                        <a:t>АРМ дежурного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41B2A"/>
                          </a:solidFill>
                          <a:latin typeface="IBM Plex Sans"/>
                        </a:rPr>
                        <a:t>ситуац. мониторинг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Оперативный учёт обстановки,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сил и средств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Сводки, донесения,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хронология событий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Прототип,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141B2A"/>
                          </a:solidFill>
                          <a:latin typeface="IBM Plex Sans"/>
                        </a:rPr>
                        <a:t>доработка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349240"/>
            <a:ext cx="2522143" cy="12801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32120"/>
            <a:ext cx="2522143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F97316"/>
                </a:solidFill>
                <a:latin typeface="Oswald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2522143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C8D6EC"/>
                </a:solidFill>
                <a:latin typeface="IBM Plex Sans"/>
              </a:rPr>
              <a:t>действующих сервиса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6543" y="5349240"/>
            <a:ext cx="2522143" cy="12801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6543" y="5532120"/>
            <a:ext cx="2522143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F97316"/>
                </a:solidFill>
                <a:latin typeface="Oswald"/>
              </a:rPr>
              <a:t>~70%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6543" y="6126480"/>
            <a:ext cx="2522143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C8D6EC"/>
                </a:solidFill>
                <a:latin typeface="IBM Plex Sans"/>
              </a:rPr>
              <a:t>сокращение времени на документ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6" y="5349240"/>
            <a:ext cx="2522143" cy="12801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6" y="5532120"/>
            <a:ext cx="2522143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F97316"/>
                </a:solidFill>
                <a:latin typeface="Oswald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6" y="6126480"/>
            <a:ext cx="2522143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C8D6EC"/>
                </a:solidFill>
                <a:latin typeface="IBM Plex Sans"/>
              </a:rPr>
              <a:t>единообразие оформления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9469" y="5349240"/>
            <a:ext cx="2522143" cy="12801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9469" y="5532120"/>
            <a:ext cx="2522143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F97316"/>
                </a:solidFill>
                <a:latin typeface="Oswald"/>
              </a:rPr>
              <a:t>0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9469" y="6126480"/>
            <a:ext cx="2522143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C8D6EC"/>
                </a:solidFill>
                <a:latin typeface="IBM Plex Sans"/>
              </a:rPr>
              <a:t>затраты на закупку ПО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82880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200" b="1" i="0">
                <a:solidFill>
                  <a:srgbClr val="F97316"/>
                </a:solidFill>
                <a:latin typeface="Oswa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Oswald"/>
              </a:rPr>
              <a:t>ПРАКТИЧЕСКИЕ РЕЗУЛЬТАТЫ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960120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C8D6EC"/>
                </a:solidFill>
                <a:latin typeface="IBM Plex Sans"/>
              </a:rPr>
              <a:t>Что реально изменилось в работе группы инженерного обеспечения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Практический эффект применения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Скорость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От постановки задачи до работающего прототипа — 1–3 дня вместо месяцев согласования и заказной разработки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155448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8698" y="155448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Точность расчётов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33172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Формулы и коэффициенты зашиты в программу: исключены описки, потерянные множители, устаревшие таблицы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7316" y="155448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55448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1828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Единообразие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233172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Все подразделения формируют документы по одному шаблону — проверка и сопоставление упрощаются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4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7764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Доступность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5488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Веб-формат: ничего не нужно устанавливать, работает на служебном ПК, планшете и телефоне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8698" y="397764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8698" y="397764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7298" y="425196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Гибкость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7298" y="475488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Изменилась методика или форма документа — правка вносится за часы силами самого инженера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7316" y="397764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7316" y="3977640"/>
            <a:ext cx="3454298" cy="508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5916" y="425196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Передача опыта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5916" y="475488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Знания опытного специалиста фиксируются в алгоритме, а не уходят вместе с человеком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6199632"/>
            <a:ext cx="1042416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IBM Plex Sans"/>
              </a:rPr>
              <a:t>Главный результат: инженер-горноспасатель стал самостоятельным разработчиком своего рабочего инструмента.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82880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7200" b="1" i="0">
                <a:solidFill>
                  <a:srgbClr val="F97316"/>
                </a:solidFill>
                <a:latin typeface="Oswa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Oswald"/>
              </a:rPr>
              <a:t>ПРОБЛЕМЫ ПРИМЕНЕНИЯ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960120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C8D6EC"/>
                </a:solidFill>
                <a:latin typeface="IBM Plex Sans"/>
              </a:rPr>
              <a:t>Объективные ограничения при решении инженерных задач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Проблемы при решении инженерных задач с помощью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42416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9FB6D8"/>
                </a:solidFill>
                <a:latin typeface="IBM Plex Sans"/>
              </a:rPr>
              <a:t>Часть 1: содержательные риски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3677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01A40"/>
                </a:solidFill>
                <a:latin typeface="IBM Plex Sans"/>
              </a:rPr>
              <a:t>Галлюцинации — </a:t>
            </a:r>
            <a:r>
              <a:rPr sz="1400">
                <a:solidFill>
                  <a:srgbClr val="141B2A"/>
                </a:solidFill>
                <a:latin typeface="IBM Plex Sans"/>
              </a:rPr>
              <a:t>ИИ уверенно выдаёт несуществующие формулы, коэффициенты и ссылки на пункты нормативных документов. Внешне текст безупречен, по существу — вымысел.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69464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68880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01A40"/>
                </a:solidFill>
                <a:latin typeface="IBM Plex Sans"/>
              </a:rPr>
              <a:t>Незнание отраслевой нормативки — </a:t>
            </a:r>
            <a:r>
              <a:rPr sz="1400">
                <a:solidFill>
                  <a:srgbClr val="141B2A"/>
                </a:solidFill>
                <a:latin typeface="IBM Plex Sans"/>
              </a:rPr>
              <a:t>Модель обучена на общедоступных данных и не владеет действующими ФНиП, уставом ВГСЧ, ведомственными методиками и формами документов.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02152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401568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01A40"/>
                </a:solidFill>
                <a:latin typeface="IBM Plex Sans"/>
              </a:rPr>
              <a:t>Устаревание данных — </a:t>
            </a:r>
            <a:r>
              <a:rPr sz="1400">
                <a:solidFill>
                  <a:srgbClr val="141B2A"/>
                </a:solidFill>
                <a:latin typeface="IBM Plex Sans"/>
              </a:rPr>
              <a:t>ИИ может опираться на отменённые редакции документов; изменение норматива он не отслеживает.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34840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334256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01A40"/>
                </a:solidFill>
                <a:latin typeface="IBM Plex Sans"/>
              </a:rPr>
              <a:t>Отсутствие ответственности — </a:t>
            </a:r>
            <a:r>
              <a:rPr sz="1400">
                <a:solidFill>
                  <a:srgbClr val="141B2A"/>
                </a:solidFill>
                <a:latin typeface="IBM Plex Sans"/>
              </a:rPr>
              <a:t>Юридическую ответственность за расчёт и документ несёт инженер, а не программа. ИИ не является источником нормы.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6752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01A40"/>
                </a:solidFill>
                <a:latin typeface="IBM Plex Sans"/>
              </a:rPr>
              <a:t>Иллюзия правильности — </a:t>
            </a:r>
            <a:r>
              <a:rPr sz="1400">
                <a:solidFill>
                  <a:srgbClr val="141B2A"/>
                </a:solidFill>
                <a:latin typeface="IBM Plex Sans"/>
              </a:rPr>
              <a:t>Красиво оформленный результат снижает критичность восприятия — возрастает риск принять ошибку без проверки.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Проблемы при решении инженерных задач с помощью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42416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9FB6D8"/>
                </a:solidFill>
                <a:latin typeface="IBM Plex Sans"/>
              </a:rPr>
              <a:t>Часть 2: технические и организационные риски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3677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01A40"/>
                </a:solidFill>
                <a:latin typeface="IBM Plex Sans"/>
              </a:rPr>
              <a:t>Информационная безопасность — </a:t>
            </a:r>
            <a:r>
              <a:rPr sz="1400">
                <a:solidFill>
                  <a:srgbClr val="141B2A"/>
                </a:solidFill>
                <a:latin typeface="IBM Plex Sans"/>
              </a:rPr>
              <a:t>Сведения об объектах, планах ликвидации аварий и дислокации сил нельзя передавать во внешние облачные сервисы. Требуется обезличивание данных или контур внутри организации.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69464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68880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01A40"/>
                </a:solidFill>
                <a:latin typeface="IBM Plex Sans"/>
              </a:rPr>
              <a:t>Зависимость от внешней платформы — </a:t>
            </a:r>
            <a:r>
              <a:rPr sz="1400">
                <a:solidFill>
                  <a:srgbClr val="141B2A"/>
                </a:solidFill>
                <a:latin typeface="IBM Plex Sans"/>
              </a:rPr>
              <a:t>Сервис размещён на стороннем хостинге: недоступность площадки означает недоступность инструмента в нужный момент.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02152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401568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01A40"/>
                </a:solidFill>
                <a:latin typeface="IBM Plex Sans"/>
              </a:rPr>
              <a:t>Сопровождение и «владелец» продукта — </a:t>
            </a:r>
            <a:r>
              <a:rPr sz="1400">
                <a:solidFill>
                  <a:srgbClr val="141B2A"/>
                </a:solidFill>
                <a:latin typeface="IBM Plex Sans"/>
              </a:rPr>
              <a:t>Программа держится на одном специалисте. Нужны документация, резервные копии и второй подготовленный сотрудник.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34840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334256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01A40"/>
                </a:solidFill>
                <a:latin typeface="IBM Plex Sans"/>
              </a:rPr>
              <a:t>Деградация при доработках — </a:t>
            </a:r>
            <a:r>
              <a:rPr sz="1400">
                <a:solidFill>
                  <a:srgbClr val="141B2A"/>
                </a:solidFill>
                <a:latin typeface="IBM Plex Sans"/>
              </a:rPr>
              <a:t>Правка одной функции способна незаметно сломать другую — необходим регулярный контрольный прогон типовых примеров.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6752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881360" cy="5029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01A40"/>
                </a:solidFill>
                <a:latin typeface="IBM Plex Sans"/>
              </a:rPr>
              <a:t>Статус документа — </a:t>
            </a:r>
            <a:r>
              <a:rPr sz="1400">
                <a:solidFill>
                  <a:srgbClr val="141B2A"/>
                </a:solidFill>
                <a:latin typeface="IBM Plex Sans"/>
              </a:rPr>
              <a:t>Выходные формы не имеют юридической силы, пока не утверждены и не включены в документооборот установленным порядком.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Как мы снижаем риски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42416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9FB6D8"/>
                </a:solidFill>
                <a:latin typeface="IBM Plex Sans"/>
              </a:rPr>
              <a:t>Практические меры, применяемые при разработке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454298" cy="50800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Двойной контроль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Любой расчёт ИИ проверяется вручную на контрольном примере с известным ответом до ввода в работу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8698" y="155448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8698" y="1554480"/>
            <a:ext cx="3454298" cy="50800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298" y="1828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Нормативная база — от человека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233172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Формулы, коэффициенты и формы документов задаёт инженер по действующему документу, а не ИИ по памяти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7316" y="155448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7316" y="1554480"/>
            <a:ext cx="3454298" cy="50800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5916" y="1828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Обезличивание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5916" y="233172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В открытые сервисы не передаются наименования объектов и сведения ограниченного доступа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7764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77640"/>
            <a:ext cx="3454298" cy="50800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5196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Контрольные примеры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5488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Набор эталонных задач прогоняется после каждой доработки программы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68698" y="397764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8698" y="3977640"/>
            <a:ext cx="3454298" cy="50800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7298" y="425196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Постепенное внедрение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7298" y="475488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Опытная эксплуатация параллельно с существующим порядком, затем — замена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7316" y="397764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7316" y="3977640"/>
            <a:ext cx="3454298" cy="50800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5916" y="425196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Резервирование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5916" y="475488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Выгрузка данных и исходных файлов, возможность переноса сервиса на другую площадку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6199632"/>
            <a:ext cx="1042416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001A40"/>
                </a:solidFill>
                <a:latin typeface="IBM Plex Sans"/>
              </a:rPr>
              <a:t>Принцип: ИИ — инструмент ускорения, решение принимает и подписывает специалист.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Выводы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3677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1088136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B2A"/>
                </a:solidFill>
                <a:latin typeface="IBM Plex Sans"/>
              </a:rPr>
              <a:t>Применение ИИ позволило силами группы инженерного обеспечения, без привлечения программистов и закупки ПО, создать три работающих прикладных сервиса.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78024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77440"/>
            <a:ext cx="1088136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B2A"/>
                </a:solidFill>
                <a:latin typeface="IBM Plex Sans"/>
              </a:rPr>
              <a:t>Автоматизированы наиболее трудоёмкие участки: расчёты СДС и ГИО, оформление схем аварийного участка, оперативный учёт обстановки дежурным.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19272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18688"/>
            <a:ext cx="1088136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B2A"/>
                </a:solidFill>
                <a:latin typeface="IBM Plex Sans"/>
              </a:rPr>
              <a:t>Достигнуты сокращение времени подготовки документов, единообразие форм и исключение арифметических ошибок.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60520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059936"/>
            <a:ext cx="1088136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B2A"/>
                </a:solidFill>
                <a:latin typeface="IBM Plex Sans"/>
              </a:rPr>
              <a:t>Ключевое ограничение — ИИ не является источником нормативных данных и не несёт ответственности за результат; обязателен инженерный контроль.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901184"/>
            <a:ext cx="1088136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B2A"/>
                </a:solidFill>
                <a:latin typeface="IBM Plex Sans"/>
              </a:rPr>
              <a:t>Вопросы информационной безопасности требуют отдельного решения до перевода сервисов в промышленную эксплуатацию.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843016"/>
            <a:ext cx="118872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742432"/>
            <a:ext cx="1088136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41B2A"/>
                </a:solidFill>
                <a:latin typeface="IBM Plex Sans"/>
              </a:rPr>
              <a:t>Технология применима и к другим задачам ВГСЧ: учёт оснащения, подготовка личного состава, анализ выездов.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Предложения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454298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1. Опытная эксплуатация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Закрепить приказом опытную эксплуатацию сервисов СДС/ГИО и САУ в подразделениях с назначением ответственных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155448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8698" y="1554480"/>
            <a:ext cx="3454298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2. Регламент применения 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33172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Утвердить порядок: что можно и чего нельзя передавать в ИИ-сервисы, обязательная верификация расчётов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7316" y="155448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554480"/>
            <a:ext cx="3454298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182880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3. Внутренний контур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233172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Проработать размещение сервисов на ресурсах организации для работы со служебной информацией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4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77640"/>
            <a:ext cx="3454298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4. Обучение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5488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Подготовить 2–3 специалистов в каждом филиале по постановке задач ИИ и сопровождению сервисов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8698" y="397764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8698" y="3977640"/>
            <a:ext cx="3454298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7298" y="425196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5. Развитие функционала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7298" y="475488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Доработать АРМ дежурного до полноценного ситуационного мониторинга с интеграцией данных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7316" y="3977640"/>
            <a:ext cx="3454298" cy="2148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7316" y="3977640"/>
            <a:ext cx="3454298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5916" y="4251960"/>
            <a:ext cx="2997098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1A40"/>
                </a:solidFill>
                <a:latin typeface="Oswald"/>
              </a:rPr>
              <a:t>6. Тиражирование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5916" y="4754880"/>
            <a:ext cx="2997098" cy="12344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IBM Plex Sans"/>
              </a:rPr>
              <a:t>Сформировать банк типовых решений и шаблонов для использования всеми филиалами ФГУП ВГСЧ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4241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Oswald"/>
              </a:rPr>
              <a:t>Разработанные сервисы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54864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5B6472"/>
                </a:solidFill>
                <a:latin typeface="IBM Plex San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447288" cy="3291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447288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898648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001A40"/>
                </a:solidFill>
                <a:latin typeface="Oswald"/>
              </a:rPr>
              <a:t>СДС / ГИО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898648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5B6472"/>
                </a:solidFill>
                <a:latin typeface="IBM Plex Sans"/>
              </a:rPr>
              <a:t>Расчёты средств дыхательной службы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5B6472"/>
                </a:solidFill>
                <a:latin typeface="IBM Plex Sans"/>
              </a:rPr>
              <a:t>и инженерного обеспечения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977639"/>
            <a:ext cx="2898648" cy="77724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2715768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giosds.ru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1737360"/>
            <a:ext cx="3447288" cy="3291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37360"/>
            <a:ext cx="3447288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103120"/>
            <a:ext cx="2898648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001A40"/>
                </a:solidFill>
                <a:latin typeface="Oswald"/>
              </a:rPr>
              <a:t>САУ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743200"/>
            <a:ext cx="2898648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5B6472"/>
                </a:solidFill>
                <a:latin typeface="IBM Plex Sans"/>
              </a:rPr>
              <a:t>Схема аварийного участка,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5B6472"/>
                </a:solidFill>
                <a:latin typeface="IBM Plex Sans"/>
              </a:rPr>
              <a:t>экспорт PDF и Excel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8" y="3977639"/>
            <a:ext cx="2898648" cy="77724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4114800"/>
            <a:ext cx="2715768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avaria-schema.ru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737360"/>
            <a:ext cx="3447288" cy="32918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737360"/>
            <a:ext cx="3447288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2103120"/>
            <a:ext cx="2898648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001A40"/>
                </a:solidFill>
                <a:latin typeface="Oswald"/>
              </a:rPr>
              <a:t>АРМ дежурного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2743200"/>
            <a:ext cx="2898648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5B6472"/>
                </a:solidFill>
                <a:latin typeface="IBM Plex Sans"/>
              </a:rPr>
              <a:t>Ситуационный мониторинг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5B6472"/>
                </a:solidFill>
                <a:latin typeface="IBM Plex Sans"/>
              </a:rPr>
              <a:t>обстановки, сил и средств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57616" y="3977639"/>
            <a:ext cx="2898648" cy="77724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49056" y="4114800"/>
            <a:ext cx="2715768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mchs-situational-monitoring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IBM Plex Sans"/>
              </a:rPr>
              <a:t>--preview.poehali.dev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Oswald"/>
              </a:rPr>
              <a:t>СПАСИБО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292608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0" i="0">
                <a:solidFill>
                  <a:srgbClr val="C8D6EC"/>
                </a:solidFill>
                <a:latin typeface="IBM Plex Sans"/>
              </a:rPr>
              <a:t>Группа инженерного обеспечения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0" i="0">
                <a:solidFill>
                  <a:srgbClr val="C8D6EC"/>
                </a:solidFill>
                <a:latin typeface="IBM Plex Sans"/>
              </a:rPr>
              <a:t>ФГУП «ВГСЧ» МЧС России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