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00000" cy="6858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00000" y="0"/>
            <a:ext cx="43200" cy="6858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00" y="1512000"/>
            <a:ext cx="3251489" cy="32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5112000"/>
            <a:ext cx="3671999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ФГУП «ВГСЧ»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Копейский ВГСО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0000" y="1296000"/>
            <a:ext cx="640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ДОКЛАД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0" y="1655999"/>
            <a:ext cx="6408000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Обзор программных комплексов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для проведения инженерных расчётов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5220000" y="3060000"/>
            <a:ext cx="1620000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0" y="3348000"/>
            <a:ext cx="6408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C8D8EE"/>
                </a:solidFill>
                <a:latin typeface="Arial"/>
              </a:rPr>
              <a:t>предусмотренных пунктом 26 Федеральных норм и правил в области промышленной безопасности «Инструкция по локализации и ликвидации последствий аварий на опасных производственных объектах, на которых ведутся горные работы»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0000" y="4824000"/>
            <a:ext cx="6408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5C142"/>
                </a:solidFill>
                <a:latin typeface="Arial"/>
              </a:rPr>
              <a:t>Утв. приказом Ростехнадзора от 11.12.2020 № 520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F5C142"/>
                </a:solidFill>
                <a:latin typeface="Arial"/>
              </a:rPr>
              <a:t>(в ред. приказа от 20.02.2026 № 49)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0" y="5903999"/>
            <a:ext cx="640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9FB8D8"/>
                </a:solidFill>
                <a:latin typeface="Arial"/>
              </a:rPr>
              <a:t>АэроСеть · Вентиляция · ПВ-Система · MineFrame · Ventsim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ПЛАН ВЫСТУПЛЕНИЯ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Содержание доклада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Структура и логика изложения материала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548000"/>
            <a:ext cx="10440000" cy="4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1. Нормативная база. </a:t>
            </a:r>
            <a:r>
              <a:rPr sz="1550">
                <a:solidFill>
                  <a:srgbClr val="3A4657"/>
                </a:solidFill>
                <a:latin typeface="Arial"/>
              </a:rPr>
              <a:t>Пункт 26 и Приложение № 11 Инструкции № 520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2. Какие расчёты </a:t>
            </a:r>
            <a:r>
              <a:rPr sz="1550">
                <a:solidFill>
                  <a:srgbClr val="3A4657"/>
                </a:solidFill>
                <a:latin typeface="Arial"/>
              </a:rPr>
              <a:t>должны выполняться при ликвидации аварий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3. Обзор рынка </a:t>
            </a:r>
            <a:r>
              <a:rPr sz="1550">
                <a:solidFill>
                  <a:srgbClr val="3A4657"/>
                </a:solidFill>
                <a:latin typeface="Arial"/>
              </a:rPr>
              <a:t>отечественного и зарубежного ПО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4. АэроСеть — </a:t>
            </a:r>
            <a:r>
              <a:rPr sz="1550">
                <a:solidFill>
                  <a:srgbClr val="3A4657"/>
                </a:solidFill>
                <a:latin typeface="Arial"/>
              </a:rPr>
              <a:t>возможности, плюсы и минусы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5. «Вентиляция» (Шахтэксперт-Системы) — </a:t>
            </a:r>
            <a:r>
              <a:rPr sz="1550">
                <a:solidFill>
                  <a:srgbClr val="3A4657"/>
                </a:solidFill>
                <a:latin typeface="Arial"/>
              </a:rPr>
              <a:t>анализ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6. ПВ-Система — </a:t>
            </a:r>
            <a:r>
              <a:rPr sz="1550">
                <a:solidFill>
                  <a:srgbClr val="3A4657"/>
                </a:solidFill>
                <a:latin typeface="Arial"/>
              </a:rPr>
              <a:t>специализированное ПО для ВГСЧ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7. Дополнительные комплексы: </a:t>
            </a:r>
            <a:r>
              <a:rPr sz="1550">
                <a:solidFill>
                  <a:srgbClr val="3A4657"/>
                </a:solidFill>
                <a:latin typeface="Arial"/>
              </a:rPr>
              <a:t>MineFrame, Ventsim, VentPRO, АРМ ВТБ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8. Сравнительная таблица </a:t>
            </a:r>
            <a:r>
              <a:rPr sz="1550">
                <a:solidFill>
                  <a:srgbClr val="3A4657"/>
                </a:solidFill>
                <a:latin typeface="Arial"/>
              </a:rPr>
              <a:t>по критериям выбора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9. Импортозамещение </a:t>
            </a:r>
            <a:r>
              <a:rPr sz="1550">
                <a:solidFill>
                  <a:srgbClr val="3A4657"/>
                </a:solidFill>
                <a:latin typeface="Arial"/>
              </a:rPr>
              <a:t>и реестр отечественного ПО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50" b="1">
                <a:solidFill>
                  <a:srgbClr val="F5C142"/>
                </a:solidFill>
                <a:latin typeface="Arial"/>
              </a:rPr>
              <a:t>›  </a:t>
            </a:r>
            <a:r>
              <a:rPr sz="1550" b="1">
                <a:solidFill>
                  <a:srgbClr val="0B1E3D"/>
                </a:solidFill>
                <a:latin typeface="Arial"/>
              </a:rPr>
              <a:t>10. Выводы и рекомендации </a:t>
            </a:r>
            <a:r>
              <a:rPr sz="1550">
                <a:solidFill>
                  <a:srgbClr val="3A4657"/>
                </a:solidFill>
                <a:latin typeface="Arial"/>
              </a:rPr>
              <a:t>для подразделений ВГСЧ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1548000"/>
            <a:ext cx="50400" cy="4320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1 · НОРМАТИВНАЯ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Нормативная основа доклада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ФНП «Инструкция по локализации и ликвидации последствий аварий на ОПО, на которых ведутся горные работы»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48000"/>
            <a:ext cx="5400000" cy="2232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48000"/>
            <a:ext cx="50400" cy="2232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" y="1692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Приказ Ростехнадзора № 520 от 11.12.2020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2016000"/>
            <a:ext cx="504000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Зарегистрирован в Минюсте России 21.12.2020, рег. № 61628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Действующая редакция — приказ от 20.02.2026 № 49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Распространяется на ОПО подземных и открытых горных работ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Определяет порядок разработки оперативных планов (ОП) по локализации и ликвидации последствий аварий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548000"/>
            <a:ext cx="5400000" cy="2232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548000"/>
            <a:ext cx="50400" cy="2232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999" y="1692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Пункт 26 — инженерные расчёты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999" y="2016000"/>
            <a:ext cx="504000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Обязывает при разработке оперативного плана выполнять инженерные расчёты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Перечень и методики — Приложение № 11 к Инструкции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Расчёты выполняются техническим отделением / службой ВГСЧ на командном пункте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Результаты прикладываются к оперативному плану и фиксируются в оперативном журнале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4031999"/>
            <a:ext cx="11088000" cy="1224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4230000"/>
            <a:ext cx="10584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FFFFFF"/>
                </a:solidFill>
                <a:latin typeface="Arial"/>
              </a:rPr>
              <a:t>Ключевое требование: расчёты должны выполняться ОПЕРАТИВНО — в условиях дефицита времени, неполноты исходных данных и высокой цены ошибки. Ручной счёт по формулам Приложения № 11 занимает часы. Отсюда — необходимость аттестованных программных средств.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5400000"/>
            <a:ext cx="1108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7A8899"/>
                </a:solidFill>
                <a:latin typeface="Arial"/>
              </a:rPr>
              <a:t>Смежные НПА: ФНП «Правила безопасности в угольных шахтах» (№ 507), «Инструкция по аэрологической безопасности угольных шахт» (№ 506), ФНП для рудников (№ 505), Федеральный закон № 116-ФЗ.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2 · СОСТАВ РАСЧЁТОВ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Приложение № 11: перечень инженерных расчётов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Что именно требует нормативный документ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12000"/>
            <a:ext cx="11088000" cy="99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12000"/>
            <a:ext cx="792000" cy="990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1782000"/>
            <a:ext cx="7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8000" y="1674000"/>
            <a:ext cx="345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Расчёт взрывоопасности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рудничной атмосферы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000" y="1710000"/>
            <a:ext cx="626399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Оценка состава пожарных газов (CH₄, H₂, CO, O₂, N₂) по треугольнику Коуарда / диаграмме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Эллиота–Ламберта. Определение категории взрывоопасности и допустимости работ.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" y="2610000"/>
            <a:ext cx="11088000" cy="99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610000"/>
            <a:ext cx="792000" cy="990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2880000"/>
            <a:ext cx="7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8000" y="2772000"/>
            <a:ext cx="345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Расчёт проёмов в изоляционных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перемычках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000" y="2808000"/>
            <a:ext cx="626399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Определение площади окна, обеспечивающей требуемое проветривание аварийного участка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и безопасный режим при изоляции пожара.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" y="3708000"/>
            <a:ext cx="11088000" cy="99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00" y="3708000"/>
            <a:ext cx="792000" cy="990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00" y="3978000"/>
            <a:ext cx="7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8000" y="3870000"/>
            <a:ext cx="345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Расчёт параметров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водоупорных перемычек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000" y="3906000"/>
            <a:ext cx="626399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Определение толщины, глубины врубов, прочности перемычки при прорыве воды,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рассола, заиловочной пульпы и обводнённой горной массы.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" y="4806000"/>
            <a:ext cx="11088000" cy="99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00" y="4806000"/>
            <a:ext cx="792000" cy="9900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00" y="5076000"/>
            <a:ext cx="7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8000" y="4968000"/>
            <a:ext cx="345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Расчёт взрывоопасности рудничной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атмосферы нефтяных шахт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000" y="5004000"/>
            <a:ext cx="626399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Учёт углеводородов нефтяного ряда, специфика термошахтной добычи,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НКПР смеси по правилу Ле-Шателье.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6083999"/>
            <a:ext cx="11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7A8899"/>
                </a:solidFill>
                <a:latin typeface="Arial"/>
              </a:rPr>
              <a:t>Дополнительно на практике требуются: расчёт устойчивости проветривания, депрессии пожара, тепловых режимов, времени загазирования выработок, расхода огнетушащих средств и инертных газов.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2 · ПОСТАНОВКА 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Почему нужны программные комплексы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Ограничения ручного счёта в условиях аварии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48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48000"/>
            <a:ext cx="3546000" cy="468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1799999"/>
            <a:ext cx="309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E3D"/>
                </a:solidFill>
                <a:latin typeface="Arial"/>
              </a:rPr>
              <a:t>Фактор времени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2232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Ручной расчёт треугольника взрывоопасности — 20–40 мин. на одну пробу. При аварии проб десятки, счёт идёт непрерывно.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7999" y="1548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7999" y="1548000"/>
            <a:ext cx="3546000" cy="468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999" y="1799999"/>
            <a:ext cx="309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E3D"/>
                </a:solidFill>
                <a:latin typeface="Arial"/>
              </a:rPr>
              <a:t>Сложность сети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999" y="2232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Вентиляционная сеть шахты — сотни и тысячи ветвей. Аналитический расчёт воздухораспределения невозможен без ЭВМ.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9998" y="1548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9998" y="1548000"/>
            <a:ext cx="3546000" cy="468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5998" y="1799999"/>
            <a:ext cx="309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E3D"/>
                </a:solidFill>
                <a:latin typeface="Arial"/>
              </a:rPr>
              <a:t>Цена ошибки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998" y="2232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Ошибка в оценке взрывоопасности — гибель горноспасательного отделения. Требуется верифицированный алгоритм.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00" y="3744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744000"/>
            <a:ext cx="3546000" cy="468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3995999"/>
            <a:ext cx="309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E3D"/>
                </a:solidFill>
                <a:latin typeface="Arial"/>
              </a:rPr>
              <a:t>Документирование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000" y="4428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Результаты должны быть оформлены, приложены к ОП, храниться и предъявляться надзору и комиссии по расследованию.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7999" y="3744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7999" y="3744000"/>
            <a:ext cx="3546000" cy="468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999" y="3995999"/>
            <a:ext cx="309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E3D"/>
                </a:solidFill>
                <a:latin typeface="Arial"/>
              </a:rPr>
              <a:t>Прогноз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999" y="4428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Необходимо моделировать «что будет, если» — реверс, закорачивание, изоляция, вариантные проработки ОП.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9998" y="3744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9998" y="3744000"/>
            <a:ext cx="3546000" cy="468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5998" y="3995999"/>
            <a:ext cx="309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B1E3D"/>
                </a:solidFill>
                <a:latin typeface="Arial"/>
              </a:rPr>
              <a:t>Обучение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998" y="4428000"/>
            <a:ext cx="3096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Тренировки, учения, подготовка респираторщиков и ИТР шахт требуют воспроизводимого расчётного инструмента.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3 · ЛАНДШАФТ РЕШЕНИЙ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Обзор рынка расчётного ПО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Отечественные и зарубежные решения, применимые для задач ВГСЧ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1548000"/>
            <a:ext cx="11196000" cy="396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998" y="1656000"/>
            <a:ext cx="205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Продукт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1999" y="1656000"/>
            <a:ext cx="32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Разработчик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999" y="1656000"/>
            <a:ext cx="39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Назначение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5999" y="1656000"/>
            <a:ext cx="126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Страна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1944000"/>
            <a:ext cx="11196000" cy="57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998" y="2069999"/>
            <a:ext cx="20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АэроСеть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1999" y="2069999"/>
            <a:ext cx="3204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ООО «Аэрология горных предприятий» / ГИ УрО РАН, Пермь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999" y="2069999"/>
            <a:ext cx="39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Расчёт вентиляционных сетей, аварийные режимы, тепло- и газодинамика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5999" y="2069999"/>
            <a:ext cx="12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Россия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999" y="2520000"/>
            <a:ext cx="11196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998" y="2645999"/>
            <a:ext cx="20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«Вентиляция»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1999" y="2645999"/>
            <a:ext cx="3204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ООО «Шахтэксперт-Системы», Кемерово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999" y="2645999"/>
            <a:ext cx="39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Аэрологические расчёты, депрессионные съёмки, ПЛА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5999" y="2645999"/>
            <a:ext cx="12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Россия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999" y="3096000"/>
            <a:ext cx="11196000" cy="57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998" y="3221999"/>
            <a:ext cx="20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ПВ-Система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1999" y="3221999"/>
            <a:ext cx="3204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Специализированный комплекс для ВГСЧ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999" y="3221999"/>
            <a:ext cx="39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Расчёты Приложения № 11: взрывоопасность, перемычки, гидравлика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5999" y="3221999"/>
            <a:ext cx="12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Россия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672000"/>
            <a:ext cx="11196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998" y="3797999"/>
            <a:ext cx="20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MineFrame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1999" y="3797999"/>
            <a:ext cx="3204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ГоИ КНЦ РАН, Апатиты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999" y="3797999"/>
            <a:ext cx="39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Горно-геологическая ИС с вентиляционным модулем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5999" y="3797999"/>
            <a:ext cx="12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Россия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3999" y="4248000"/>
            <a:ext cx="11196000" cy="57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998" y="4373999"/>
            <a:ext cx="20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АРМ ВТБ / «Вентиляция-Л»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61999" y="4373999"/>
            <a:ext cx="3204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Отраслевые разработки НЦ ВостНИИ, МакНИИ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999" y="4373999"/>
            <a:ext cx="39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Рабочее место участка ВТБ, расчёт депрессии и ПЛА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5999" y="4373999"/>
            <a:ext cx="12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Россия / СНГ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3999" y="4824000"/>
            <a:ext cx="11196000" cy="57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998" y="4949999"/>
            <a:ext cx="20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Ventsim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61999" y="4949999"/>
            <a:ext cx="3204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Howden / Chasm Consulting, Австралия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999" y="4949999"/>
            <a:ext cx="39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3D-моделирование вентиляции, пожарные и тепловые режимы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85999" y="4949999"/>
            <a:ext cx="12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Зарубеж.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3999" y="5400000"/>
            <a:ext cx="11196000" cy="57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998" y="5525999"/>
            <a:ext cx="2052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VentPRO / VUMA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61999" y="5525999"/>
            <a:ext cx="3204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ЮАР, Австралия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999" y="5525999"/>
            <a:ext cx="39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Вентиляция и климат глубоких рудников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85999" y="5525999"/>
            <a:ext cx="126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3A4657"/>
                </a:solidFill>
                <a:latin typeface="Arial"/>
              </a:rPr>
              <a:t>Зарубеж.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4 · АЭРОСЕТЬ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Программный комплекс «АэроСеть»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Разработчик: ООО «Аэрология горных предприятий» (г. Пермь), при участии Горного института УрО РАН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12000"/>
            <a:ext cx="5400000" cy="19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12000"/>
            <a:ext cx="50400" cy="194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" y="1656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Назначение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1980000"/>
            <a:ext cx="5040000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Моделирование и расчёт вентиляционных сетей шахт и рудников любой топологии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Расчёт воздухораспределения, депрессии, естественной тяги, работы ГВУ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Моделирование аварийных вентиляционных режимов, в т.ч. реверсирования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512000"/>
            <a:ext cx="5400000" cy="19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512000"/>
            <a:ext cx="50400" cy="1944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999" y="1656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Ключевые модули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999" y="1980000"/>
            <a:ext cx="5040000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Аэродинамика сети, тепловые и газовые расчёты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Распространение продуктов горения и пыли при пожаре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Расчёт путей и времени вывода людей, зоны поражения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Импорт из AutoCAD/MicroMine, связь с системами АГК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671999"/>
            <a:ext cx="5376059" cy="226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" y="3671999"/>
            <a:ext cx="50400" cy="2268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000" y="3815999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✔  Преимущества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000" y="4139999"/>
            <a:ext cx="5016059" cy="16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Наиболее полный отечественный расчёт вентиляционных сетей — тысячи ветвей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Реализован расчёт аварийных режимов и динамики загазирования — прямая польза для ОП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Включён в Реестр российского ПО, активно развивается, регулярные обновления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Внедрён на большинстве крупных угольных и рудных предприятий РФ (СУЭК, ЕВРАЗ, Норникель)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Есть учебные курсы и техническая поддержка разработчика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0059" y="3671999"/>
            <a:ext cx="5376059" cy="226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0059" y="3671999"/>
            <a:ext cx="50400" cy="22680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059" y="3815999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✖  Ограничения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059" y="4139999"/>
            <a:ext cx="5016059" cy="16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Высокая стоимость лицензии и сопровождения — ощутимо для бюджета подразделения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Требует построения и постоянной актуализации цифровой модели сети шахты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Порог вхождения: нужен подготовленный инженер-аэролог, обучение 3–5 дней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Нацелен на службу ВТБ предприятия, а не на оперативную работу на командном пункте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Расчёты Приложения № 11 (перемычки, треугольник взрывоопасности) представлены не в полном объёме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4 · АЭРОСЕТЬ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«АэроСеть»: применение в задачах ВГСЧ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Где комплекс даёт максимальный эффект при ликвидации аварии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48000"/>
            <a:ext cx="11088000" cy="10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48000"/>
            <a:ext cx="57600" cy="1044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" y="1710000"/>
            <a:ext cx="324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0B1E3D"/>
                </a:solidFill>
                <a:latin typeface="Arial"/>
              </a:rPr>
              <a:t>Разработка ПЛА и ОП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0" y="1764000"/>
            <a:ext cx="7128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A4657"/>
                </a:solidFill>
                <a:latin typeface="Arial"/>
              </a:rPr>
              <a:t>Проработка вариантов аварийных вентиляционных режимов заранее, в мирное время; проверка реализуемости позиций ПЛА.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2700000"/>
            <a:ext cx="11088000" cy="10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00" y="2700000"/>
            <a:ext cx="57600" cy="104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000" y="2862000"/>
            <a:ext cx="324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0B1E3D"/>
                </a:solidFill>
                <a:latin typeface="Arial"/>
              </a:rPr>
              <a:t>Оценка режима проветривания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0" y="2916000"/>
            <a:ext cx="7128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A4657"/>
                </a:solidFill>
                <a:latin typeface="Arial"/>
              </a:rPr>
              <a:t>Расчёт последствий реверса, закорачивания струи, остановки ГВУ; прогноз загазирования и зон поражения.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852000"/>
            <a:ext cx="11088000" cy="10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" y="3852000"/>
            <a:ext cx="57600" cy="1044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000" y="4014000"/>
            <a:ext cx="324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0B1E3D"/>
                </a:solidFill>
                <a:latin typeface="Arial"/>
              </a:rPr>
              <a:t>Изоляция аварийного участка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0" y="4068000"/>
            <a:ext cx="7128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A4657"/>
                </a:solidFill>
                <a:latin typeface="Arial"/>
              </a:rPr>
              <a:t>Оценка влияния возводимых перемычек на распределение воздуха в сети шахты.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00" y="5004000"/>
            <a:ext cx="11088000" cy="10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5004000"/>
            <a:ext cx="57600" cy="10440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000" y="5166000"/>
            <a:ext cx="324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0B1E3D"/>
                </a:solidFill>
                <a:latin typeface="Arial"/>
              </a:rPr>
              <a:t>Маршруты вывода людей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0" y="5220000"/>
            <a:ext cx="7128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A4657"/>
                </a:solidFill>
                <a:latin typeface="Arial"/>
              </a:rPr>
              <a:t>Расчёт времени движения по выработкам и сопоставление со временем защитного действия самоспасателя.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6120000"/>
            <a:ext cx="11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0B1E3D"/>
                </a:solidFill>
                <a:latin typeface="Arial"/>
              </a:rPr>
              <a:t>Вывод: «АэроСеть» — сильный инструмент вентиляционного анализа, но для полного закрытия п. 26 требует дополнения расчётами взрывоопасности и параметров перемычек.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5 · «ВЕНТИЛЯЦИЯ»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Программный комплекс «Вентиляция»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ООО «Шахтэксперт-Системы» (г. Кемерово) — семейство отраслевых расчётных программ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12000"/>
            <a:ext cx="5400000" cy="19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12000"/>
            <a:ext cx="50400" cy="194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" y="1656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Состав и возможности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1980000"/>
            <a:ext cx="5040000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Построение схемы вентиляции шахты, расчёт воздухораспределения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Обработка депрессионных и газовых съёмок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Расчёт количества воздуха по выемочным участкам и по шахте в целом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Формирование вентиляционных планов и отчётных документов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512000"/>
            <a:ext cx="5400000" cy="19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512000"/>
            <a:ext cx="50400" cy="1944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999" y="1656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Смежные продукты линейки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999" y="1980000"/>
            <a:ext cx="5040000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«Аэрология» / «Прогноз» — прогноз метанообильности и дегазация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«Пожар», «ПЛА» — модули аварийных режимов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Интеграция с графикой горных работ и маркшейдерскими планами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671999"/>
            <a:ext cx="5376059" cy="226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" y="3671999"/>
            <a:ext cx="50400" cy="2268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000" y="3815999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✔  Преимущества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000" y="4139999"/>
            <a:ext cx="5016059" cy="16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Ориентирован на реальную отчётность службы ВТБ угольных шахт — готовые формы документов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Существенно ниже стоимость по сравнению с комплексными 3D-системами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Простой интерфейс, невысокие требования к ПК, быстрый ввод в эксплуатацию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Многолетняя практика применения на шахтах Кузбасса, методики согласованы с отраслевыми НИИ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Хорошо решает задачи депрессионных съёмок и нормирования воздуха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0059" y="3671999"/>
            <a:ext cx="5376059" cy="226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0059" y="3671999"/>
            <a:ext cx="50400" cy="22680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059" y="3815999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✖  Ограничения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059" y="4139999"/>
            <a:ext cx="5016059" cy="16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Более узкая функциональность: 3D-визуализация и динамика пожара развиты слабее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Аварийные и тепловые режимы моделируются упрощённо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Слабая интеграция с современными ГГИС и системами АГК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Ориентация преимущественно на угольные шахты; для рудников адаптация ограничена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Расчёты Приложения № 11 покрываются частично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6 · ПВ-СИСТЕМА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Программный комплекс «ПВ-Система»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Специализированное решение для инженерных расчётов горноспасательных работ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12000"/>
            <a:ext cx="5400000" cy="19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12000"/>
            <a:ext cx="50400" cy="194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" y="1656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Назначение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1980000"/>
            <a:ext cx="5040000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Прямая реализация методик Приложения № 11 Инструкции № 520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Работа инженера технического отделения на командном пункте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Автоматическое формирование расчётных листов к оперативному плану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512000"/>
            <a:ext cx="5400000" cy="194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512000"/>
            <a:ext cx="50400" cy="1944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999" y="1656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Расчётные модули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999" y="1980000"/>
            <a:ext cx="5040000" cy="13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Взрывоопасность рудничной атмосферы (треугольник Коуарда, Ле-Шателье)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Взрывоопасность атмосферы нефтяных шахт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Проёмы в изоляционных перемычках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Параметры водоупорных перемычек, гидравлика прорыва воды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Аэродинамика участка сети, расчёт сил и средств ВГСЧ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671999"/>
            <a:ext cx="5376059" cy="226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" y="3671999"/>
            <a:ext cx="50400" cy="2268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000" y="3815999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✔  Преимущества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000" y="4139999"/>
            <a:ext cx="5016059" cy="16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Единственный класс ПО, покрывающий ВСЕ четыре расчёта Приложения № 11 «под ключ»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Заточен под регламент работы ВГСЧ, а не под службу ВТБ предприятия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Минимальные исходные данные — работает по данным газового анализа и замеров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Скорость: результат по пробе за секунды, без построения модели всей шахты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Автоматический протокол расчёта с формулами и ссылками на пункты НПА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Отечественная разработка, работа в закрытом контуре / офлайн, импортонезависимость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0059" y="3671999"/>
            <a:ext cx="5376059" cy="226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0059" y="3671999"/>
            <a:ext cx="50400" cy="22680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059" y="3815999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✖  Ограничения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059" y="4139999"/>
            <a:ext cx="5016059" cy="16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Не заменяет полноценный сетевой расчёт вентиляции всей шахты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Нет 3D-визуализации горных выработок и анимации распространения пожара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Требует корректных и свежих данных газового анализа — «мусор на входе = мусор на выходе»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Необходимо обучение персонала интерпретации результатов, программа не снимает ответственность с РГСР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Экосистема интеграций пока уже, чем у крупных ГГИС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6 · ПВ-СИСТЕМА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«ПВ-Система»: типовой сценарий применения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От отбора пробы до решения руководителя горноспасательных работ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872000"/>
            <a:ext cx="1764000" cy="309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872000"/>
            <a:ext cx="1764000" cy="540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1998000"/>
            <a:ext cx="176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5C142"/>
                </a:solidFill>
                <a:latin typeface="Arial"/>
              </a:rPr>
              <a:t>ШАГ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000" y="2592000"/>
            <a:ext cx="14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Отбор пробы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000" y="3311999"/>
            <a:ext cx="144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Отделение ВГСЧ отбирает пробу рудничной атмосферы за перемычкой / в зоне пожара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8000" y="1872000"/>
            <a:ext cx="1764000" cy="309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48000" y="1872000"/>
            <a:ext cx="1764000" cy="540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8000" y="1998000"/>
            <a:ext cx="176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5C142"/>
                </a:solidFill>
                <a:latin typeface="Arial"/>
              </a:rPr>
              <a:t>ШАГ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0000" y="2592000"/>
            <a:ext cx="14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Газовый анализ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0000" y="3311999"/>
            <a:ext cx="144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Лаборатория определяет содержание CH₄, H₂, CO, CO₂, O₂, N₂, C₂H₄, C₂H₂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0" y="1872000"/>
            <a:ext cx="1764000" cy="309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000" y="1872000"/>
            <a:ext cx="1764000" cy="540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0" y="1998000"/>
            <a:ext cx="176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5C142"/>
                </a:solidFill>
                <a:latin typeface="Arial"/>
              </a:rPr>
              <a:t>ШАГ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2000" y="2592000"/>
            <a:ext cx="14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Ввод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2000" y="3311999"/>
            <a:ext cx="144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Инженер вводит состав пробы, температуру и параметры участка в программу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2000" y="1872000"/>
            <a:ext cx="1764000" cy="309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2000" y="1872000"/>
            <a:ext cx="1764000" cy="540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2000" y="1998000"/>
            <a:ext cx="176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5C142"/>
                </a:solidFill>
                <a:latin typeface="Arial"/>
              </a:rPr>
              <a:t>ШАГ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4000" y="2592000"/>
            <a:ext cx="14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Расчёт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4000" y="3311999"/>
            <a:ext cx="144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Автоматическое построение треугольника взрывоопасности, оценка НКПР/ВКПР, категория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4000" y="1872000"/>
            <a:ext cx="1764000" cy="309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4000" y="1872000"/>
            <a:ext cx="1764000" cy="540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4000" y="1998000"/>
            <a:ext cx="176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5C142"/>
                </a:solidFill>
                <a:latin typeface="Arial"/>
              </a:rPr>
              <a:t>ШАГ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6000" y="2592000"/>
            <a:ext cx="14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Протокол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6000" y="3311999"/>
            <a:ext cx="144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Формирование расчётного листа с формулами, графиком и выводом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36000" y="1872000"/>
            <a:ext cx="1764000" cy="309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6000" y="1872000"/>
            <a:ext cx="1764000" cy="540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6000" y="1998000"/>
            <a:ext cx="176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5C142"/>
                </a:solidFill>
                <a:latin typeface="Arial"/>
              </a:rPr>
              <a:t>ШАГ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98000" y="2592000"/>
            <a:ext cx="14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0B1E3D"/>
                </a:solidFill>
                <a:latin typeface="Arial"/>
              </a:rPr>
              <a:t>Решение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8000" y="3311999"/>
            <a:ext cx="144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РГСР принимает решение о допуске людей, изоляции или продолжении тушения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00" y="5256000"/>
            <a:ext cx="11088000" cy="792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999" y="5418000"/>
            <a:ext cx="10584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Контрольное время всего цикла — единицы минут вместо десятков. Это и есть требование оперативности п. 26 Инструкции № 520.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7 · ДОПОЛНИТЕЛЬНО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Дополнительные комплексы: MineFrame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Горно-геологическая информационная система, ГоИ КНЦ РАН (г. Апатиты)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12000"/>
            <a:ext cx="11088000" cy="1512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12000"/>
            <a:ext cx="50400" cy="1512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" y="1656000"/>
            <a:ext cx="1072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Возможности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1980000"/>
            <a:ext cx="10728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Единая 3D-модель месторождения, горных выработок и горно-технических объектов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Модуль расчёта вентиляции: воздухораспределение, депрессия, аварийные режимы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Планирование горных работ, устойчивость бортов и целиков, буровзрывные работы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3240000"/>
            <a:ext cx="5376059" cy="266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00" y="3240000"/>
            <a:ext cx="50400" cy="2664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000" y="3384000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✔  Преимущества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000" y="3708000"/>
            <a:ext cx="5016059" cy="20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Полностью отечественная разработка академического уровня, в Реестре российского ПО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3D-модель выработок помогает наглядно планировать маршруты движения отделений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Единая среда: геология + маркшейдерия + вентиляция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Применяется на рудниках АО «Апатит», «Норникель», КМА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059" y="3240000"/>
            <a:ext cx="5376059" cy="266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0059" y="3240000"/>
            <a:ext cx="50400" cy="26640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8059" y="3384000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✖  Ограничения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059" y="3708000"/>
            <a:ext cx="5016059" cy="20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Избыточна для задач ВГСЧ — это система планирования горных работ, а не расчёта аварий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Высокая стоимость и трудоёмкое внедрение, нужны квалифицированные операторы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Расчёты Приложения № 11 напрямую не реализованы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Сильная зависимость от качества исходной цифровой модели предприятия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7 · ДОПОЛНИТЕЛЬНО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Зарубежные комплексы: Ventsim DESIGN, VentPRO, VUMA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Технически сильные решения с принципиальными ограничениями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12000"/>
            <a:ext cx="5400000" cy="1655999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12000"/>
            <a:ext cx="50400" cy="1655999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" y="1656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Ventsim DESIGN (Howden, Австралия)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1980000"/>
            <a:ext cx="5040000" cy="1079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4B5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3D-моделирование вентиляции в реальном времени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4B5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Модули пожара (Fire), тепла (Thermodynamic), газов (Contaminant)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4B5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Динамическое моделирование распространения дыма и 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512000"/>
            <a:ext cx="5400000" cy="1655999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512000"/>
            <a:ext cx="50400" cy="1655999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999" y="1656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VUMA / VentPRO (ЮАР, Австралия)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999" y="1980000"/>
            <a:ext cx="5040000" cy="1079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4B5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Расчёт климатических параметров глубоких рудников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4B5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Оптимизация систем охлаждения и вентиляции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4B5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Энергетический аудит вентиляционных установок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384000"/>
            <a:ext cx="5376059" cy="252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" y="3384000"/>
            <a:ext cx="50400" cy="2520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000" y="3528000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✔  Преимущества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000" y="3852000"/>
            <a:ext cx="501605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Лучшая в классе визуализация и удобство моделирования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Продвинутая физика: тепло-, массоперенос, динамика пожара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E8E5A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Широкая международная практика и верификация на реальных авариях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0059" y="3384000"/>
            <a:ext cx="5376059" cy="252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0059" y="3384000"/>
            <a:ext cx="50400" cy="25200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059" y="3528000"/>
            <a:ext cx="501605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✖  Ограничения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059" y="3852000"/>
            <a:ext cx="5016059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Не соответствуют российским методикам и формам документов Приложения № 11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Санкционные и лицензионные риски: невозможность продления, обновления и поддержки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Противоречие политике импортозамещения; отсутствие в Реестре российского ПО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Валютная стоимость лицензий, проблемы оплаты и юридического сопровождения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C72B2B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Неприемлемы для работы с данными ограниченного доступа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8 · СРАВНЕНИЕ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Сравнительная таблица программных комплексов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Оценка по ключевым для ВГСЧ критериям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512000"/>
            <a:ext cx="11196000" cy="432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000" y="1637999"/>
            <a:ext cx="295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5C142"/>
                </a:solidFill>
                <a:latin typeface="Arial"/>
              </a:rPr>
              <a:t>Критерий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000" y="1637999"/>
            <a:ext cx="14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5C142"/>
                </a:solidFill>
                <a:latin typeface="Arial"/>
              </a:rPr>
              <a:t>АэроСеть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000" y="1637999"/>
            <a:ext cx="14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5C142"/>
                </a:solidFill>
                <a:latin typeface="Arial"/>
              </a:rPr>
              <a:t>«Вентиляция»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6000" y="1637999"/>
            <a:ext cx="14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5C142"/>
                </a:solidFill>
                <a:latin typeface="Arial"/>
              </a:rPr>
              <a:t>ПВ-Система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6000" y="1637999"/>
            <a:ext cx="14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5C142"/>
                </a:solidFill>
                <a:latin typeface="Arial"/>
              </a:rPr>
              <a:t>MineFrame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6000" y="1637999"/>
            <a:ext cx="147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F5C142"/>
                </a:solidFill>
                <a:latin typeface="Arial"/>
              </a:rPr>
              <a:t>Ventsim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1944000"/>
            <a:ext cx="11196000" cy="511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000" y="2088000"/>
            <a:ext cx="29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Расчёты Приложения №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8000" y="20520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8000" y="2116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частично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000" y="20520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8000" y="2116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частично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0520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116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полностью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78000" y="20520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8000" y="2116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нет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98000" y="20520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8000" y="2116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нет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2455200"/>
            <a:ext cx="11196000" cy="51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000" y="2599200"/>
            <a:ext cx="29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Сетевой расчёт вентиляции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8000" y="25632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8000" y="2628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отлично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8000" y="25632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8000" y="2628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хорошо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25632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628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базово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78000" y="25632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8000" y="2628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хорошо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98000" y="25632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98000" y="2628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отлично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0000" y="2966400"/>
            <a:ext cx="11196000" cy="511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000" y="3110400"/>
            <a:ext cx="29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Аварийные режимы, пожар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8000" y="30744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8000" y="3139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отлично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38000" y="30744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8000" y="3139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удовл.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0744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3139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хорошо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78000" y="30744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78000" y="3139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удовл.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98000" y="30744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98000" y="3139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отлично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0000" y="3477600"/>
            <a:ext cx="11196000" cy="51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0000" y="3621600"/>
            <a:ext cx="29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Скорость работы на КП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18000" y="35856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18000" y="36504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средняя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38000" y="35856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38000" y="36504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средняя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35856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36504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высокая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78000" y="35856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78000" y="36504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низкая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98000" y="35856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98000" y="36504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средняя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0000" y="3988800"/>
            <a:ext cx="11196000" cy="511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0000" y="4132800"/>
            <a:ext cx="29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Порог вхождения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18000" y="40968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18000" y="41616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высокий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38000" y="40968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38000" y="41616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средний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40968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41616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низкий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78000" y="40968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78000" y="41616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высокий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98000" y="40968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98000" y="41616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средний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0000" y="4500000"/>
            <a:ext cx="11196000" cy="51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0000" y="4644000"/>
            <a:ext cx="29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Реестр российского ПО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18000" y="46080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18000" y="4672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38000" y="46080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38000" y="4672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58000" y="46080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0" y="4672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78000" y="46080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78000" y="4672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98000" y="46080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98000" y="46728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нет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0000" y="5011200"/>
            <a:ext cx="11196000" cy="5112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0000" y="5155200"/>
            <a:ext cx="29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Стоимость владения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18000" y="51192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18000" y="5184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высокая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38000" y="5119200"/>
            <a:ext cx="1296000" cy="2952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38000" y="5184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средняя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58000" y="51192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58000" y="5184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низкая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478000" y="51192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478000" y="5184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высокая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98000" y="51192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98000" y="51840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высокая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60000" y="5522400"/>
            <a:ext cx="11196000" cy="51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0000" y="5666400"/>
            <a:ext cx="29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>
                <a:solidFill>
                  <a:srgbClr val="0B1E3D"/>
                </a:solidFill>
                <a:latin typeface="Arial"/>
              </a:rPr>
              <a:t>Работа офлайн / закрытый контур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18000" y="56304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18000" y="5695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238000" y="56304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38000" y="5695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58000" y="56304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58000" y="5695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78000" y="5630400"/>
            <a:ext cx="1296000" cy="295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78000" y="5695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98000" y="5630400"/>
            <a:ext cx="1296000" cy="2952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98000" y="5695200"/>
            <a:ext cx="129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ограничено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9 · ИМПОРТОЗАМЕЩЕНИЕ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Импортозамещение и требования к ПО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Правовые основания выбора отечественных программных решений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48000"/>
            <a:ext cx="5400000" cy="21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48000"/>
            <a:ext cx="50400" cy="2160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" y="1692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Нормативные требования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2016000"/>
            <a:ext cx="5040000" cy="15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Постановление Правительства РФ № 1236 — запрет на допуск иностранного ПО при госзакупках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Указ Президента РФ № 166 от 30.03.2022 — переход субъектов КИИ на отечественное ПО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ФЗ № 187-ФЗ — ОПО горной добычи относятся к критической информационной инфраструктуре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1B4F91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Обязательное наличие в Едином реестре российских программ (Минцифры России)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999" y="1548000"/>
            <a:ext cx="5400000" cy="21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999" y="1548000"/>
            <a:ext cx="50400" cy="2160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999" y="1692000"/>
            <a:ext cx="504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Практические следствия для ВГСЧ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999" y="2016000"/>
            <a:ext cx="5040000" cy="15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Закупка зарубежного ПО требует обоснования отсутствия аналогов — как правило, невозможна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Приоритет решений, работающих на Astra Linux / РЕД ОС и российских СУБД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Необходима техподдержка на территории РФ и документация на русском языке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5C142"/>
                </a:solidFill>
                <a:latin typeface="Arial"/>
              </a:rPr>
              <a:t>•  </a:t>
            </a:r>
            <a:r>
              <a:rPr sz="1200">
                <a:solidFill>
                  <a:srgbClr val="3A4657"/>
                </a:solidFill>
                <a:latin typeface="Arial"/>
              </a:rPr>
              <a:t>Предпочтительна работа в изолированном контуре без обращения к внешним серверам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3960000"/>
            <a:ext cx="11088000" cy="1080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99" y="4121999"/>
            <a:ext cx="10584000" cy="79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Все рассмотренные отечественные комплексы — АэроСеть, «Вентиляция», ПВ-Система, MineFrame — соответствуют требованиям импортозамещения и могут закупаться подразделениями ФГУП «ВГСЧ» без ограничений.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5256000"/>
            <a:ext cx="11088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Отдельно учитывается требование аттестации методик: программа должна воспроизводить формулы Приложения № 11 без отступлений, а протокол расчёта — содержать ссылку на применённую методику.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9 · МЕТОДИКА ВЫБОРА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Критерии выбора программного комплекса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Чек-лист для подразделения при принятии решения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48000"/>
            <a:ext cx="5400000" cy="93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48000"/>
            <a:ext cx="360000" cy="936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1818000"/>
            <a:ext cx="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999" y="17100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E3D"/>
                </a:solidFill>
                <a:latin typeface="Arial"/>
              </a:rPr>
              <a:t>Соответствие п. 26 и Приложению №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999" y="20592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Полнота реализации всех четырёх видов расчётов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4000" y="1548000"/>
            <a:ext cx="5400000" cy="93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4000" y="1548000"/>
            <a:ext cx="360000" cy="936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4000" y="1818000"/>
            <a:ext cx="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7999" y="17100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E3D"/>
                </a:solidFill>
                <a:latin typeface="Arial"/>
              </a:rPr>
              <a:t>Верифицируемость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7999" y="20592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Возможность проверить результат вручную, прозрачность формул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00" y="2646000"/>
            <a:ext cx="5400000" cy="93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00" y="2646000"/>
            <a:ext cx="360000" cy="936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00" y="2916000"/>
            <a:ext cx="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9999" y="28080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E3D"/>
                </a:solidFill>
                <a:latin typeface="Arial"/>
              </a:rPr>
              <a:t>Оперативность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9999" y="31572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Время получения результата в условиях аварии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4000" y="2646000"/>
            <a:ext cx="5400000" cy="93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4000" y="2646000"/>
            <a:ext cx="360000" cy="936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4000" y="2916000"/>
            <a:ext cx="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7999" y="28080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E3D"/>
                </a:solidFill>
                <a:latin typeface="Arial"/>
              </a:rPr>
              <a:t>Форма выходных документов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7999" y="31572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Готовые расчётные листы для приложения к ОП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00" y="3744000"/>
            <a:ext cx="5400000" cy="93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000" y="3744000"/>
            <a:ext cx="360000" cy="936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00" y="4014000"/>
            <a:ext cx="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9999" y="39060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E3D"/>
                </a:solidFill>
                <a:latin typeface="Arial"/>
              </a:rPr>
              <a:t>Автономность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999" y="42552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Работа без интернета, на ноутбуке оперативной группы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4000" y="3744000"/>
            <a:ext cx="5400000" cy="93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4000" y="3744000"/>
            <a:ext cx="360000" cy="936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4000" y="4014000"/>
            <a:ext cx="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7999" y="39060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E3D"/>
                </a:solidFill>
                <a:latin typeface="Arial"/>
              </a:rPr>
              <a:t>Стоимость владения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7999" y="42552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Лицензия + сопровождение + обучение на горизонте 3–5 лет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00" y="4842000"/>
            <a:ext cx="5400000" cy="93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000" y="4842000"/>
            <a:ext cx="360000" cy="936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00" y="5112000"/>
            <a:ext cx="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9999" y="50040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E3D"/>
                </a:solidFill>
                <a:latin typeface="Arial"/>
              </a:rPr>
              <a:t>Поддержка и обновления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9999" y="53532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Реакция разработчика на изменения НПА (напр., ред. от 20.02.2026)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4000" y="4842000"/>
            <a:ext cx="5400000" cy="936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4000" y="4842000"/>
            <a:ext cx="360000" cy="936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4000" y="5112000"/>
            <a:ext cx="36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7999" y="50040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E3D"/>
                </a:solidFill>
                <a:latin typeface="Arial"/>
              </a:rPr>
              <a:t>Обучаемость персонала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7999" y="5353200"/>
            <a:ext cx="475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3A4657"/>
                </a:solidFill>
                <a:latin typeface="Arial"/>
              </a:rPr>
              <a:t>Срок подготовки инженера технического отделения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10 · ВЫВОДЫ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Рекомендуемая схема комплексирования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Ни один продукт не закрывает все задачи в одиночку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84000"/>
            <a:ext cx="11088000" cy="140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84000"/>
            <a:ext cx="64800" cy="140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1764000"/>
            <a:ext cx="37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Уровень предприятия (служба ВТБ)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2321999"/>
            <a:ext cx="2736000" cy="396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2411999"/>
            <a:ext cx="273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АэроСеть / «Вентиляция»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8000" y="1908000"/>
            <a:ext cx="648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3A4657"/>
                </a:solidFill>
                <a:latin typeface="Arial"/>
              </a:rPr>
              <a:t>Ведение цифровой модели вентиляционной сети, депрессионные съёмки, разработка ПЛА, вариантные проработки аварийных режимов в мирное время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3096000"/>
            <a:ext cx="11088000" cy="140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00" y="3096000"/>
            <a:ext cx="64800" cy="1404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3276000"/>
            <a:ext cx="37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Уровень командного пункта ВГСЧ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" y="3833999"/>
            <a:ext cx="2736000" cy="396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3923999"/>
            <a:ext cx="273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ПВ-Система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8000" y="3420000"/>
            <a:ext cx="648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3A4657"/>
                </a:solidFill>
                <a:latin typeface="Arial"/>
              </a:rPr>
              <a:t>Оперативные расчёты Приложения № 11: взрывоопасность атмосферы, проёмы и параметры перемычек, гидравлика; формирование приложений к ОП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00" y="4608000"/>
            <a:ext cx="11088000" cy="1404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4608000"/>
            <a:ext cx="64800" cy="1404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4788000"/>
            <a:ext cx="37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B1E3D"/>
                </a:solidFill>
                <a:latin typeface="Arial"/>
              </a:rPr>
              <a:t>Уровень анализа и обучения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" y="5345999"/>
            <a:ext cx="2736000" cy="396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" y="5435999"/>
            <a:ext cx="273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MineFrame / 3D-модели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8000" y="4932000"/>
            <a:ext cx="6480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3A4657"/>
                </a:solidFill>
                <a:latin typeface="Arial"/>
              </a:rPr>
              <a:t>Разбор аварий, тренировки, подготовка респираторщиков и ИТР, наглядная проработка маршрутов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6156000"/>
            <a:ext cx="1108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0B1E3D"/>
                </a:solidFill>
                <a:latin typeface="Arial"/>
              </a:rPr>
              <a:t>Оптимум по критерию «стоимость / закрытие требований п. 26» — связка отраслевого вентиляционного комплекса на предприятии и специализированного расчётного ПО у горноспасателей.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10 · ВЫВОДЫ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Выводы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Итоги проведённого обзора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48000"/>
            <a:ext cx="324000" cy="32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1605600"/>
            <a:ext cx="32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1566000"/>
            <a:ext cx="10512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A4657"/>
                </a:solidFill>
                <a:latin typeface="Arial"/>
              </a:rPr>
              <a:t>Пункт 26 Инструкции № 520 делает инженерные расчёты обязательным элементом оперативного плана; выполнение их вручную в условиях аварии практически нереализуемо.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2214000"/>
            <a:ext cx="324000" cy="324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2271600"/>
            <a:ext cx="32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2232000"/>
            <a:ext cx="10512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A4657"/>
                </a:solidFill>
                <a:latin typeface="Arial"/>
              </a:rPr>
              <a:t>Приложение № 11 требует четырёх видов расчётов: взрывоопасность рудничной атмосферы (в т.ч. нефтяных шахт), проёмы в изоляционных перемычках, параметры водоупорных перемычек.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2880000"/>
            <a:ext cx="324000" cy="32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2937600"/>
            <a:ext cx="32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2898000"/>
            <a:ext cx="10512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A4657"/>
                </a:solidFill>
                <a:latin typeface="Arial"/>
              </a:rPr>
              <a:t>«АэроСеть» — сильнейший отечественный инструмент сетевого моделирования вентиляции и аварийных режимов, но дорогой и ориентированный на службу ВТБ предприятия.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" y="3546000"/>
            <a:ext cx="324000" cy="324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00" y="3603600"/>
            <a:ext cx="32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3564000"/>
            <a:ext cx="10512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A4657"/>
                </a:solidFill>
                <a:latin typeface="Arial"/>
              </a:rPr>
              <a:t>«Вентиляция» (Шахтэксперт-Системы) — экономичное решение для повседневных аэрологических расчётов и отчётности, со слабым покрытием аварийных сценариев.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00" y="4212000"/>
            <a:ext cx="324000" cy="32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00" y="4269600"/>
            <a:ext cx="32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" y="4230000"/>
            <a:ext cx="10512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A4657"/>
                </a:solidFill>
                <a:latin typeface="Arial"/>
              </a:rPr>
              <a:t>«ПВ-Система» — единственный класс ПО, напрямую реализующий методики Приложения № 11 в оперативном формате работы командного пункта.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" y="4878000"/>
            <a:ext cx="324000" cy="324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00" y="4935600"/>
            <a:ext cx="32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000" y="4896000"/>
            <a:ext cx="10512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A4657"/>
                </a:solidFill>
                <a:latin typeface="Arial"/>
              </a:rPr>
              <a:t>Зарубежные комплексы (Ventsim, VUMA) технически сильны, но неприменимы по нормативным, санкционным и методическим причинам.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00" y="5544000"/>
            <a:ext cx="324000" cy="324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00" y="5601600"/>
            <a:ext cx="32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0000" y="5562000"/>
            <a:ext cx="10512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A4657"/>
                </a:solidFill>
                <a:latin typeface="Arial"/>
              </a:rPr>
              <a:t>Рациональна многоуровневая схема: сетевое моделирование на предприятии + специализированные расчёты в подразделении ВГСЧ.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17999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7999"/>
            <a:ext cx="12192119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"/>
            <a:ext cx="794809" cy="7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8000" y="1512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1">
                <a:solidFill>
                  <a:srgbClr val="F5C142"/>
                </a:solidFill>
                <a:latin typeface="Arial"/>
              </a:rPr>
              <a:t>РАЗДЕЛ 10 · РЕКОМЕНДАЦИИ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42000"/>
            <a:ext cx="97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Практические рекомендации подразделениям ВГСЧ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691200"/>
            <a:ext cx="9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B9CCE4"/>
                </a:solidFill>
                <a:latin typeface="Arial"/>
              </a:rPr>
              <a:t>Предлагаемый план мероприятий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6577200"/>
            <a:ext cx="79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8A96A5"/>
                </a:solidFill>
                <a:latin typeface="Arial"/>
              </a:rPr>
              <a:t>ФГУП «Военизированная горноспасательная часть» · Обзор программ для инженерных расчётов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0119" y="6577200"/>
            <a:ext cx="7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1B4F91"/>
                </a:solidFill>
                <a:latin typeface="Arial"/>
              </a:rPr>
              <a:t>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1548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1548000"/>
            <a:ext cx="3546000" cy="450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" y="1673999"/>
            <a:ext cx="3131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Ближайшая перспектива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" y="2178000"/>
            <a:ext cx="3131999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Провести инвентаризацию расчётных средств, применяемых в отряде; оценить соответствие ред. приказа от 20.02.2026 № 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7999" y="1548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7999" y="1548000"/>
            <a:ext cx="3546000" cy="450000"/>
          </a:xfrm>
          <a:prstGeom prst="rect">
            <a:avLst/>
          </a:prstGeom>
          <a:solidFill>
            <a:srgbClr val="1B4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999" y="1673999"/>
            <a:ext cx="3131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Оснащение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999" y="2178000"/>
            <a:ext cx="3131999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Обеспечить каждый оперативный взвод автономным расчётным комплексом на защищённом ноутбуке командного пункта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9998" y="1548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9998" y="1548000"/>
            <a:ext cx="3546000" cy="4500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7998" y="1673999"/>
            <a:ext cx="3131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Подготовка кадров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7998" y="2178000"/>
            <a:ext cx="3131999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Включить работу с расчётным ПО в программу подготовки командиров отделений и инженеров технического отделения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00" y="3744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744000"/>
            <a:ext cx="3546000" cy="450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000" y="3869999"/>
            <a:ext cx="3131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Тренировки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000" y="4374000"/>
            <a:ext cx="3131999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Отрабатывать расчёты в ходе учебных тревог и плановых проверок ПЛА на обслуживаемых объектах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7999" y="3744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7999" y="3744000"/>
            <a:ext cx="3546000" cy="450000"/>
          </a:xfrm>
          <a:prstGeom prst="rect">
            <a:avLst/>
          </a:prstGeom>
          <a:solidFill>
            <a:srgbClr val="C7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999" y="3869999"/>
            <a:ext cx="3131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Взаимодействие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999" y="4374000"/>
            <a:ext cx="3131999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Согласовать с предприятиями порядок передачи актуальных цифровых моделей вентиляционных сетей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9998" y="3744000"/>
            <a:ext cx="3546000" cy="199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9998" y="3744000"/>
            <a:ext cx="3546000" cy="450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7998" y="3869999"/>
            <a:ext cx="313199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Методическое сопровождение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7998" y="4374000"/>
            <a:ext cx="3131999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A4657"/>
                </a:solidFill>
                <a:latin typeface="Arial"/>
              </a:rPr>
              <a:t>Вести реестр выполненных расчётов и анализировать расхождения расчёта с фактической обстановкой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576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059" y="864000"/>
            <a:ext cx="2239915" cy="22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40000" y="3384000"/>
            <a:ext cx="93121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Благодарю за внимание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196059" y="4176000"/>
            <a:ext cx="1800000" cy="32400"/>
          </a:xfrm>
          <a:prstGeom prst="rect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0000" y="4464000"/>
            <a:ext cx="9312119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C8D8EE"/>
                </a:solidFill>
                <a:latin typeface="Arial"/>
              </a:rPr>
              <a:t>ФГУП «Военизированная горноспасательная часть»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C8D8EE"/>
                </a:solidFill>
                <a:latin typeface="Arial"/>
              </a:rPr>
              <a:t>Копейский военизированный горноспасательный отряд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5616000"/>
            <a:ext cx="93121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5C142"/>
                </a:solidFill>
                <a:latin typeface="Arial"/>
              </a:rPr>
              <a:t>Вопросы и обсуждение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