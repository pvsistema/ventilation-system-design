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00000" cy="6858000"/>
          </a:xfrm>
          <a:prstGeom prst="rect">
            <a:avLst/>
          </a:prstGeom>
          <a:solidFill>
            <a:srgbClr val="1B4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00000" y="0"/>
            <a:ext cx="43200" cy="6858000"/>
          </a:xfrm>
          <a:prstGeom prst="rect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4000" y="1512000"/>
            <a:ext cx="3251489" cy="324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2000" y="5112000"/>
            <a:ext cx="3671999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ФГУП «ВГСЧ»</a:t>
            </a:r>
          </a:p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Копейский ВГСО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20000" y="1296000"/>
            <a:ext cx="6408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 i="0">
                <a:solidFill>
                  <a:srgbClr val="F5C142"/>
                </a:solidFill>
                <a:latin typeface="Arial"/>
              </a:rPr>
              <a:t>ДОКЛАД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20000" y="1655999"/>
            <a:ext cx="6408000" cy="23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Обзор программных комплексов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для проведения инженерных расчётов</a:t>
            </a:r>
          </a:p>
        </p:txBody>
      </p:sp>
      <p:sp>
        <p:nvSpPr>
          <p:cNvPr id="9" name="Rectangle 8"/>
          <p:cNvSpPr/>
          <p:nvPr/>
        </p:nvSpPr>
        <p:spPr>
          <a:xfrm>
            <a:off x="5220000" y="3060000"/>
            <a:ext cx="1620000" cy="32400"/>
          </a:xfrm>
          <a:prstGeom prst="rect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20000" y="3348000"/>
            <a:ext cx="6408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i="0">
                <a:solidFill>
                  <a:srgbClr val="C8D8EE"/>
                </a:solidFill>
                <a:latin typeface="Arial"/>
              </a:rPr>
              <a:t>предусмотренных пунктом 26 Федеральных норм и правил в области промышленной безопасности «Инструкция по локализации и ликвидации последствий аварий на опасных производственных объектах, на которых ведутся горные работы»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20000" y="4824000"/>
            <a:ext cx="6408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1" i="0">
                <a:solidFill>
                  <a:srgbClr val="F5C142"/>
                </a:solidFill>
                <a:latin typeface="Arial"/>
              </a:rPr>
              <a:t>Утв. приказом Ростехнадзора от 11.12.2020 № 520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1" i="0">
                <a:solidFill>
                  <a:srgbClr val="F5C142"/>
                </a:solidFill>
                <a:latin typeface="Arial"/>
              </a:rPr>
              <a:t>(зарег. Минюстом России 21.12.2020, рег. № 61628)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20000" y="5903999"/>
            <a:ext cx="6408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 i="0">
                <a:solidFill>
                  <a:srgbClr val="9FB8D8"/>
                </a:solidFill>
                <a:latin typeface="Arial"/>
              </a:rPr>
              <a:t>АэроСеть · Вентиляция · ПВ-Система · MineFrame · Ventsim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17999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7999"/>
            <a:ext cx="12192119" cy="32400"/>
          </a:xfrm>
          <a:prstGeom prst="rect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64800"/>
            <a:ext cx="794809" cy="79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88000" y="1512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5C142"/>
                </a:solidFill>
                <a:latin typeface="Arial"/>
              </a:rPr>
              <a:t>ПЛАН ВЫСТУПЛЕНИЯ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000" y="342000"/>
            <a:ext cx="97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100" b="1" i="0">
                <a:solidFill>
                  <a:srgbClr val="FFFFFF"/>
                </a:solidFill>
                <a:latin typeface="Arial"/>
              </a:rPr>
              <a:t>Содержание доклада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000" y="691200"/>
            <a:ext cx="97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 i="0">
                <a:solidFill>
                  <a:srgbClr val="B9CCE4"/>
                </a:solidFill>
                <a:latin typeface="Arial"/>
              </a:rPr>
              <a:t>Структура и логика изложения материала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8000"/>
            <a:ext cx="12192119" cy="360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2000" y="6577200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00" b="0" i="0">
                <a:solidFill>
                  <a:srgbClr val="8A96A5"/>
                </a:solidFill>
                <a:latin typeface="Arial"/>
              </a:rPr>
              <a:t>ФГУП «Военизированная горноспасательная часть» · Обзор программ для инженерных расчётов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40119" y="6577200"/>
            <a:ext cx="7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1" i="0">
                <a:solidFill>
                  <a:srgbClr val="1B4F91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000" y="1548000"/>
            <a:ext cx="10440000" cy="4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550" b="1">
                <a:solidFill>
                  <a:srgbClr val="F5C142"/>
                </a:solidFill>
                <a:latin typeface="Arial"/>
              </a:rPr>
              <a:t>›  </a:t>
            </a:r>
            <a:r>
              <a:rPr sz="1550" b="1">
                <a:solidFill>
                  <a:srgbClr val="0B1E3D"/>
                </a:solidFill>
                <a:latin typeface="Arial"/>
              </a:rPr>
              <a:t>1. Нормативная база. </a:t>
            </a:r>
            <a:r>
              <a:rPr sz="1550">
                <a:solidFill>
                  <a:srgbClr val="3A4657"/>
                </a:solidFill>
                <a:latin typeface="Arial"/>
              </a:rPr>
              <a:t>Пункт 26: два абзаца — две группы расчётов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550" b="1">
                <a:solidFill>
                  <a:srgbClr val="F5C142"/>
                </a:solidFill>
                <a:latin typeface="Arial"/>
              </a:rPr>
              <a:t>›  </a:t>
            </a:r>
            <a:r>
              <a:rPr sz="1550" b="1">
                <a:solidFill>
                  <a:srgbClr val="0B1E3D"/>
                </a:solidFill>
                <a:latin typeface="Arial"/>
              </a:rPr>
              <a:t>2. Приложение № 11. </a:t>
            </a:r>
            <a:r>
              <a:rPr sz="1550">
                <a:solidFill>
                  <a:srgbClr val="3A4657"/>
                </a:solidFill>
                <a:latin typeface="Arial"/>
              </a:rPr>
              <a:t>Три расчёта и их методики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550" b="1">
                <a:solidFill>
                  <a:srgbClr val="F5C142"/>
                </a:solidFill>
                <a:latin typeface="Arial"/>
              </a:rPr>
              <a:t>›  </a:t>
            </a:r>
            <a:r>
              <a:rPr sz="1550" b="1">
                <a:solidFill>
                  <a:srgbClr val="0B1E3D"/>
                </a:solidFill>
                <a:latin typeface="Arial"/>
              </a:rPr>
              <a:t>3. Методика взрывоопасности. </a:t>
            </a:r>
            <a:r>
              <a:rPr sz="1550">
                <a:solidFill>
                  <a:srgbClr val="3A4657"/>
                </a:solidFill>
                <a:latin typeface="Arial"/>
              </a:rPr>
              <a:t>Треугольники взрываемости, рис. 1–6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550" b="1">
                <a:solidFill>
                  <a:srgbClr val="F5C142"/>
                </a:solidFill>
                <a:latin typeface="Arial"/>
              </a:rPr>
              <a:t>›  </a:t>
            </a:r>
            <a:r>
              <a:rPr sz="1550" b="1">
                <a:solidFill>
                  <a:srgbClr val="0B1E3D"/>
                </a:solidFill>
                <a:latin typeface="Arial"/>
              </a:rPr>
              <a:t>4. Обзор рынка </a:t>
            </a:r>
            <a:r>
              <a:rPr sz="1550">
                <a:solidFill>
                  <a:srgbClr val="3A4657"/>
                </a:solidFill>
                <a:latin typeface="Arial"/>
              </a:rPr>
              <a:t>отечественного и зарубежного ПО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550" b="1">
                <a:solidFill>
                  <a:srgbClr val="F5C142"/>
                </a:solidFill>
                <a:latin typeface="Arial"/>
              </a:rPr>
              <a:t>›  </a:t>
            </a:r>
            <a:r>
              <a:rPr sz="1550" b="1">
                <a:solidFill>
                  <a:srgbClr val="0B1E3D"/>
                </a:solidFill>
                <a:latin typeface="Arial"/>
              </a:rPr>
              <a:t>5. АэроСеть — </a:t>
            </a:r>
            <a:r>
              <a:rPr sz="1550">
                <a:solidFill>
                  <a:srgbClr val="3A4657"/>
                </a:solidFill>
                <a:latin typeface="Arial"/>
              </a:rPr>
              <a:t>возможности, плюсы и минусы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550" b="1">
                <a:solidFill>
                  <a:srgbClr val="F5C142"/>
                </a:solidFill>
                <a:latin typeface="Arial"/>
              </a:rPr>
              <a:t>›  </a:t>
            </a:r>
            <a:r>
              <a:rPr sz="1550" b="1">
                <a:solidFill>
                  <a:srgbClr val="0B1E3D"/>
                </a:solidFill>
                <a:latin typeface="Arial"/>
              </a:rPr>
              <a:t>6. «Вентиляция» (Шахтэксперт-Системы) — </a:t>
            </a:r>
            <a:r>
              <a:rPr sz="1550">
                <a:solidFill>
                  <a:srgbClr val="3A4657"/>
                </a:solidFill>
                <a:latin typeface="Arial"/>
              </a:rPr>
              <a:t>анализ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550" b="1">
                <a:solidFill>
                  <a:srgbClr val="F5C142"/>
                </a:solidFill>
                <a:latin typeface="Arial"/>
              </a:rPr>
              <a:t>›  </a:t>
            </a:r>
            <a:r>
              <a:rPr sz="1550" b="1">
                <a:solidFill>
                  <a:srgbClr val="0B1E3D"/>
                </a:solidFill>
                <a:latin typeface="Arial"/>
              </a:rPr>
              <a:t>7. ПВ-Система — </a:t>
            </a:r>
            <a:r>
              <a:rPr sz="1550">
                <a:solidFill>
                  <a:srgbClr val="3A4657"/>
                </a:solidFill>
                <a:latin typeface="Arial"/>
              </a:rPr>
              <a:t>специализированное ПО для ВГСЧ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550" b="1">
                <a:solidFill>
                  <a:srgbClr val="F5C142"/>
                </a:solidFill>
                <a:latin typeface="Arial"/>
              </a:rPr>
              <a:t>›  </a:t>
            </a:r>
            <a:r>
              <a:rPr sz="1550" b="1">
                <a:solidFill>
                  <a:srgbClr val="0B1E3D"/>
                </a:solidFill>
                <a:latin typeface="Arial"/>
              </a:rPr>
              <a:t>8. Дополнительные комплексы: </a:t>
            </a:r>
            <a:r>
              <a:rPr sz="1550">
                <a:solidFill>
                  <a:srgbClr val="3A4657"/>
                </a:solidFill>
                <a:latin typeface="Arial"/>
              </a:rPr>
              <a:t>MineFrame, Ventsim, VUMA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550" b="1">
                <a:solidFill>
                  <a:srgbClr val="F5C142"/>
                </a:solidFill>
                <a:latin typeface="Arial"/>
              </a:rPr>
              <a:t>›  </a:t>
            </a:r>
            <a:r>
              <a:rPr sz="1550" b="1">
                <a:solidFill>
                  <a:srgbClr val="0B1E3D"/>
                </a:solidFill>
                <a:latin typeface="Arial"/>
              </a:rPr>
              <a:t>9. Сравнительная таблица </a:t>
            </a:r>
            <a:r>
              <a:rPr sz="1550">
                <a:solidFill>
                  <a:srgbClr val="3A4657"/>
                </a:solidFill>
                <a:latin typeface="Arial"/>
              </a:rPr>
              <a:t>и импортозамещение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550" b="1">
                <a:solidFill>
                  <a:srgbClr val="F5C142"/>
                </a:solidFill>
                <a:latin typeface="Arial"/>
              </a:rPr>
              <a:t>›  </a:t>
            </a:r>
            <a:r>
              <a:rPr sz="1550" b="1">
                <a:solidFill>
                  <a:srgbClr val="0B1E3D"/>
                </a:solidFill>
                <a:latin typeface="Arial"/>
              </a:rPr>
              <a:t>10. Выводы и рекомендации </a:t>
            </a:r>
            <a:r>
              <a:rPr sz="1550">
                <a:solidFill>
                  <a:srgbClr val="3A4657"/>
                </a:solidFill>
                <a:latin typeface="Arial"/>
              </a:rPr>
              <a:t>для подразделений ВГСЧ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00" y="1548000"/>
            <a:ext cx="50400" cy="4320000"/>
          </a:xfrm>
          <a:prstGeom prst="rect">
            <a:avLst/>
          </a:prstGeom>
          <a:solidFill>
            <a:srgbClr val="1B4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17999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7999"/>
            <a:ext cx="12192119" cy="32400"/>
          </a:xfrm>
          <a:prstGeom prst="rect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64800"/>
            <a:ext cx="794809" cy="79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88000" y="1512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5C142"/>
                </a:solidFill>
                <a:latin typeface="Arial"/>
              </a:rPr>
              <a:t>РАЗДЕЛ 1 · НОРМАТИВНАЯ 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000" y="342000"/>
            <a:ext cx="97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100" b="1" i="0">
                <a:solidFill>
                  <a:srgbClr val="FFFFFF"/>
                </a:solidFill>
                <a:latin typeface="Arial"/>
              </a:rPr>
              <a:t>Нормативная основа доклада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000" y="691200"/>
            <a:ext cx="97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 i="0">
                <a:solidFill>
                  <a:srgbClr val="B9CCE4"/>
                </a:solidFill>
                <a:latin typeface="Arial"/>
              </a:rPr>
              <a:t>ФНП «Инструкция по локализации и ликвидации последствий аварий на ОПО, на которых ведутся горные работы»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8000"/>
            <a:ext cx="12192119" cy="360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2000" y="6577200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00" b="0" i="0">
                <a:solidFill>
                  <a:srgbClr val="8A96A5"/>
                </a:solidFill>
                <a:latin typeface="Arial"/>
              </a:rPr>
              <a:t>ФГУП «Военизированная горноспасательная часть» · Обзор программ для инженерных расчётов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40119" y="6577200"/>
            <a:ext cx="7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1" i="0">
                <a:solidFill>
                  <a:srgbClr val="1B4F91"/>
                </a:solidFill>
                <a:latin typeface="Arial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6000" y="1548000"/>
            <a:ext cx="5400000" cy="2304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76000" y="1548000"/>
            <a:ext cx="50400" cy="2304000"/>
          </a:xfrm>
          <a:prstGeom prst="rect">
            <a:avLst/>
          </a:prstGeom>
          <a:solidFill>
            <a:srgbClr val="1B4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4000" y="1692000"/>
            <a:ext cx="504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 i="0">
                <a:solidFill>
                  <a:srgbClr val="0B1E3D"/>
                </a:solidFill>
                <a:latin typeface="Arial"/>
              </a:rPr>
              <a:t>Приказ Ростехнадзора № 520 от 11.12.2020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4000" y="2016000"/>
            <a:ext cx="5040000" cy="172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1B4F91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Зарегистрирован в Минюсте России 21.12.2020, рег. № 61628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1B4F91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Вступил в силу с 1 января 2021 г.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1B4F91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Действует до 1 января 2027 г. (п. 2 приказа) — ограниченный горизонт планирования закупок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1B4F91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Разработан во исполнение 116-ФЗ, 151-ФЗ и ПП РФ № 1437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999" y="1548000"/>
            <a:ext cx="5400000" cy="2304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999" y="1548000"/>
            <a:ext cx="50400" cy="2304000"/>
          </a:xfrm>
          <a:prstGeom prst="rect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1999" y="1692000"/>
            <a:ext cx="504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 i="0">
                <a:solidFill>
                  <a:srgbClr val="0B1E3D"/>
                </a:solidFill>
                <a:latin typeface="Arial"/>
              </a:rPr>
              <a:t>Пункт 26 — инженерные расчёты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999" y="2016000"/>
            <a:ext cx="5040000" cy="172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F5C142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Регулирует расчёты при ведении горноспасательных работ В ПОДЗЕМНЫХ горных выработках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F5C142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Абзац 1: перечень и методики — Приложение № 11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F5C142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Абзац 2: пять видов расчётов — ТОЛЬКО с применением ЭВМ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F5C142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Результаты используются при разработке оперативных планов (ОП)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6000" y="4031999"/>
            <a:ext cx="11088000" cy="1224000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999" y="4230000"/>
            <a:ext cx="10584000" cy="86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50" b="0" i="0">
                <a:solidFill>
                  <a:srgbClr val="FFFFFF"/>
                </a:solidFill>
                <a:latin typeface="Arial"/>
              </a:rPr>
              <a:t>Пункт 26 состоит из ДВУХ абзацев, задающих две разные группы расчётов. Первая выполняется по формулам Приложения № 11, вторая — прямо предписана к выполнению на электронно-вычислительных машинах. Это ключ ко всему дальнейшему анализу.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00" y="5400000"/>
            <a:ext cx="11088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 i="0">
                <a:solidFill>
                  <a:srgbClr val="7A8899"/>
                </a:solidFill>
                <a:latin typeface="Arial"/>
              </a:rPr>
              <a:t>Смежные НПА: ФНП «Правила безопасности в угольных шахтах» (№ 507), «Инструкция по аэрологической безопасности угольных шахт» (№ 506), ФНП для рудников (№ 505), Федеральный закон № 116-ФЗ.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17999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7999"/>
            <a:ext cx="12192119" cy="32400"/>
          </a:xfrm>
          <a:prstGeom prst="rect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64800"/>
            <a:ext cx="794809" cy="79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88000" y="1512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5C142"/>
                </a:solidFill>
                <a:latin typeface="Arial"/>
              </a:rPr>
              <a:t>РАЗДЕЛ 1 · КЛЮЧЕВОЙ СЛАЙД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000" y="342000"/>
            <a:ext cx="97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100" b="1" i="0">
                <a:solidFill>
                  <a:srgbClr val="FFFFFF"/>
                </a:solidFill>
                <a:latin typeface="Arial"/>
              </a:rPr>
              <a:t>Пункт 26: структура нормы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000" y="691200"/>
            <a:ext cx="97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 i="0">
                <a:solidFill>
                  <a:srgbClr val="B9CCE4"/>
                </a:solidFill>
                <a:latin typeface="Arial"/>
              </a:rPr>
              <a:t>Две группы расчётов с разными требованиями к средствам выполнения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8000"/>
            <a:ext cx="12192119" cy="360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2000" y="6577200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00" b="0" i="0">
                <a:solidFill>
                  <a:srgbClr val="8A96A5"/>
                </a:solidFill>
                <a:latin typeface="Arial"/>
              </a:rPr>
              <a:t>ФГУП «Военизированная горноспасательная часть» · Обзор программ для инженерных расчётов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40119" y="6577200"/>
            <a:ext cx="7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1" i="0">
                <a:solidFill>
                  <a:srgbClr val="1B4F91"/>
                </a:solidFill>
                <a:latin typeface="Arial"/>
              </a:rPr>
              <a:t>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6000" y="1475999"/>
            <a:ext cx="5400000" cy="2376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76000" y="1475999"/>
            <a:ext cx="5400000" cy="468000"/>
          </a:xfrm>
          <a:prstGeom prst="rect">
            <a:avLst/>
          </a:prstGeom>
          <a:solidFill>
            <a:srgbClr val="1B4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6000" y="1591200"/>
            <a:ext cx="504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Arial"/>
              </a:rPr>
              <a:t>АБЗАЦ 1 — расчёты по Приложению № 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6000" y="2070000"/>
            <a:ext cx="5040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1">
                <a:solidFill>
                  <a:srgbClr val="3A4657"/>
                </a:solidFill>
                <a:latin typeface="Arial"/>
              </a:rPr>
              <a:t>«Проведение инженерных расчетов, выполняемых при ведении горноспасательных работ в подземных горных выработках, проводится в соответствии с приложением N 11 к Инструкции»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6000" y="2916000"/>
            <a:ext cx="504000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150" b="1">
                <a:solidFill>
                  <a:srgbClr val="1B4F91"/>
                </a:solidFill>
                <a:latin typeface="Arial"/>
              </a:rPr>
              <a:t>•  </a:t>
            </a:r>
            <a:r>
              <a:rPr sz="1150">
                <a:solidFill>
                  <a:srgbClr val="3A4657"/>
                </a:solidFill>
                <a:latin typeface="Arial"/>
              </a:rPr>
              <a:t>Три расчёта, выполняются по формулам и номограммам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150" b="1">
                <a:solidFill>
                  <a:srgbClr val="1B4F91"/>
                </a:solidFill>
                <a:latin typeface="Arial"/>
              </a:rPr>
              <a:t>•  </a:t>
            </a:r>
            <a:r>
              <a:rPr sz="1150">
                <a:solidFill>
                  <a:srgbClr val="3A4657"/>
                </a:solidFill>
                <a:latin typeface="Arial"/>
              </a:rPr>
              <a:t>Могут быть посчитаны вручную — но долго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150" b="1">
                <a:solidFill>
                  <a:srgbClr val="1B4F91"/>
                </a:solidFill>
                <a:latin typeface="Arial"/>
              </a:rPr>
              <a:t>•  </a:t>
            </a:r>
            <a:r>
              <a:rPr sz="1150">
                <a:solidFill>
                  <a:srgbClr val="3A4657"/>
                </a:solidFill>
                <a:latin typeface="Arial"/>
              </a:rPr>
              <a:t>Закрываются специализированным ПО (ПВ-Система)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999" y="1475999"/>
            <a:ext cx="5400000" cy="2376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999" y="1475999"/>
            <a:ext cx="5400000" cy="468000"/>
          </a:xfrm>
          <a:prstGeom prst="rect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3999" y="1591200"/>
            <a:ext cx="504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50" b="1" i="0">
                <a:solidFill>
                  <a:srgbClr val="0B1E3D"/>
                </a:solidFill>
                <a:latin typeface="Arial"/>
              </a:rPr>
              <a:t>АБЗАЦ 2 — расчёты ТОЛЬКО на ЭВМ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3999" y="2070000"/>
            <a:ext cx="5040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1">
                <a:solidFill>
                  <a:srgbClr val="3A4657"/>
                </a:solidFill>
                <a:latin typeface="Arial"/>
              </a:rPr>
              <a:t>«…проводятся с использованием программного обеспечения на электронно-вычислительных машинах на основе моделей топологии горных выработок, предоставляемых ОПО»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999" y="2916000"/>
            <a:ext cx="504000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150" b="1">
                <a:solidFill>
                  <a:srgbClr val="F5C142"/>
                </a:solidFill>
                <a:latin typeface="Arial"/>
              </a:rPr>
              <a:t>•  </a:t>
            </a:r>
            <a:r>
              <a:rPr sz="1150">
                <a:solidFill>
                  <a:srgbClr val="3A4657"/>
                </a:solidFill>
                <a:latin typeface="Arial"/>
              </a:rPr>
              <a:t>Пять видов расчётов, В ПРИЛОЖЕНИИ № 11 ОТСУТСТВУЮТ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150" b="1">
                <a:solidFill>
                  <a:srgbClr val="F5C142"/>
                </a:solidFill>
                <a:latin typeface="Arial"/>
              </a:rPr>
              <a:t>•  </a:t>
            </a:r>
            <a:r>
              <a:rPr sz="1150">
                <a:solidFill>
                  <a:srgbClr val="3A4657"/>
                </a:solidFill>
                <a:latin typeface="Arial"/>
              </a:rPr>
              <a:t>Применение ПО — прямое требование нормы, не выбор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150" b="1">
                <a:solidFill>
                  <a:srgbClr val="F5C142"/>
                </a:solidFill>
                <a:latin typeface="Arial"/>
              </a:rPr>
              <a:t>•  </a:t>
            </a:r>
            <a:r>
              <a:rPr sz="1150">
                <a:solidFill>
                  <a:srgbClr val="3A4657"/>
                </a:solidFill>
                <a:latin typeface="Arial"/>
              </a:rPr>
              <a:t>ОПО ОБЯЗАНО предоставить модель топологии выработок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00" y="4031999"/>
            <a:ext cx="11088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 i="0">
                <a:solidFill>
                  <a:srgbClr val="0B1E3D"/>
                </a:solidFill>
                <a:latin typeface="Arial"/>
              </a:rPr>
              <a:t>Расчёты, прямо требующие ЭВМ (абзац 2 п. 26):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6000" y="4356000"/>
            <a:ext cx="2124000" cy="1080000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76000" y="4356000"/>
            <a:ext cx="2124000" cy="43200"/>
          </a:xfrm>
          <a:prstGeom prst="rect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4000" y="4536000"/>
            <a:ext cx="19080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FFFFFF"/>
                </a:solidFill>
                <a:latin typeface="Arial"/>
              </a:rPr>
              <a:t>Параметры развития</a:t>
            </a:r>
          </a:p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FFFFFF"/>
                </a:solidFill>
                <a:latin typeface="Arial"/>
              </a:rPr>
              <a:t>пожара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826000" y="4356000"/>
            <a:ext cx="2124000" cy="1080000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826000" y="4356000"/>
            <a:ext cx="2124000" cy="43200"/>
          </a:xfrm>
          <a:prstGeom prst="rect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34000" y="4536000"/>
            <a:ext cx="19080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FFFFFF"/>
                </a:solidFill>
                <a:latin typeface="Arial"/>
              </a:rPr>
              <a:t>Режимы</a:t>
            </a:r>
          </a:p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FFFFFF"/>
                </a:solidFill>
                <a:latin typeface="Arial"/>
              </a:rPr>
              <a:t>проветривания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76000" y="4356000"/>
            <a:ext cx="2124000" cy="1080000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76000" y="4356000"/>
            <a:ext cx="2124000" cy="43200"/>
          </a:xfrm>
          <a:prstGeom prst="rect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84000" y="4536000"/>
            <a:ext cx="19080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FFFFFF"/>
                </a:solidFill>
                <a:latin typeface="Arial"/>
              </a:rPr>
              <a:t>Противопожарное</a:t>
            </a:r>
          </a:p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FFFFFF"/>
                </a:solidFill>
                <a:latin typeface="Arial"/>
              </a:rPr>
              <a:t>водоснабжение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26000" y="4356000"/>
            <a:ext cx="2124000" cy="1080000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326000" y="4356000"/>
            <a:ext cx="2124000" cy="43200"/>
          </a:xfrm>
          <a:prstGeom prst="rect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34000" y="4536000"/>
            <a:ext cx="19080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FFFFFF"/>
                </a:solidFill>
                <a:latin typeface="Arial"/>
              </a:rPr>
              <a:t>Устойчивость проветривания</a:t>
            </a:r>
          </a:p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FFFFFF"/>
                </a:solidFill>
                <a:latin typeface="Arial"/>
              </a:rPr>
              <a:t>при пожаре в вертикальных</a:t>
            </a:r>
          </a:p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FFFFFF"/>
                </a:solidFill>
                <a:latin typeface="Arial"/>
              </a:rPr>
              <a:t>и наклонных выработках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576000" y="4356000"/>
            <a:ext cx="2124000" cy="1080000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76000" y="4356000"/>
            <a:ext cx="2124000" cy="43200"/>
          </a:xfrm>
          <a:prstGeom prst="rect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84000" y="4536000"/>
            <a:ext cx="19080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FFFFFF"/>
                </a:solidFill>
                <a:latin typeface="Arial"/>
              </a:rPr>
              <a:t>Зоны поражения</a:t>
            </a:r>
          </a:p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FFFFFF"/>
                </a:solidFill>
                <a:latin typeface="Arial"/>
              </a:rPr>
              <a:t>при пожарах и взрывах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6000" y="5580000"/>
            <a:ext cx="11088000" cy="576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2000" y="5670000"/>
            <a:ext cx="10656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1" i="0">
                <a:solidFill>
                  <a:srgbClr val="0B1E3D"/>
                </a:solidFill>
                <a:latin typeface="Arial"/>
              </a:rPr>
              <a:t>Следствие: ни одна программа в одиночку п. 26 не закрывает — так устроена сама норма. Требуется связка специализированного расчётного ПО и комплекса сетевого моделирования вентиляции.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17999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7999"/>
            <a:ext cx="12192119" cy="32400"/>
          </a:xfrm>
          <a:prstGeom prst="rect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64800"/>
            <a:ext cx="794809" cy="79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88000" y="1512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5C142"/>
                </a:solidFill>
                <a:latin typeface="Arial"/>
              </a:rPr>
              <a:t>РАЗДЕЛ 2 · СОСТАВ РАСЧЁТОВ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000" y="342000"/>
            <a:ext cx="97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100" b="1" i="0">
                <a:solidFill>
                  <a:srgbClr val="FFFFFF"/>
                </a:solidFill>
                <a:latin typeface="Arial"/>
              </a:rPr>
              <a:t>Приложение № 11: перечень инженерных расчётов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000" y="691200"/>
            <a:ext cx="97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 i="0">
                <a:solidFill>
                  <a:srgbClr val="B9CCE4"/>
                </a:solidFill>
                <a:latin typeface="Arial"/>
              </a:rPr>
              <a:t>Три расчёта, выполняемых при ведении горноспасательных работ в подземных горных выработках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8000"/>
            <a:ext cx="12192119" cy="360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2000" y="6577200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00" b="0" i="0">
                <a:solidFill>
                  <a:srgbClr val="8A96A5"/>
                </a:solidFill>
                <a:latin typeface="Arial"/>
              </a:rPr>
              <a:t>ФГУП «Военизированная горноспасательная часть» · Обзор программ для инженерных расчётов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40119" y="6577200"/>
            <a:ext cx="7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1" i="0">
                <a:solidFill>
                  <a:srgbClr val="1B4F91"/>
                </a:solidFill>
                <a:latin typeface="Arial"/>
              </a:rPr>
              <a:t>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6000" y="1512000"/>
            <a:ext cx="11088000" cy="1188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76000" y="1512000"/>
            <a:ext cx="792000" cy="1188000"/>
          </a:xfrm>
          <a:prstGeom prst="rect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00" y="1890000"/>
            <a:ext cx="79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48000" y="1710000"/>
            <a:ext cx="367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50" b="1" i="0">
                <a:solidFill>
                  <a:srgbClr val="0B1E3D"/>
                </a:solidFill>
                <a:latin typeface="Arial"/>
              </a:rPr>
              <a:t>Расчёт взрывоопасности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50" b="1" i="0">
                <a:solidFill>
                  <a:srgbClr val="0B1E3D"/>
                </a:solidFill>
                <a:latin typeface="Arial"/>
              </a:rPr>
              <a:t>рудничной атмосферы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0000" y="1800000"/>
            <a:ext cx="6048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3A4657"/>
                </a:solidFill>
                <a:latin typeface="Arial"/>
              </a:rPr>
              <a:t>По сумме горючих газов — метана (CH₄), оксида углерода (CO) и водорода (H₂) в смеси с кислородом (O₂).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3A4657"/>
                </a:solidFill>
                <a:latin typeface="Arial"/>
              </a:rPr>
              <a:t>Формулы (1)–(5), треугольники взрываемости на рисунках 1–6 приложения.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6000" y="2808000"/>
            <a:ext cx="11088000" cy="1188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6000" y="2808000"/>
            <a:ext cx="792000" cy="1188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6000" y="3186000"/>
            <a:ext cx="79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48000" y="3006000"/>
            <a:ext cx="367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50" b="1" i="0">
                <a:solidFill>
                  <a:srgbClr val="0B1E3D"/>
                </a:solidFill>
                <a:latin typeface="Arial"/>
              </a:rPr>
              <a:t>Расчёт проёмов в изоляционных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50" b="1" i="0">
                <a:solidFill>
                  <a:srgbClr val="0B1E3D"/>
                </a:solidFill>
                <a:latin typeface="Arial"/>
              </a:rPr>
              <a:t>перемычках, обеспечивающих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50" b="1" i="0">
                <a:solidFill>
                  <a:srgbClr val="0B1E3D"/>
                </a:solidFill>
                <a:latin typeface="Arial"/>
              </a:rPr>
              <a:t>проветривание аварийного участка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00000" y="3096000"/>
            <a:ext cx="6048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3A4657"/>
                </a:solidFill>
                <a:latin typeface="Arial"/>
              </a:rPr>
              <a:t>Выполняется при тушении пожара методом изоляции. Определяются площадь и количество проёмов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3A4657"/>
                </a:solidFill>
                <a:latin typeface="Arial"/>
              </a:rPr>
              <a:t>в каждой ИП. Формулы (6)–(13), номограмма для K оч на рисунке 7 приложения.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76000" y="4104000"/>
            <a:ext cx="11088000" cy="1188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76000" y="4104000"/>
            <a:ext cx="792000" cy="118800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6000" y="4482000"/>
            <a:ext cx="79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48000" y="4302000"/>
            <a:ext cx="367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50" b="1" i="0">
                <a:solidFill>
                  <a:srgbClr val="0B1E3D"/>
                </a:solidFill>
                <a:latin typeface="Arial"/>
              </a:rPr>
              <a:t>Расчёт параметров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50" b="1" i="0">
                <a:solidFill>
                  <a:srgbClr val="0B1E3D"/>
                </a:solidFill>
                <a:latin typeface="Arial"/>
              </a:rPr>
              <a:t>водоупорных перемычек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00000" y="4392000"/>
            <a:ext cx="6048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3A4657"/>
                </a:solidFill>
                <a:latin typeface="Arial"/>
              </a:rPr>
              <a:t>Клинчатые — при давлении воды до 1 МПа, формулы (14)–(17).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3A4657"/>
                </a:solidFill>
                <a:latin typeface="Arial"/>
              </a:rPr>
              <a:t>Цилиндрические — при давлении свыше 1 МПа, формула (18), число врубов подбирается итерационно.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6000" y="5472000"/>
            <a:ext cx="11088000" cy="792000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7999" y="5580000"/>
            <a:ext cx="10584000" cy="61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ВНИМАНИЕ. Раздела «Расчёт взрывоопасности рудничной атмосферы нефтяных шахт» в Приложении № 11 НЕТ — перечень исчерпывается тремя расчётами. Специфика нефтяных шахт регулируется отдельными нормативными документами.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17999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7999"/>
            <a:ext cx="12192119" cy="32400"/>
          </a:xfrm>
          <a:prstGeom prst="rect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64800"/>
            <a:ext cx="794809" cy="79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88000" y="1512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5C142"/>
                </a:solidFill>
                <a:latin typeface="Arial"/>
              </a:rPr>
              <a:t>РАЗДЕЛ 2 · МЕТОДИКА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000" y="342000"/>
            <a:ext cx="97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100" b="1" i="0">
                <a:solidFill>
                  <a:srgbClr val="FFFFFF"/>
                </a:solidFill>
                <a:latin typeface="Arial"/>
              </a:rPr>
              <a:t>Методика расчёта взрывоопасности рудничной атмосферы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000" y="691200"/>
            <a:ext cx="97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 i="0">
                <a:solidFill>
                  <a:srgbClr val="B9CCE4"/>
                </a:solidFill>
                <a:latin typeface="Arial"/>
              </a:rPr>
              <a:t>Приложение № 11, формулы (1)–(5) и треугольники взрываемости (рис. 1–6)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8000"/>
            <a:ext cx="12192119" cy="360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2000" y="6577200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00" b="0" i="0">
                <a:solidFill>
                  <a:srgbClr val="8A96A5"/>
                </a:solidFill>
                <a:latin typeface="Arial"/>
              </a:rPr>
              <a:t>ФГУП «Военизированная горноспасательная часть» · Обзор программ для инженерных расчётов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40119" y="6577200"/>
            <a:ext cx="7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1" i="0">
                <a:solidFill>
                  <a:srgbClr val="1B4F91"/>
                </a:solidFill>
                <a:latin typeface="Arial"/>
              </a:rPr>
              <a:t>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6000" y="1548000"/>
            <a:ext cx="2682000" cy="3024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76000" y="1548000"/>
            <a:ext cx="2682000" cy="450000"/>
          </a:xfrm>
          <a:prstGeom prst="rect">
            <a:avLst/>
          </a:prstGeom>
          <a:solidFill>
            <a:srgbClr val="1B4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00" y="1655999"/>
            <a:ext cx="268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ШАГ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8000" y="2160000"/>
            <a:ext cx="2358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0B1E3D"/>
                </a:solidFill>
                <a:latin typeface="Arial"/>
              </a:rPr>
              <a:t>Общее содержание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0B1E3D"/>
                </a:solidFill>
                <a:latin typeface="Arial"/>
              </a:rPr>
              <a:t>горючих газов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8000" y="2916000"/>
            <a:ext cx="2358000" cy="15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100" b="0" i="0">
                <a:solidFill>
                  <a:srgbClr val="3A4657"/>
                </a:solidFill>
                <a:latin typeface="Arial"/>
              </a:rPr>
              <a:t>C г = C CO + C CH₄ + C H₂  — формула (1)</a:t>
            </a:r>
          </a:p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100" b="0" i="0">
                <a:solidFill>
                  <a:srgbClr val="3A4657"/>
                </a:solidFill>
                <a:latin typeface="Arial"/>
              </a:rPr>
              <a:t/>
            </a:r>
          </a:p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100" b="0" i="0">
                <a:solidFill>
                  <a:srgbClr val="3A4657"/>
                </a:solidFill>
                <a:latin typeface="Arial"/>
              </a:rPr>
              <a:t>Суммируются ТРИ горючих газа.</a:t>
            </a:r>
          </a:p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100" b="0" i="0">
                <a:solidFill>
                  <a:srgbClr val="3A4657"/>
                </a:solidFill>
                <a:latin typeface="Arial"/>
              </a:rPr>
              <a:t>Азот в расчёт не входит.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2000" y="1548000"/>
            <a:ext cx="2682000" cy="3024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2000" y="1548000"/>
            <a:ext cx="2682000" cy="450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02000" y="1655999"/>
            <a:ext cx="268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ШАГ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4000" y="2160000"/>
            <a:ext cx="2358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0B1E3D"/>
                </a:solidFill>
                <a:latin typeface="Arial"/>
              </a:rPr>
              <a:t>Доли газов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0B1E3D"/>
                </a:solidFill>
                <a:latin typeface="Arial"/>
              </a:rPr>
              <a:t>в смеси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4000" y="2916000"/>
            <a:ext cx="2358000" cy="15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100" b="0" i="0">
                <a:solidFill>
                  <a:srgbClr val="3A4657"/>
                </a:solidFill>
                <a:latin typeface="Arial"/>
              </a:rPr>
              <a:t>P CO, P CH₄, P H₂ — формулы (2)–(4)</a:t>
            </a:r>
          </a:p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100" b="0" i="0">
                <a:solidFill>
                  <a:srgbClr val="3A4657"/>
                </a:solidFill>
                <a:latin typeface="Arial"/>
              </a:rPr>
              <a:t/>
            </a:r>
          </a:p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100" b="0" i="0">
                <a:solidFill>
                  <a:srgbClr val="3A4657"/>
                </a:solidFill>
                <a:latin typeface="Arial"/>
              </a:rPr>
              <a:t>Проверка условия (5):</a:t>
            </a:r>
          </a:p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100" b="0" i="0">
                <a:solidFill>
                  <a:srgbClr val="3A4657"/>
                </a:solidFill>
                <a:latin typeface="Arial"/>
              </a:rPr>
              <a:t>сумма долей равна единице.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8000" y="1548000"/>
            <a:ext cx="2682000" cy="3024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8000" y="1548000"/>
            <a:ext cx="2682000" cy="450000"/>
          </a:xfrm>
          <a:prstGeom prst="rect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28000" y="1655999"/>
            <a:ext cx="268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ШАГ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90000" y="2160000"/>
            <a:ext cx="2358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0B1E3D"/>
                </a:solidFill>
                <a:latin typeface="Arial"/>
              </a:rPr>
              <a:t>Выбор рисунка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0B1E3D"/>
                </a:solidFill>
                <a:latin typeface="Arial"/>
              </a:rPr>
              <a:t>по значению P 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90000" y="2916000"/>
            <a:ext cx="2358000" cy="15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100" b="0" i="0">
                <a:solidFill>
                  <a:srgbClr val="3A4657"/>
                </a:solidFill>
                <a:latin typeface="Arial"/>
              </a:rPr>
              <a:t>Рис. 1–6 соответствуют</a:t>
            </a:r>
          </a:p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100" b="0" i="0">
                <a:solidFill>
                  <a:srgbClr val="3A4657"/>
                </a:solidFill>
                <a:latin typeface="Arial"/>
              </a:rPr>
              <a:t>P CO = 0,0 · 0,1 · 0,2 · 0,3 · 0,4 · 0,5</a:t>
            </a:r>
          </a:p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100" b="0" i="0">
                <a:solidFill>
                  <a:srgbClr val="3A4657"/>
                </a:solidFill>
                <a:latin typeface="Arial"/>
              </a:rPr>
              <a:t/>
            </a:r>
          </a:p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100" b="0" i="0">
                <a:solidFill>
                  <a:srgbClr val="3A4657"/>
                </a:solidFill>
                <a:latin typeface="Arial"/>
              </a:rPr>
              <a:t>Шесть номограмм — по одной</a:t>
            </a:r>
          </a:p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100" b="0" i="0">
                <a:solidFill>
                  <a:srgbClr val="3A4657"/>
                </a:solidFill>
                <a:latin typeface="Arial"/>
              </a:rPr>
              <a:t>на каждое значение доли CO.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54000" y="1548000"/>
            <a:ext cx="2682000" cy="3024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054000" y="1548000"/>
            <a:ext cx="2682000" cy="450000"/>
          </a:xfrm>
          <a:prstGeom prst="rect">
            <a:avLst/>
          </a:prstGeom>
          <a:solidFill>
            <a:srgbClr val="C7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54000" y="1655999"/>
            <a:ext cx="268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ШАГ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16000" y="2160000"/>
            <a:ext cx="2358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0B1E3D"/>
                </a:solidFill>
                <a:latin typeface="Arial"/>
              </a:rPr>
              <a:t>Нанесение точки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0B1E3D"/>
                </a:solidFill>
                <a:latin typeface="Arial"/>
              </a:rPr>
              <a:t>и вывод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000" y="2916000"/>
            <a:ext cx="2358000" cy="15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100" b="0" i="0">
                <a:solidFill>
                  <a:srgbClr val="3A4657"/>
                </a:solidFill>
                <a:latin typeface="Arial"/>
              </a:rPr>
              <a:t>Точка с координатами (C г, O₂).</a:t>
            </a:r>
          </a:p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100" b="0" i="0">
                <a:solidFill>
                  <a:srgbClr val="3A4657"/>
                </a:solidFill>
                <a:latin typeface="Arial"/>
              </a:rPr>
              <a:t>Если она внутри треугольника,</a:t>
            </a:r>
          </a:p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100" b="0" i="0">
                <a:solidFill>
                  <a:srgbClr val="3A4657"/>
                </a:solidFill>
                <a:latin typeface="Arial"/>
              </a:rPr>
              <a:t>соответствующего значению P CH₄ —</a:t>
            </a:r>
          </a:p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100" b="0" i="0">
                <a:solidFill>
                  <a:srgbClr val="3A4657"/>
                </a:solidFill>
                <a:latin typeface="Arial"/>
              </a:rPr>
              <a:t>атмосфера ВЗРЫВООПАСНА.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76000" y="4788000"/>
            <a:ext cx="11088000" cy="720000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999" y="4896000"/>
            <a:ext cx="10584000" cy="5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Обратите внимание: рисунок выбирается по доле оксида углерода P CO, а конкретный треугольник внутри рисунка — по доле метана P CH₄. Это двухуровневый выбор, и ошибка на любом из уровней даёт неверную оценку взрывоопасности.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6000" y="5652000"/>
            <a:ext cx="11088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 i="0">
                <a:solidFill>
                  <a:srgbClr val="7A8899"/>
                </a:solidFill>
                <a:latin typeface="Arial"/>
              </a:rPr>
              <a:t>Терминология: в тексте Приложения № 11 применяются понятия «треугольник взрываемости» и «взрывоопасное состояние рудничной атмосферы». Наименования зарубежных методик (Коуарда, Эллиота–Ламберта) в нормативном документе не используются — в отчётных документах следует применять формулировки НПА.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17999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7999"/>
            <a:ext cx="12192119" cy="32400"/>
          </a:xfrm>
          <a:prstGeom prst="rect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64800"/>
            <a:ext cx="794809" cy="79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88000" y="1512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5C142"/>
                </a:solidFill>
                <a:latin typeface="Arial"/>
              </a:rPr>
              <a:t>РАЗДЕЛ 2 · ПОСТАНОВКА ЗАДАЧИ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000" y="342000"/>
            <a:ext cx="97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100" b="1" i="0">
                <a:solidFill>
                  <a:srgbClr val="FFFFFF"/>
                </a:solidFill>
                <a:latin typeface="Arial"/>
              </a:rPr>
              <a:t>Почему нужны программные комплексы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000" y="691200"/>
            <a:ext cx="97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 i="0">
                <a:solidFill>
                  <a:srgbClr val="B9CCE4"/>
                </a:solidFill>
                <a:latin typeface="Arial"/>
              </a:rPr>
              <a:t>Нормативное требование и практические ограничения ручного счёта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8000"/>
            <a:ext cx="12192119" cy="360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2000" y="6577200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00" b="0" i="0">
                <a:solidFill>
                  <a:srgbClr val="8A96A5"/>
                </a:solidFill>
                <a:latin typeface="Arial"/>
              </a:rPr>
              <a:t>ФГУП «Военизированная горноспасательная часть» · Обзор программ для инженерных расчётов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40119" y="6577200"/>
            <a:ext cx="7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1" i="0">
                <a:solidFill>
                  <a:srgbClr val="1B4F91"/>
                </a:solidFill>
                <a:latin typeface="Arial"/>
              </a:rPr>
              <a:t>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6000" y="1548000"/>
            <a:ext cx="3546000" cy="1998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76000" y="1548000"/>
            <a:ext cx="3546000" cy="46800"/>
          </a:xfrm>
          <a:prstGeom prst="rect">
            <a:avLst/>
          </a:prstGeom>
          <a:solidFill>
            <a:srgbClr val="C7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1799999"/>
            <a:ext cx="3096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0B1E3D"/>
                </a:solidFill>
                <a:latin typeface="Arial"/>
              </a:rPr>
              <a:t>Прямое требование нормы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2322000"/>
            <a:ext cx="309600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3A4657"/>
                </a:solidFill>
                <a:latin typeface="Arial"/>
              </a:rPr>
              <a:t>Абзац 2 п. 26 предписывает выполнять пять видов расчётов с использованием ПО на ЭВМ. Это обязанность, а не рекомендация.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7999" y="1548000"/>
            <a:ext cx="3546000" cy="1998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7999" y="1548000"/>
            <a:ext cx="3546000" cy="46800"/>
          </a:xfrm>
          <a:prstGeom prst="rect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999" y="1799999"/>
            <a:ext cx="3096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0B1E3D"/>
                </a:solidFill>
                <a:latin typeface="Arial"/>
              </a:rPr>
              <a:t>Модель топологии от ОПО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3999" y="2322000"/>
            <a:ext cx="309600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3A4657"/>
                </a:solidFill>
                <a:latin typeface="Arial"/>
              </a:rPr>
              <a:t>Норма закрепляет обязанность предприятия предоставить модель топологии горных выработок — основание требовать её по договору обслуживания.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9998" y="1548000"/>
            <a:ext cx="3546000" cy="1998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99998" y="1548000"/>
            <a:ext cx="3546000" cy="46800"/>
          </a:xfrm>
          <a:prstGeom prst="rect">
            <a:avLst/>
          </a:prstGeom>
          <a:solidFill>
            <a:srgbClr val="C7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5998" y="1799999"/>
            <a:ext cx="3096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0B1E3D"/>
                </a:solidFill>
                <a:latin typeface="Arial"/>
              </a:rPr>
              <a:t>Фактор времени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5998" y="2322000"/>
            <a:ext cx="309600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3A4657"/>
                </a:solidFill>
                <a:latin typeface="Arial"/>
              </a:rPr>
              <a:t>Ручной расчёт по треугольникам взрываемости — десятки минут на пробу. При аварии счёт проб идёт непрерывно.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6000" y="3744000"/>
            <a:ext cx="3546000" cy="1998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76000" y="3744000"/>
            <a:ext cx="3546000" cy="468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2000" y="3995999"/>
            <a:ext cx="3096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0B1E3D"/>
                </a:solidFill>
                <a:latin typeface="Arial"/>
              </a:rPr>
              <a:t>Сложность сети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2000" y="4518000"/>
            <a:ext cx="309600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3A4657"/>
                </a:solidFill>
                <a:latin typeface="Arial"/>
              </a:rPr>
              <a:t>Вентиляционная сеть шахты — сотни и тысячи ветвей. Расчёт воздухораспределения без ЭВМ невозможен.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37999" y="3744000"/>
            <a:ext cx="3546000" cy="1998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37999" y="3744000"/>
            <a:ext cx="3546000" cy="4680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53999" y="3995999"/>
            <a:ext cx="3096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0B1E3D"/>
                </a:solidFill>
                <a:latin typeface="Arial"/>
              </a:rPr>
              <a:t>Прямая отсылка Прил. № 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999" y="4518000"/>
            <a:ext cx="309600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3A4657"/>
                </a:solidFill>
                <a:latin typeface="Arial"/>
              </a:rPr>
              <a:t>Расчёт проёмов применим лишь при одной воздухоподающей и одной воздухоотводящей выработке; при других схемах предписано матмоделирование на ЭВМ.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99998" y="3744000"/>
            <a:ext cx="3546000" cy="1998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99998" y="3744000"/>
            <a:ext cx="3546000" cy="46800"/>
          </a:xfrm>
          <a:prstGeom prst="rect">
            <a:avLst/>
          </a:prstGeom>
          <a:solidFill>
            <a:srgbClr val="1B4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15998" y="3995999"/>
            <a:ext cx="3096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0B1E3D"/>
                </a:solidFill>
                <a:latin typeface="Arial"/>
              </a:rPr>
              <a:t>Цена ошибки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15998" y="4518000"/>
            <a:ext cx="309600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3A4657"/>
                </a:solidFill>
                <a:latin typeface="Arial"/>
              </a:rPr>
              <a:t>Неверная оценка взрывоопасности — угроза жизни горноспасательного отделения. Требуется верифицированный алгоритм.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17999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7999"/>
            <a:ext cx="12192119" cy="32400"/>
          </a:xfrm>
          <a:prstGeom prst="rect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64800"/>
            <a:ext cx="794809" cy="79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88000" y="1512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5C142"/>
                </a:solidFill>
                <a:latin typeface="Arial"/>
              </a:rPr>
              <a:t>РАЗДЕЛ 3 · ЛАНДШАФТ РЕШЕНИЙ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000" y="342000"/>
            <a:ext cx="97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100" b="1" i="0">
                <a:solidFill>
                  <a:srgbClr val="FFFFFF"/>
                </a:solidFill>
                <a:latin typeface="Arial"/>
              </a:rPr>
              <a:t>Обзор рынка расчётного ПО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000" y="691200"/>
            <a:ext cx="97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 i="0">
                <a:solidFill>
                  <a:srgbClr val="B9CCE4"/>
                </a:solidFill>
                <a:latin typeface="Arial"/>
              </a:rPr>
              <a:t>Отечественные и зарубежные решения, применимые для задач ВГСЧ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8000"/>
            <a:ext cx="12192119" cy="360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2000" y="6577200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00" b="0" i="0">
                <a:solidFill>
                  <a:srgbClr val="8A96A5"/>
                </a:solidFill>
                <a:latin typeface="Arial"/>
              </a:rPr>
              <a:t>ФГУП «Военизированная горноспасательная часть» · Обзор программ для инженерных расчётов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40119" y="6577200"/>
            <a:ext cx="7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1" i="0">
                <a:solidFill>
                  <a:srgbClr val="1B4F91"/>
                </a:solidFill>
                <a:latin typeface="Arial"/>
              </a:rPr>
              <a:t>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3999" y="1548000"/>
            <a:ext cx="11196000" cy="396000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998" y="1656000"/>
            <a:ext cx="2052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 i="0">
                <a:solidFill>
                  <a:srgbClr val="F5C142"/>
                </a:solidFill>
                <a:latin typeface="Arial"/>
              </a:rPr>
              <a:t>Продукт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61999" y="1656000"/>
            <a:ext cx="320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 i="0">
                <a:solidFill>
                  <a:srgbClr val="F5C142"/>
                </a:solidFill>
                <a:latin typeface="Arial"/>
              </a:rPr>
              <a:t>Разработчик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5999" y="1656000"/>
            <a:ext cx="39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 i="0">
                <a:solidFill>
                  <a:srgbClr val="F5C142"/>
                </a:solidFill>
                <a:latin typeface="Arial"/>
              </a:rPr>
              <a:t>Назначение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85999" y="1656000"/>
            <a:ext cx="126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 i="0">
                <a:solidFill>
                  <a:srgbClr val="F5C142"/>
                </a:solidFill>
                <a:latin typeface="Arial"/>
              </a:rPr>
              <a:t>Страна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3999" y="1944000"/>
            <a:ext cx="11196000" cy="576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9998" y="2069999"/>
            <a:ext cx="2052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 i="0">
                <a:solidFill>
                  <a:srgbClr val="0B1E3D"/>
                </a:solidFill>
                <a:latin typeface="Arial"/>
              </a:rPr>
              <a:t>АэроСеть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61999" y="2069999"/>
            <a:ext cx="3204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 i="0">
                <a:solidFill>
                  <a:srgbClr val="3A4657"/>
                </a:solidFill>
                <a:latin typeface="Arial"/>
              </a:rPr>
              <a:t>ООО «Аэрология горных предприятий» / ГИ УрО РАН, Пермь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45999" y="2069999"/>
            <a:ext cx="3960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 i="0">
                <a:solidFill>
                  <a:srgbClr val="3A4657"/>
                </a:solidFill>
                <a:latin typeface="Arial"/>
              </a:rPr>
              <a:t>Расчёт вентиляционных сетей, аварийные режимы, тепло- и газодинамика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85999" y="2069999"/>
            <a:ext cx="1260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 i="0">
                <a:solidFill>
                  <a:srgbClr val="3A4657"/>
                </a:solidFill>
                <a:latin typeface="Arial"/>
              </a:rPr>
              <a:t>Россия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3999" y="2520000"/>
            <a:ext cx="11196000" cy="57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9998" y="2645999"/>
            <a:ext cx="2052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 i="0">
                <a:solidFill>
                  <a:srgbClr val="0B1E3D"/>
                </a:solidFill>
                <a:latin typeface="Arial"/>
              </a:rPr>
              <a:t>«Вентиляция»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61999" y="2645999"/>
            <a:ext cx="3204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 i="0">
                <a:solidFill>
                  <a:srgbClr val="3A4657"/>
                </a:solidFill>
                <a:latin typeface="Arial"/>
              </a:rPr>
              <a:t>ООО «Шахтэксперт-Системы», Кемерово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45999" y="2645999"/>
            <a:ext cx="3960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 i="0">
                <a:solidFill>
                  <a:srgbClr val="3A4657"/>
                </a:solidFill>
                <a:latin typeface="Arial"/>
              </a:rPr>
              <a:t>Аэрологические расчёты, депрессионные съёмки, ПЛА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85999" y="2645999"/>
            <a:ext cx="1260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 i="0">
                <a:solidFill>
                  <a:srgbClr val="3A4657"/>
                </a:solidFill>
                <a:latin typeface="Arial"/>
              </a:rPr>
              <a:t>Россия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3999" y="3096000"/>
            <a:ext cx="11196000" cy="576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998" y="3221999"/>
            <a:ext cx="2052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 i="0">
                <a:solidFill>
                  <a:srgbClr val="0B1E3D"/>
                </a:solidFill>
                <a:latin typeface="Arial"/>
              </a:rPr>
              <a:t>ПВ-Система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61999" y="3221999"/>
            <a:ext cx="3204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 i="0">
                <a:solidFill>
                  <a:srgbClr val="3A4657"/>
                </a:solidFill>
                <a:latin typeface="Arial"/>
              </a:rPr>
              <a:t>Специализированный комплекс для ВГСЧ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45999" y="3221999"/>
            <a:ext cx="3960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 i="0">
                <a:solidFill>
                  <a:srgbClr val="3A4657"/>
                </a:solidFill>
                <a:latin typeface="Arial"/>
              </a:rPr>
              <a:t>Расчёты Приложения № 11: взрывоопасность, перемычки, гидравлика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85999" y="3221999"/>
            <a:ext cx="1260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 i="0">
                <a:solidFill>
                  <a:srgbClr val="3A4657"/>
                </a:solidFill>
                <a:latin typeface="Arial"/>
              </a:rPr>
              <a:t>Россия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3999" y="3672000"/>
            <a:ext cx="11196000" cy="57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9998" y="3797999"/>
            <a:ext cx="2052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 i="0">
                <a:solidFill>
                  <a:srgbClr val="0B1E3D"/>
                </a:solidFill>
                <a:latin typeface="Arial"/>
              </a:rPr>
              <a:t>MineFrame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61999" y="3797999"/>
            <a:ext cx="3204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 i="0">
                <a:solidFill>
                  <a:srgbClr val="3A4657"/>
                </a:solidFill>
                <a:latin typeface="Arial"/>
              </a:rPr>
              <a:t>ГоИ КНЦ РАН, Апатиты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5999" y="3797999"/>
            <a:ext cx="3960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 i="0">
                <a:solidFill>
                  <a:srgbClr val="3A4657"/>
                </a:solidFill>
                <a:latin typeface="Arial"/>
              </a:rPr>
              <a:t>Горно-геологическая ИС с вентиляционным модулем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85999" y="3797999"/>
            <a:ext cx="1260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 i="0">
                <a:solidFill>
                  <a:srgbClr val="3A4657"/>
                </a:solidFill>
                <a:latin typeface="Arial"/>
              </a:rPr>
              <a:t>Россия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3999" y="4248000"/>
            <a:ext cx="11196000" cy="576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9998" y="4373999"/>
            <a:ext cx="2052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 i="0">
                <a:solidFill>
                  <a:srgbClr val="0B1E3D"/>
                </a:solidFill>
                <a:latin typeface="Arial"/>
              </a:rPr>
              <a:t>АРМ ВТБ / «Вентиляция-Л»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61999" y="4373999"/>
            <a:ext cx="3204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 i="0">
                <a:solidFill>
                  <a:srgbClr val="3A4657"/>
                </a:solidFill>
                <a:latin typeface="Arial"/>
              </a:rPr>
              <a:t>Отраслевые разработки НЦ ВостНИИ, МакНИИ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45999" y="4373999"/>
            <a:ext cx="3960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 i="0">
                <a:solidFill>
                  <a:srgbClr val="3A4657"/>
                </a:solidFill>
                <a:latin typeface="Arial"/>
              </a:rPr>
              <a:t>Рабочее место участка ВТБ, расчёт депрессии и ПЛА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85999" y="4373999"/>
            <a:ext cx="1260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 i="0">
                <a:solidFill>
                  <a:srgbClr val="3A4657"/>
                </a:solidFill>
                <a:latin typeface="Arial"/>
              </a:rPr>
              <a:t>Россия / СНГ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3999" y="4824000"/>
            <a:ext cx="11196000" cy="57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9998" y="4949999"/>
            <a:ext cx="2052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 i="0">
                <a:solidFill>
                  <a:srgbClr val="0B1E3D"/>
                </a:solidFill>
                <a:latin typeface="Arial"/>
              </a:rPr>
              <a:t>Ventsim DESIGN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61999" y="4949999"/>
            <a:ext cx="3204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 i="0">
                <a:solidFill>
                  <a:srgbClr val="3A4657"/>
                </a:solidFill>
                <a:latin typeface="Arial"/>
              </a:rPr>
              <a:t>Howden / Chasm Consulting, Австралия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45999" y="4949999"/>
            <a:ext cx="3960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 i="0">
                <a:solidFill>
                  <a:srgbClr val="3A4657"/>
                </a:solidFill>
                <a:latin typeface="Arial"/>
              </a:rPr>
              <a:t>3D-моделирование вентиляции, пожарные и тепловые режимы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85999" y="4949999"/>
            <a:ext cx="1260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 i="0">
                <a:solidFill>
                  <a:srgbClr val="3A4657"/>
                </a:solidFill>
                <a:latin typeface="Arial"/>
              </a:rPr>
              <a:t>Зарубеж.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3999" y="5400000"/>
            <a:ext cx="11196000" cy="576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9998" y="5525999"/>
            <a:ext cx="2052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 i="0">
                <a:solidFill>
                  <a:srgbClr val="0B1E3D"/>
                </a:solidFill>
                <a:latin typeface="Arial"/>
              </a:rPr>
              <a:t>VentPRO / VUMA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61999" y="5525999"/>
            <a:ext cx="3204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 i="0">
                <a:solidFill>
                  <a:srgbClr val="3A4657"/>
                </a:solidFill>
                <a:latin typeface="Arial"/>
              </a:rPr>
              <a:t>ЮАР, Австралия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45999" y="5525999"/>
            <a:ext cx="3960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 i="0">
                <a:solidFill>
                  <a:srgbClr val="3A4657"/>
                </a:solidFill>
                <a:latin typeface="Arial"/>
              </a:rPr>
              <a:t>Вентиляция и климат глубоких рудников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85999" y="5525999"/>
            <a:ext cx="1260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 i="0">
                <a:solidFill>
                  <a:srgbClr val="3A4657"/>
                </a:solidFill>
                <a:latin typeface="Arial"/>
              </a:rPr>
              <a:t>Зарубеж.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17999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7999"/>
            <a:ext cx="12192119" cy="32400"/>
          </a:xfrm>
          <a:prstGeom prst="rect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64800"/>
            <a:ext cx="794809" cy="79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88000" y="1512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5C142"/>
                </a:solidFill>
                <a:latin typeface="Arial"/>
              </a:rPr>
              <a:t>РАЗДЕЛ 4 · АЭРОСЕТЬ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000" y="342000"/>
            <a:ext cx="97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100" b="1" i="0">
                <a:solidFill>
                  <a:srgbClr val="FFFFFF"/>
                </a:solidFill>
                <a:latin typeface="Arial"/>
              </a:rPr>
              <a:t>Программный комплекс «АэроСеть»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000" y="691200"/>
            <a:ext cx="97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 i="0">
                <a:solidFill>
                  <a:srgbClr val="B9CCE4"/>
                </a:solidFill>
                <a:latin typeface="Arial"/>
              </a:rPr>
              <a:t>Разработчик: ООО «Аэрология горных предприятий» (г. Пермь), при участии Горного института УрО РАН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8000"/>
            <a:ext cx="12192119" cy="360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2000" y="6577200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00" b="0" i="0">
                <a:solidFill>
                  <a:srgbClr val="8A96A5"/>
                </a:solidFill>
                <a:latin typeface="Arial"/>
              </a:rPr>
              <a:t>ФГУП «Военизированная горноспасательная часть» · Обзор программ для инженерных расчётов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40119" y="6577200"/>
            <a:ext cx="7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1" i="0">
                <a:solidFill>
                  <a:srgbClr val="1B4F91"/>
                </a:solidFill>
                <a:latin typeface="Arial"/>
              </a:rPr>
              <a:t>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6000" y="1512000"/>
            <a:ext cx="5400000" cy="1944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76000" y="1512000"/>
            <a:ext cx="50400" cy="1944000"/>
          </a:xfrm>
          <a:prstGeom prst="rect">
            <a:avLst/>
          </a:prstGeom>
          <a:solidFill>
            <a:srgbClr val="1B4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4000" y="1656000"/>
            <a:ext cx="504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 i="0">
                <a:solidFill>
                  <a:srgbClr val="0B1E3D"/>
                </a:solidFill>
                <a:latin typeface="Arial"/>
              </a:rPr>
              <a:t>Назначение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4000" y="1980000"/>
            <a:ext cx="5040000" cy="13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1B4F91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Моделирование и расчёт вентиляционных сетей шахт и рудников любой топологии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1B4F91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Расчёт воздухораспределения, депрессии, естественной тяги, работы ГВУ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1B4F91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Моделирование аварийных вентиляционных режимов, в т.ч. реверсирования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999" y="1512000"/>
            <a:ext cx="5400000" cy="1944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999" y="1512000"/>
            <a:ext cx="50400" cy="1944000"/>
          </a:xfrm>
          <a:prstGeom prst="rect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1999" y="1656000"/>
            <a:ext cx="504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 i="0">
                <a:solidFill>
                  <a:srgbClr val="0B1E3D"/>
                </a:solidFill>
                <a:latin typeface="Arial"/>
              </a:rPr>
              <a:t>Закрывает из абзаца 2 п. 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999" y="1980000"/>
            <a:ext cx="5040000" cy="13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F5C142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Параметры развития пожара, режимы проветривания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F5C142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Устойчивость проветривания при пожаре в наклонных и вертикальных выработках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F5C142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Зоны поражения при пожарах и взрывах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6000" y="3671999"/>
            <a:ext cx="5376059" cy="2268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6000" y="3671999"/>
            <a:ext cx="50400" cy="226800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4000" y="3815999"/>
            <a:ext cx="5016059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 i="0">
                <a:solidFill>
                  <a:srgbClr val="0B1E3D"/>
                </a:solidFill>
                <a:latin typeface="Arial"/>
              </a:rPr>
              <a:t>✔  Преимущества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4000" y="4139999"/>
            <a:ext cx="5016059" cy="169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1E8E5A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Наиболее полный отечественный расчёт вентиляционных сетей — тысячи ветвей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1E8E5A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Закрывает большую часть расчётов абзаца 2 п. 26, требующих ЭВМ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1E8E5A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Включён в Реестр российского ПО, активно развивается, регулярные обновления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1E8E5A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Внедрён на большинстве крупных угольных и рудных предприятий РФ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1E8E5A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Есть учебные курсы и техническая поддержка разработчика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40059" y="3671999"/>
            <a:ext cx="5376059" cy="2268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40059" y="3671999"/>
            <a:ext cx="50400" cy="2268000"/>
          </a:xfrm>
          <a:prstGeom prst="rect">
            <a:avLst/>
          </a:prstGeom>
          <a:solidFill>
            <a:srgbClr val="C7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8059" y="3815999"/>
            <a:ext cx="5016059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 i="0">
                <a:solidFill>
                  <a:srgbClr val="0B1E3D"/>
                </a:solidFill>
                <a:latin typeface="Arial"/>
              </a:rPr>
              <a:t>✖  Ограничения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8059" y="4139999"/>
            <a:ext cx="5016059" cy="169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C72B2B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Высокая стоимость лицензии и сопровождения — ощутимо для бюджета подразделения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C72B2B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Требует построения и постоянной актуализации цифровой модели сети шахты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C72B2B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Порог вхождения: нужен подготовленный инженер-аэролог, обучение 3–5 дней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C72B2B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Нацелен на службу ВТБ предприятия, а не на оперативную работу на командном пункте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C72B2B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Расчёты Приложения № 11 (треугольники взрываемости, водоупорные перемычки) не реализованы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17999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7999"/>
            <a:ext cx="12192119" cy="32400"/>
          </a:xfrm>
          <a:prstGeom prst="rect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64800"/>
            <a:ext cx="794809" cy="79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88000" y="1512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5C142"/>
                </a:solidFill>
                <a:latin typeface="Arial"/>
              </a:rPr>
              <a:t>РАЗДЕЛ 4 · АЭРОСЕТЬ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000" y="342000"/>
            <a:ext cx="97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100" b="1" i="0">
                <a:solidFill>
                  <a:srgbClr val="FFFFFF"/>
                </a:solidFill>
                <a:latin typeface="Arial"/>
              </a:rPr>
              <a:t>«АэроСеть»: применение в задачах ВГСЧ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000" y="691200"/>
            <a:ext cx="97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 i="0">
                <a:solidFill>
                  <a:srgbClr val="B9CCE4"/>
                </a:solidFill>
                <a:latin typeface="Arial"/>
              </a:rPr>
              <a:t>Где комплекс даёт максимальный эффект при ликвидации аварии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8000"/>
            <a:ext cx="12192119" cy="360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2000" y="6577200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00" b="0" i="0">
                <a:solidFill>
                  <a:srgbClr val="8A96A5"/>
                </a:solidFill>
                <a:latin typeface="Arial"/>
              </a:rPr>
              <a:t>ФГУП «Военизированная горноспасательная часть» · Обзор программ для инженерных расчётов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40119" y="6577200"/>
            <a:ext cx="7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1" i="0">
                <a:solidFill>
                  <a:srgbClr val="1B4F91"/>
                </a:solidFill>
                <a:latin typeface="Arial"/>
              </a:rPr>
              <a:t>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6000" y="1548000"/>
            <a:ext cx="11088000" cy="1044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76000" y="1548000"/>
            <a:ext cx="57600" cy="104400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4000" y="1710000"/>
            <a:ext cx="3240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1" i="0">
                <a:solidFill>
                  <a:srgbClr val="0B1E3D"/>
                </a:solidFill>
                <a:latin typeface="Arial"/>
              </a:rPr>
              <a:t>Разработка ПЛА и ОП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0" y="1764000"/>
            <a:ext cx="7128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 i="0">
                <a:solidFill>
                  <a:srgbClr val="3A4657"/>
                </a:solidFill>
                <a:latin typeface="Arial"/>
              </a:rPr>
              <a:t>Проработка вариантов аварийных вентиляционных режимов заранее; проверка реализуемости позиций ПЛА.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6000" y="2700000"/>
            <a:ext cx="11088000" cy="1044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6000" y="2700000"/>
            <a:ext cx="57600" cy="1044000"/>
          </a:xfrm>
          <a:prstGeom prst="rect">
            <a:avLst/>
          </a:prstGeom>
          <a:solidFill>
            <a:srgbClr val="1B4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4000" y="2862000"/>
            <a:ext cx="3240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1" i="0">
                <a:solidFill>
                  <a:srgbClr val="0B1E3D"/>
                </a:solidFill>
                <a:latin typeface="Arial"/>
              </a:rPr>
              <a:t>Режимы проветривания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20000" y="2916000"/>
            <a:ext cx="7128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 i="0">
                <a:solidFill>
                  <a:srgbClr val="3A4657"/>
                </a:solidFill>
                <a:latin typeface="Arial"/>
              </a:rPr>
              <a:t>Расчёт последствий реверса, закорачивания струи, остановки ГВУ; прогноз загазирования и зон поражения.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6000" y="3852000"/>
            <a:ext cx="11088000" cy="1044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6000" y="3852000"/>
            <a:ext cx="57600" cy="1044000"/>
          </a:xfrm>
          <a:prstGeom prst="rect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4000" y="4014000"/>
            <a:ext cx="3240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1" i="0">
                <a:solidFill>
                  <a:srgbClr val="0B1E3D"/>
                </a:solidFill>
                <a:latin typeface="Arial"/>
              </a:rPr>
              <a:t>Изоляция аварийного участка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0000" y="4068000"/>
            <a:ext cx="7128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 i="0">
                <a:solidFill>
                  <a:srgbClr val="3A4657"/>
                </a:solidFill>
                <a:latin typeface="Arial"/>
              </a:rPr>
              <a:t>Оценка влияния возводимых перемычек на распределение воздуха; матмоделирование при сложных схемах проветривания.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6000" y="5004000"/>
            <a:ext cx="11088000" cy="1044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76000" y="5004000"/>
            <a:ext cx="57600" cy="1044000"/>
          </a:xfrm>
          <a:prstGeom prst="rect">
            <a:avLst/>
          </a:prstGeom>
          <a:solidFill>
            <a:srgbClr val="C7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4000" y="5166000"/>
            <a:ext cx="3240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1" i="0">
                <a:solidFill>
                  <a:srgbClr val="0B1E3D"/>
                </a:solidFill>
                <a:latin typeface="Arial"/>
              </a:rPr>
              <a:t>Маршруты вывода людей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20000" y="5220000"/>
            <a:ext cx="7128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 i="0">
                <a:solidFill>
                  <a:srgbClr val="3A4657"/>
                </a:solidFill>
                <a:latin typeface="Arial"/>
              </a:rPr>
              <a:t>Расчёт времени движения по выработкам и сопоставление со временем защитного действия самоспасателя.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000" y="6120000"/>
            <a:ext cx="11088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 i="0">
                <a:solidFill>
                  <a:srgbClr val="0B1E3D"/>
                </a:solidFill>
                <a:latin typeface="Arial"/>
              </a:rPr>
              <a:t>Вывод: «АэроСеть» закрывает абзац 2 п. 26, но НЕ закрывает расчёты Приложения № 11 — требуется дополнение специализированным ПО.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17999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7999"/>
            <a:ext cx="12192119" cy="32400"/>
          </a:xfrm>
          <a:prstGeom prst="rect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64800"/>
            <a:ext cx="794809" cy="79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88000" y="1512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5C142"/>
                </a:solidFill>
                <a:latin typeface="Arial"/>
              </a:rPr>
              <a:t>РАЗДЕЛ 5 · «ВЕНТИЛЯЦИЯ»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000" y="342000"/>
            <a:ext cx="97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100" b="1" i="0">
                <a:solidFill>
                  <a:srgbClr val="FFFFFF"/>
                </a:solidFill>
                <a:latin typeface="Arial"/>
              </a:rPr>
              <a:t>Программный комплекс «Вентиляция»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000" y="691200"/>
            <a:ext cx="97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 i="0">
                <a:solidFill>
                  <a:srgbClr val="B9CCE4"/>
                </a:solidFill>
                <a:latin typeface="Arial"/>
              </a:rPr>
              <a:t>ООО «Шахтэксперт-Системы» (г. Кемерово) — семейство отраслевых расчётных программ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8000"/>
            <a:ext cx="12192119" cy="360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2000" y="6577200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00" b="0" i="0">
                <a:solidFill>
                  <a:srgbClr val="8A96A5"/>
                </a:solidFill>
                <a:latin typeface="Arial"/>
              </a:rPr>
              <a:t>ФГУП «Военизированная горноспасательная часть» · Обзор программ для инженерных расчётов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40119" y="6577200"/>
            <a:ext cx="7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1" i="0">
                <a:solidFill>
                  <a:srgbClr val="1B4F91"/>
                </a:solidFill>
                <a:latin typeface="Arial"/>
              </a:rPr>
              <a:t>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6000" y="1512000"/>
            <a:ext cx="5400000" cy="1944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76000" y="1512000"/>
            <a:ext cx="50400" cy="1944000"/>
          </a:xfrm>
          <a:prstGeom prst="rect">
            <a:avLst/>
          </a:prstGeom>
          <a:solidFill>
            <a:srgbClr val="1B4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4000" y="1656000"/>
            <a:ext cx="504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 i="0">
                <a:solidFill>
                  <a:srgbClr val="0B1E3D"/>
                </a:solidFill>
                <a:latin typeface="Arial"/>
              </a:rPr>
              <a:t>Состав и возможности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4000" y="1980000"/>
            <a:ext cx="5040000" cy="13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1B4F91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Построение схемы вентиляции шахты, расчёт воздухораспределения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1B4F91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Обработка депрессионных и газовых съёмок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1B4F91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Расчёт количества воздуха по выемочным участкам и по шахте в целом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1B4F91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Формирование вентиляционных планов и отчётных документов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999" y="1512000"/>
            <a:ext cx="5400000" cy="1944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999" y="1512000"/>
            <a:ext cx="50400" cy="1944000"/>
          </a:xfrm>
          <a:prstGeom prst="rect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1999" y="1656000"/>
            <a:ext cx="504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 i="0">
                <a:solidFill>
                  <a:srgbClr val="0B1E3D"/>
                </a:solidFill>
                <a:latin typeface="Arial"/>
              </a:rPr>
              <a:t>Смежные продукты линейки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999" y="1980000"/>
            <a:ext cx="5040000" cy="13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F5C142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«Аэрология» / «Прогноз» — прогноз метанообильности и дегазация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F5C142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«Пожар», «ПЛА» — модули аварийных режимов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F5C142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Интеграция с графикой горных работ и маркшейдерскими планами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6000" y="3671999"/>
            <a:ext cx="5376059" cy="2268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6000" y="3671999"/>
            <a:ext cx="50400" cy="226800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4000" y="3815999"/>
            <a:ext cx="5016059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 i="0">
                <a:solidFill>
                  <a:srgbClr val="0B1E3D"/>
                </a:solidFill>
                <a:latin typeface="Arial"/>
              </a:rPr>
              <a:t>✔  Преимущества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4000" y="4139999"/>
            <a:ext cx="5016059" cy="169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1E8E5A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Ориентирован на реальную отчётность службы ВТБ угольных шахт — готовые формы документов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1E8E5A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Существенно ниже стоимость по сравнению с комплексными 3D-системами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1E8E5A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Простой интерфейс, невысокие требования к ПК, быстрый ввод в эксплуатацию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1E8E5A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Многолетняя практика применения на шахтах Кузбасса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1E8E5A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Хорошо решает задачи депрессионных съёмок и нормирования воздуха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40059" y="3671999"/>
            <a:ext cx="5376059" cy="2268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40059" y="3671999"/>
            <a:ext cx="50400" cy="2268000"/>
          </a:xfrm>
          <a:prstGeom prst="rect">
            <a:avLst/>
          </a:prstGeom>
          <a:solidFill>
            <a:srgbClr val="C7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8059" y="3815999"/>
            <a:ext cx="5016059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 i="0">
                <a:solidFill>
                  <a:srgbClr val="0B1E3D"/>
                </a:solidFill>
                <a:latin typeface="Arial"/>
              </a:rPr>
              <a:t>✖  Ограничения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8059" y="4139999"/>
            <a:ext cx="5016059" cy="169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C72B2B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Более узкая функциональность: 3D-визуализация и динамика пожара развиты слабее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C72B2B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Аварийные и тепловые режимы моделируются упрощённо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C72B2B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Слабая интеграция с современными ГГИС и системами АГК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C72B2B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Ориентация преимущественно на угольные шахты; для рудников адаптация ограничена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C72B2B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Расчёты Приложения № 11 покрываются частично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17999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7999"/>
            <a:ext cx="12192119" cy="32400"/>
          </a:xfrm>
          <a:prstGeom prst="rect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64800"/>
            <a:ext cx="794809" cy="79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88000" y="1512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5C142"/>
                </a:solidFill>
                <a:latin typeface="Arial"/>
              </a:rPr>
              <a:t>РАЗДЕЛ 6 · ПВ-СИСТЕМА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000" y="342000"/>
            <a:ext cx="97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100" b="1" i="0">
                <a:solidFill>
                  <a:srgbClr val="FFFFFF"/>
                </a:solidFill>
                <a:latin typeface="Arial"/>
              </a:rPr>
              <a:t>Программный комплекс «ПВ-Система»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000" y="691200"/>
            <a:ext cx="97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 i="0">
                <a:solidFill>
                  <a:srgbClr val="B9CCE4"/>
                </a:solidFill>
                <a:latin typeface="Arial"/>
              </a:rPr>
              <a:t>Специализированное решение для инженерных расчётов горноспасательных работ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8000"/>
            <a:ext cx="12192119" cy="360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2000" y="6577200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00" b="0" i="0">
                <a:solidFill>
                  <a:srgbClr val="8A96A5"/>
                </a:solidFill>
                <a:latin typeface="Arial"/>
              </a:rPr>
              <a:t>ФГУП «Военизированная горноспасательная часть» · Обзор программ для инженерных расчётов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40119" y="6577200"/>
            <a:ext cx="7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1" i="0">
                <a:solidFill>
                  <a:srgbClr val="1B4F91"/>
                </a:solidFill>
                <a:latin typeface="Arial"/>
              </a:rPr>
              <a:t>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6000" y="1512000"/>
            <a:ext cx="5400000" cy="1944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76000" y="1512000"/>
            <a:ext cx="50400" cy="1944000"/>
          </a:xfrm>
          <a:prstGeom prst="rect">
            <a:avLst/>
          </a:prstGeom>
          <a:solidFill>
            <a:srgbClr val="1B4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4000" y="1656000"/>
            <a:ext cx="504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 i="0">
                <a:solidFill>
                  <a:srgbClr val="0B1E3D"/>
                </a:solidFill>
                <a:latin typeface="Arial"/>
              </a:rPr>
              <a:t>Назначение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4000" y="1980000"/>
            <a:ext cx="5040000" cy="13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1B4F91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Прямая реализация методик Приложения № 11 Инструкции № 520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1B4F91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Работа инженера технического отделения на командном пункте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1B4F91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Автоматическое формирование расчётных листов к оперативному плану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999" y="1512000"/>
            <a:ext cx="5400000" cy="1944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999" y="1512000"/>
            <a:ext cx="50400" cy="1944000"/>
          </a:xfrm>
          <a:prstGeom prst="rect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1999" y="1656000"/>
            <a:ext cx="504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 i="0">
                <a:solidFill>
                  <a:srgbClr val="0B1E3D"/>
                </a:solidFill>
                <a:latin typeface="Arial"/>
              </a:rPr>
              <a:t>Расчётные модули по Приложению № 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999" y="1980000"/>
            <a:ext cx="5040000" cy="13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F5C142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Взрывоопасность рудничной атмосферы: формулы (1)–(5), треугольники рис. 1–6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F5C142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Проёмы в изоляционных перемычках: формулы (6)–(13), номограмма K оч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F5C142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Водоупорные перемычки: клинчатые (14)–(17) и цилиндрические (18)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F5C142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Аэродинамика участка, расчёт сил и средств ВГСЧ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6000" y="3671999"/>
            <a:ext cx="5376059" cy="2268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6000" y="3671999"/>
            <a:ext cx="50400" cy="226800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4000" y="3815999"/>
            <a:ext cx="5016059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 i="0">
                <a:solidFill>
                  <a:srgbClr val="0B1E3D"/>
                </a:solidFill>
                <a:latin typeface="Arial"/>
              </a:rPr>
              <a:t>✔  Преимущества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4000" y="4139999"/>
            <a:ext cx="5016059" cy="169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1E8E5A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Единственный класс ПО, покрывающий ВСЕ ТРИ расчёта Приложения № 11 «под ключ»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1E8E5A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Заточен под регламент работы ВГСЧ, а не под службу ВТБ предприятия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1E8E5A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Минимальные исходные данные — работает по данным газового анализа и замеров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1E8E5A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Скорость: результат по пробе за секунды, без построения модели всей шахты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1E8E5A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Автоматический протокол расчёта с формулами и ссылками на пункты НПА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1E8E5A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Отечественная разработка, работа в закрытом контуре / офлайн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40059" y="3671999"/>
            <a:ext cx="5376059" cy="2268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40059" y="3671999"/>
            <a:ext cx="50400" cy="2268000"/>
          </a:xfrm>
          <a:prstGeom prst="rect">
            <a:avLst/>
          </a:prstGeom>
          <a:solidFill>
            <a:srgbClr val="C7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8059" y="3815999"/>
            <a:ext cx="5016059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 i="0">
                <a:solidFill>
                  <a:srgbClr val="0B1E3D"/>
                </a:solidFill>
                <a:latin typeface="Arial"/>
              </a:rPr>
              <a:t>✖  Ограничения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8059" y="4139999"/>
            <a:ext cx="5016059" cy="169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C72B2B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Не заменяет сетевой расчёт вентиляции — расчёты абзаца 2 п. 26 закрываются частично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C72B2B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Нет 3D-визуализации горных выработок и анимации распространения пожара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C72B2B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Требует корректных и свежих данных газового анализа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C72B2B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Необходимо обучение персонала интерпретации результатов; ответственность остаётся на РГСР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C72B2B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Экосистема интеграций пока уже, чем у крупных ГГИС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17999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7999"/>
            <a:ext cx="12192119" cy="32400"/>
          </a:xfrm>
          <a:prstGeom prst="rect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64800"/>
            <a:ext cx="794809" cy="79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88000" y="1512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5C142"/>
                </a:solidFill>
                <a:latin typeface="Arial"/>
              </a:rPr>
              <a:t>РАЗДЕЛ 6 · ПВ-СИСТЕМА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000" y="342000"/>
            <a:ext cx="97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100" b="1" i="0">
                <a:solidFill>
                  <a:srgbClr val="FFFFFF"/>
                </a:solidFill>
                <a:latin typeface="Arial"/>
              </a:rPr>
              <a:t>«ПВ-Система»: типовой сценарий применения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000" y="691200"/>
            <a:ext cx="97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 i="0">
                <a:solidFill>
                  <a:srgbClr val="B9CCE4"/>
                </a:solidFill>
                <a:latin typeface="Arial"/>
              </a:rPr>
              <a:t>От отбора пробы до решения руководителя горноспасательных работ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8000"/>
            <a:ext cx="12192119" cy="360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2000" y="6577200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00" b="0" i="0">
                <a:solidFill>
                  <a:srgbClr val="8A96A5"/>
                </a:solidFill>
                <a:latin typeface="Arial"/>
              </a:rPr>
              <a:t>ФГУП «Военизированная горноспасательная часть» · Обзор программ для инженерных расчётов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40119" y="6577200"/>
            <a:ext cx="7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1" i="0">
                <a:solidFill>
                  <a:srgbClr val="1B4F91"/>
                </a:solidFill>
                <a:latin typeface="Arial"/>
              </a:rPr>
              <a:t>12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6000" y="1872000"/>
            <a:ext cx="1764000" cy="3096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76000" y="1872000"/>
            <a:ext cx="1764000" cy="540000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00" y="1998000"/>
            <a:ext cx="1764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1" i="0">
                <a:solidFill>
                  <a:srgbClr val="F5C142"/>
                </a:solidFill>
                <a:latin typeface="Arial"/>
              </a:rPr>
              <a:t>ШАГ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8000" y="2592000"/>
            <a:ext cx="144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 i="0">
                <a:solidFill>
                  <a:srgbClr val="0B1E3D"/>
                </a:solidFill>
                <a:latin typeface="Arial"/>
              </a:rPr>
              <a:t>Отбор пробы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8000" y="3311999"/>
            <a:ext cx="1440000" cy="15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100" b="0" i="0">
                <a:solidFill>
                  <a:srgbClr val="3A4657"/>
                </a:solidFill>
                <a:latin typeface="Arial"/>
              </a:rPr>
              <a:t>Отделение ВГСЧ отбирает пробу рудничной атмосферы за перемычкой / в зоне пожара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48000" y="1872000"/>
            <a:ext cx="1764000" cy="3096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448000" y="1872000"/>
            <a:ext cx="1764000" cy="540000"/>
          </a:xfrm>
          <a:prstGeom prst="rect">
            <a:avLst/>
          </a:prstGeom>
          <a:solidFill>
            <a:srgbClr val="1B4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48000" y="1998000"/>
            <a:ext cx="1764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1" i="0">
                <a:solidFill>
                  <a:srgbClr val="F5C142"/>
                </a:solidFill>
                <a:latin typeface="Arial"/>
              </a:rPr>
              <a:t>ШАГ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10000" y="2592000"/>
            <a:ext cx="144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 i="0">
                <a:solidFill>
                  <a:srgbClr val="0B1E3D"/>
                </a:solidFill>
                <a:latin typeface="Arial"/>
              </a:rPr>
              <a:t>Газовый анализ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0000" y="3311999"/>
            <a:ext cx="1440000" cy="15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100" b="0" i="0">
                <a:solidFill>
                  <a:srgbClr val="3A4657"/>
                </a:solidFill>
                <a:latin typeface="Arial"/>
              </a:rPr>
              <a:t>Лаборатория определяет содержание CH₄, CO, H₂, CO₂, O₂ и других газов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20000" y="1872000"/>
            <a:ext cx="1764000" cy="3096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20000" y="1872000"/>
            <a:ext cx="1764000" cy="540000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20000" y="1998000"/>
            <a:ext cx="1764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1" i="0">
                <a:solidFill>
                  <a:srgbClr val="F5C142"/>
                </a:solidFill>
                <a:latin typeface="Arial"/>
              </a:rPr>
              <a:t>ШАГ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2000" y="2592000"/>
            <a:ext cx="144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 i="0">
                <a:solidFill>
                  <a:srgbClr val="0B1E3D"/>
                </a:solidFill>
                <a:latin typeface="Arial"/>
              </a:rPr>
              <a:t>Ввод данных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2000" y="3311999"/>
            <a:ext cx="1440000" cy="15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100" b="0" i="0">
                <a:solidFill>
                  <a:srgbClr val="3A4657"/>
                </a:solidFill>
                <a:latin typeface="Arial"/>
              </a:rPr>
              <a:t>Инженер вводит состав пробы и параметры участка в программу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92000" y="1872000"/>
            <a:ext cx="1764000" cy="3096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92000" y="1872000"/>
            <a:ext cx="1764000" cy="540000"/>
          </a:xfrm>
          <a:prstGeom prst="rect">
            <a:avLst/>
          </a:prstGeom>
          <a:solidFill>
            <a:srgbClr val="1B4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92000" y="1998000"/>
            <a:ext cx="1764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1" i="0">
                <a:solidFill>
                  <a:srgbClr val="F5C142"/>
                </a:solidFill>
                <a:latin typeface="Arial"/>
              </a:rPr>
              <a:t>ШАГ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4000" y="2592000"/>
            <a:ext cx="144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 i="0">
                <a:solidFill>
                  <a:srgbClr val="0B1E3D"/>
                </a:solidFill>
                <a:latin typeface="Arial"/>
              </a:rPr>
              <a:t>Расчёт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4000" y="3311999"/>
            <a:ext cx="1440000" cy="15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100" b="0" i="0">
                <a:solidFill>
                  <a:srgbClr val="3A4657"/>
                </a:solidFill>
                <a:latin typeface="Arial"/>
              </a:rPr>
              <a:t>Расчёт C г и долей P по формулам (1)–(5), выбор рисунка по P CO, нанесение точки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64000" y="1872000"/>
            <a:ext cx="1764000" cy="3096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64000" y="1872000"/>
            <a:ext cx="1764000" cy="540000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64000" y="1998000"/>
            <a:ext cx="1764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1" i="0">
                <a:solidFill>
                  <a:srgbClr val="F5C142"/>
                </a:solidFill>
                <a:latin typeface="Arial"/>
              </a:rPr>
              <a:t>ШАГ 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6000" y="2592000"/>
            <a:ext cx="144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 i="0">
                <a:solidFill>
                  <a:srgbClr val="0B1E3D"/>
                </a:solidFill>
                <a:latin typeface="Arial"/>
              </a:rPr>
              <a:t>Протокол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6000" y="3311999"/>
            <a:ext cx="1440000" cy="15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100" b="0" i="0">
                <a:solidFill>
                  <a:srgbClr val="3A4657"/>
                </a:solidFill>
                <a:latin typeface="Arial"/>
              </a:rPr>
              <a:t>Формирование расчётного листа с формулами, треугольником и выводом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936000" y="1872000"/>
            <a:ext cx="1764000" cy="3096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936000" y="1872000"/>
            <a:ext cx="1764000" cy="540000"/>
          </a:xfrm>
          <a:prstGeom prst="rect">
            <a:avLst/>
          </a:prstGeom>
          <a:solidFill>
            <a:srgbClr val="1B4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936000" y="1998000"/>
            <a:ext cx="1764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1" i="0">
                <a:solidFill>
                  <a:srgbClr val="F5C142"/>
                </a:solidFill>
                <a:latin typeface="Arial"/>
              </a:rPr>
              <a:t>ШАГ 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98000" y="2592000"/>
            <a:ext cx="144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 i="0">
                <a:solidFill>
                  <a:srgbClr val="0B1E3D"/>
                </a:solidFill>
                <a:latin typeface="Arial"/>
              </a:rPr>
              <a:t>Решение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98000" y="3311999"/>
            <a:ext cx="1440000" cy="15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100" b="0" i="0">
                <a:solidFill>
                  <a:srgbClr val="3A4657"/>
                </a:solidFill>
                <a:latin typeface="Arial"/>
              </a:rPr>
              <a:t>РГСР принимает решение о допуске людей, изоляции или продолжении тушения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76000" y="5256000"/>
            <a:ext cx="11088000" cy="792000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7999" y="5418000"/>
            <a:ext cx="10584000" cy="57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Контрольное время всего цикла — единицы минут вместо десятков. Это отвечает условиям работы командного пункта при ликвидации аварии.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17999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7999"/>
            <a:ext cx="12192119" cy="32400"/>
          </a:xfrm>
          <a:prstGeom prst="rect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64800"/>
            <a:ext cx="794809" cy="79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88000" y="1512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5C142"/>
                </a:solidFill>
                <a:latin typeface="Arial"/>
              </a:rPr>
              <a:t>РАЗДЕЛ 7 · ДОПОЛНИТЕЛЬНО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000" y="342000"/>
            <a:ext cx="97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100" b="1" i="0">
                <a:solidFill>
                  <a:srgbClr val="FFFFFF"/>
                </a:solidFill>
                <a:latin typeface="Arial"/>
              </a:rPr>
              <a:t>Дополнительные комплексы: MineFrame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000" y="691200"/>
            <a:ext cx="97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 i="0">
                <a:solidFill>
                  <a:srgbClr val="B9CCE4"/>
                </a:solidFill>
                <a:latin typeface="Arial"/>
              </a:rPr>
              <a:t>Горно-геологическая информационная система, ГоИ КНЦ РАН (г. Апатиты)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8000"/>
            <a:ext cx="12192119" cy="360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2000" y="6577200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00" b="0" i="0">
                <a:solidFill>
                  <a:srgbClr val="8A96A5"/>
                </a:solidFill>
                <a:latin typeface="Arial"/>
              </a:rPr>
              <a:t>ФГУП «Военизированная горноспасательная часть» · Обзор программ для инженерных расчётов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40119" y="6577200"/>
            <a:ext cx="7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1" i="0">
                <a:solidFill>
                  <a:srgbClr val="1B4F91"/>
                </a:solidFill>
                <a:latin typeface="Arial"/>
              </a:rPr>
              <a:t>13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6000" y="1512000"/>
            <a:ext cx="11088000" cy="1512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76000" y="1512000"/>
            <a:ext cx="50400" cy="1512000"/>
          </a:xfrm>
          <a:prstGeom prst="rect">
            <a:avLst/>
          </a:prstGeom>
          <a:solidFill>
            <a:srgbClr val="1B4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4000" y="1656000"/>
            <a:ext cx="10728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 i="0">
                <a:solidFill>
                  <a:srgbClr val="0B1E3D"/>
                </a:solidFill>
                <a:latin typeface="Arial"/>
              </a:rPr>
              <a:t>Возможности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4000" y="1980000"/>
            <a:ext cx="10728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1B4F91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Единая 3D-модель месторождения, горных выработок и горно-технических объектов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1B4F91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Модуль расчёта вентиляции: воздухораспределение, депрессия, аварийные режимы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1B4F91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Планирование горных работ, устойчивость бортов и целиков, буровзрывные работы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6000" y="3240000"/>
            <a:ext cx="5376059" cy="2664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6000" y="3240000"/>
            <a:ext cx="50400" cy="266400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4000" y="3384000"/>
            <a:ext cx="5016059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 i="0">
                <a:solidFill>
                  <a:srgbClr val="0B1E3D"/>
                </a:solidFill>
                <a:latin typeface="Arial"/>
              </a:rPr>
              <a:t>✔  Преимущества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000" y="3708000"/>
            <a:ext cx="5016059" cy="20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1E8E5A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Полностью отечественная разработка академического уровня, в Реестре российского ПО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1E8E5A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Может служить источником модели топологии выработок, предусмотренной п. 26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1E8E5A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3D-модель помогает наглядно планировать маршруты движения отделений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1E8E5A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Единая среда: геология + маркшейдерия + вентиляция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0059" y="3240000"/>
            <a:ext cx="5376059" cy="2664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0059" y="3240000"/>
            <a:ext cx="50400" cy="2664000"/>
          </a:xfrm>
          <a:prstGeom prst="rect">
            <a:avLst/>
          </a:prstGeom>
          <a:solidFill>
            <a:srgbClr val="C7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38059" y="3384000"/>
            <a:ext cx="5016059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 i="0">
                <a:solidFill>
                  <a:srgbClr val="0B1E3D"/>
                </a:solidFill>
                <a:latin typeface="Arial"/>
              </a:rPr>
              <a:t>✖  Ограничения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38059" y="3708000"/>
            <a:ext cx="5016059" cy="20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C72B2B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Избыточна для задач ВГСЧ — это система планирования горных работ, а не расчёта аварий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C72B2B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Высокая стоимость и трудоёмкое внедрение, нужны квалифицированные операторы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C72B2B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Расчёты Приложения № 11 напрямую не реализованы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C72B2B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Сильная зависимость от качества исходной цифровой модели предприятия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17999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7999"/>
            <a:ext cx="12192119" cy="32400"/>
          </a:xfrm>
          <a:prstGeom prst="rect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64800"/>
            <a:ext cx="794809" cy="79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88000" y="1512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5C142"/>
                </a:solidFill>
                <a:latin typeface="Arial"/>
              </a:rPr>
              <a:t>РАЗДЕЛ 7 · ДОПОЛНИТЕЛЬНО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000" y="342000"/>
            <a:ext cx="97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100" b="1" i="0">
                <a:solidFill>
                  <a:srgbClr val="FFFFFF"/>
                </a:solidFill>
                <a:latin typeface="Arial"/>
              </a:rPr>
              <a:t>Зарубежные комплексы: Ventsim DESIGN, VentPRO, VUMA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000" y="691200"/>
            <a:ext cx="97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 i="0">
                <a:solidFill>
                  <a:srgbClr val="B9CCE4"/>
                </a:solidFill>
                <a:latin typeface="Arial"/>
              </a:rPr>
              <a:t>Технически сильные решения с принципиальными ограничениями применения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8000"/>
            <a:ext cx="12192119" cy="360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2000" y="6577200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00" b="0" i="0">
                <a:solidFill>
                  <a:srgbClr val="8A96A5"/>
                </a:solidFill>
                <a:latin typeface="Arial"/>
              </a:rPr>
              <a:t>ФГУП «Военизированная горноспасательная часть» · Обзор программ для инженерных расчётов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40119" y="6577200"/>
            <a:ext cx="7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1" i="0">
                <a:solidFill>
                  <a:srgbClr val="1B4F91"/>
                </a:solidFill>
                <a:latin typeface="Arial"/>
              </a:rPr>
              <a:t>14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6000" y="1512000"/>
            <a:ext cx="5400000" cy="1655999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76000" y="1512000"/>
            <a:ext cx="50400" cy="1655999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4000" y="1656000"/>
            <a:ext cx="504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 i="0">
                <a:solidFill>
                  <a:srgbClr val="0B1E3D"/>
                </a:solidFill>
                <a:latin typeface="Arial"/>
              </a:rPr>
              <a:t>Ventsim DESIGN (Howden, Австралия)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4000" y="1980000"/>
            <a:ext cx="5040000" cy="1079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2E74B5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3D-моделирование вентиляции в реальном времени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2E74B5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Модули пожара (Fire), тепла (Thermodynamic), газов (Contaminant)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2E74B5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Динамическое моделирование распространения дыма и CO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999" y="1512000"/>
            <a:ext cx="5400000" cy="1655999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999" y="1512000"/>
            <a:ext cx="50400" cy="1655999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1999" y="1656000"/>
            <a:ext cx="504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 i="0">
                <a:solidFill>
                  <a:srgbClr val="0B1E3D"/>
                </a:solidFill>
                <a:latin typeface="Arial"/>
              </a:rPr>
              <a:t>VUMA / VentPRO (ЮАР, Австралия)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999" y="1980000"/>
            <a:ext cx="5040000" cy="1079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2E74B5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Расчёт климатических параметров глубоких рудников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2E74B5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Оптимизация систем охлаждения и вентиляции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2E74B5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Энергетический аудит вентиляционных установок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6000" y="3384000"/>
            <a:ext cx="5376059" cy="2520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6000" y="3384000"/>
            <a:ext cx="50400" cy="252000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4000" y="3528000"/>
            <a:ext cx="5016059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 i="0">
                <a:solidFill>
                  <a:srgbClr val="0B1E3D"/>
                </a:solidFill>
                <a:latin typeface="Arial"/>
              </a:rPr>
              <a:t>✔  Преимущества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4000" y="3852000"/>
            <a:ext cx="5016059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1E8E5A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Лучшая в классе визуализация и удобство моделирования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1E8E5A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Продвинутая физика: тепло-, массоперенос, динамика пожара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1E8E5A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Широкая международная практика применения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40059" y="3384000"/>
            <a:ext cx="5376059" cy="2520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40059" y="3384000"/>
            <a:ext cx="50400" cy="2520000"/>
          </a:xfrm>
          <a:prstGeom prst="rect">
            <a:avLst/>
          </a:prstGeom>
          <a:solidFill>
            <a:srgbClr val="C7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8059" y="3528000"/>
            <a:ext cx="5016059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 i="0">
                <a:solidFill>
                  <a:srgbClr val="0B1E3D"/>
                </a:solidFill>
                <a:latin typeface="Arial"/>
              </a:rPr>
              <a:t>✖  Ограничения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8059" y="3852000"/>
            <a:ext cx="5016059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C72B2B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Не соответствуют методикам и формам документов Приложения № 11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C72B2B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Санкционные и лицензионные риски: невозможность продления, обновления и поддержки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C72B2B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Противоречие политике импортозамещения; отсутствие в Реестре российского ПО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C72B2B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Валютная стоимость лицензий, проблемы оплаты и юридического сопровождения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C72B2B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Неприемлемы для работы с данными ограниченного доступа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17999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7999"/>
            <a:ext cx="12192119" cy="32400"/>
          </a:xfrm>
          <a:prstGeom prst="rect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64800"/>
            <a:ext cx="794809" cy="79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88000" y="1512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5C142"/>
                </a:solidFill>
                <a:latin typeface="Arial"/>
              </a:rPr>
              <a:t>РАЗДЕЛ 8 · СРАВНЕНИЕ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000" y="342000"/>
            <a:ext cx="97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100" b="1" i="0">
                <a:solidFill>
                  <a:srgbClr val="FFFFFF"/>
                </a:solidFill>
                <a:latin typeface="Arial"/>
              </a:rPr>
              <a:t>Сравнительная таблица программных комплексов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000" y="691200"/>
            <a:ext cx="97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 i="0">
                <a:solidFill>
                  <a:srgbClr val="B9CCE4"/>
                </a:solidFill>
                <a:latin typeface="Arial"/>
              </a:rPr>
              <a:t>Оценка по ключевым для ВГСЧ критериям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8000"/>
            <a:ext cx="12192119" cy="360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2000" y="6577200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00" b="0" i="0">
                <a:solidFill>
                  <a:srgbClr val="8A96A5"/>
                </a:solidFill>
                <a:latin typeface="Arial"/>
              </a:rPr>
              <a:t>ФГУП «Военизированная горноспасательная часть» · Обзор программ для инженерных расчётов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40119" y="6577200"/>
            <a:ext cx="7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1" i="0">
                <a:solidFill>
                  <a:srgbClr val="1B4F91"/>
                </a:solidFill>
                <a:latin typeface="Arial"/>
              </a:rPr>
              <a:t>15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" y="1512000"/>
            <a:ext cx="11196000" cy="432000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000" y="1637999"/>
            <a:ext cx="2952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1" i="0">
                <a:solidFill>
                  <a:srgbClr val="F5C142"/>
                </a:solidFill>
                <a:latin typeface="Arial"/>
              </a:rPr>
              <a:t>Критерий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46000" y="1637999"/>
            <a:ext cx="147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1" i="0">
                <a:solidFill>
                  <a:srgbClr val="F5C142"/>
                </a:solidFill>
                <a:latin typeface="Arial"/>
              </a:rPr>
              <a:t>АэроСеть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000" y="1637999"/>
            <a:ext cx="147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1" i="0">
                <a:solidFill>
                  <a:srgbClr val="F5C142"/>
                </a:solidFill>
                <a:latin typeface="Arial"/>
              </a:rPr>
              <a:t>«Вентиляция»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6000" y="1637999"/>
            <a:ext cx="147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1" i="0">
                <a:solidFill>
                  <a:srgbClr val="F5C142"/>
                </a:solidFill>
                <a:latin typeface="Arial"/>
              </a:rPr>
              <a:t>ПВ-Система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6000" y="1637999"/>
            <a:ext cx="147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1" i="0">
                <a:solidFill>
                  <a:srgbClr val="F5C142"/>
                </a:solidFill>
                <a:latin typeface="Arial"/>
              </a:rPr>
              <a:t>MineFrame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26000" y="1637999"/>
            <a:ext cx="147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1" i="0">
                <a:solidFill>
                  <a:srgbClr val="F5C142"/>
                </a:solidFill>
                <a:latin typeface="Arial"/>
              </a:rPr>
              <a:t>Ventsim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0000" y="1944000"/>
            <a:ext cx="11196000" cy="5112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000" y="2088000"/>
            <a:ext cx="295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1" i="0">
                <a:solidFill>
                  <a:srgbClr val="0B1E3D"/>
                </a:solidFill>
                <a:latin typeface="Arial"/>
              </a:rPr>
              <a:t>Приложение № 11 (абз. 1 п. 26)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18000" y="2052000"/>
            <a:ext cx="1296000" cy="295200"/>
          </a:xfrm>
          <a:prstGeom prst="rect">
            <a:avLst/>
          </a:prstGeom>
          <a:solidFill>
            <a:srgbClr val="C7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18000" y="2116800"/>
            <a:ext cx="129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нет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38000" y="2052000"/>
            <a:ext cx="1296000" cy="295200"/>
          </a:xfrm>
          <a:prstGeom prst="rect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38000" y="2116800"/>
            <a:ext cx="129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частично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0" y="2052000"/>
            <a:ext cx="1296000" cy="29520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0" y="2116800"/>
            <a:ext cx="129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полностью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78000" y="2052000"/>
            <a:ext cx="1296000" cy="295200"/>
          </a:xfrm>
          <a:prstGeom prst="rect">
            <a:avLst/>
          </a:prstGeom>
          <a:solidFill>
            <a:srgbClr val="C7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8000" y="2116800"/>
            <a:ext cx="129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нет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98000" y="2052000"/>
            <a:ext cx="1296000" cy="295200"/>
          </a:xfrm>
          <a:prstGeom prst="rect">
            <a:avLst/>
          </a:prstGeom>
          <a:solidFill>
            <a:srgbClr val="C7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98000" y="2116800"/>
            <a:ext cx="129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нет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0000" y="2455200"/>
            <a:ext cx="11196000" cy="51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0000" y="2599200"/>
            <a:ext cx="295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1" i="0">
                <a:solidFill>
                  <a:srgbClr val="0B1E3D"/>
                </a:solidFill>
                <a:latin typeface="Arial"/>
              </a:rPr>
              <a:t>Расчёты на ЭВМ (абз. 2 п. 26)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18000" y="2563200"/>
            <a:ext cx="1296000" cy="29520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18000" y="2628000"/>
            <a:ext cx="129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полностью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38000" y="2563200"/>
            <a:ext cx="1296000" cy="295200"/>
          </a:xfrm>
          <a:prstGeom prst="rect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38000" y="2628000"/>
            <a:ext cx="129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частично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58000" y="2563200"/>
            <a:ext cx="1296000" cy="295200"/>
          </a:xfrm>
          <a:prstGeom prst="rect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0" y="2628000"/>
            <a:ext cx="129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частично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78000" y="2563200"/>
            <a:ext cx="1296000" cy="295200"/>
          </a:xfrm>
          <a:prstGeom prst="rect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78000" y="2628000"/>
            <a:ext cx="129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частично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98000" y="2563200"/>
            <a:ext cx="1296000" cy="29520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98000" y="2628000"/>
            <a:ext cx="129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полностью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0000" y="2966400"/>
            <a:ext cx="11196000" cy="5112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0000" y="3110400"/>
            <a:ext cx="295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1" i="0">
                <a:solidFill>
                  <a:srgbClr val="0B1E3D"/>
                </a:solidFill>
                <a:latin typeface="Arial"/>
              </a:rPr>
              <a:t>Сетевой расчёт вентиляции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18000" y="3074400"/>
            <a:ext cx="1296000" cy="29520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18000" y="3139200"/>
            <a:ext cx="129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отлично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38000" y="3074400"/>
            <a:ext cx="1296000" cy="295200"/>
          </a:xfrm>
          <a:prstGeom prst="rect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38000" y="3139200"/>
            <a:ext cx="129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хорошо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58000" y="3074400"/>
            <a:ext cx="1296000" cy="295200"/>
          </a:xfrm>
          <a:prstGeom prst="rect">
            <a:avLst/>
          </a:prstGeom>
          <a:solidFill>
            <a:srgbClr val="C7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58000" y="3139200"/>
            <a:ext cx="129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базово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478000" y="3074400"/>
            <a:ext cx="1296000" cy="295200"/>
          </a:xfrm>
          <a:prstGeom prst="rect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78000" y="3139200"/>
            <a:ext cx="129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хорошо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098000" y="3074400"/>
            <a:ext cx="1296000" cy="29520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098000" y="3139200"/>
            <a:ext cx="129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отлично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0000" y="3477600"/>
            <a:ext cx="11196000" cy="51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0000" y="3621600"/>
            <a:ext cx="295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1" i="0">
                <a:solidFill>
                  <a:srgbClr val="0B1E3D"/>
                </a:solidFill>
                <a:latin typeface="Arial"/>
              </a:rPr>
              <a:t>Скорость работы на КП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18000" y="3585600"/>
            <a:ext cx="1296000" cy="295200"/>
          </a:xfrm>
          <a:prstGeom prst="rect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18000" y="3650400"/>
            <a:ext cx="129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средняя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238000" y="3585600"/>
            <a:ext cx="1296000" cy="295200"/>
          </a:xfrm>
          <a:prstGeom prst="rect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238000" y="3650400"/>
            <a:ext cx="129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средняя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858000" y="3585600"/>
            <a:ext cx="1296000" cy="29520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858000" y="3650400"/>
            <a:ext cx="129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высокая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478000" y="3585600"/>
            <a:ext cx="1296000" cy="29520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478000" y="3650400"/>
            <a:ext cx="129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низкая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98000" y="3585600"/>
            <a:ext cx="1296000" cy="295200"/>
          </a:xfrm>
          <a:prstGeom prst="rect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098000" y="3650400"/>
            <a:ext cx="129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средняя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0000" y="3988800"/>
            <a:ext cx="11196000" cy="5112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0000" y="4132800"/>
            <a:ext cx="295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1" i="0">
                <a:solidFill>
                  <a:srgbClr val="0B1E3D"/>
                </a:solidFill>
                <a:latin typeface="Arial"/>
              </a:rPr>
              <a:t>Порог вхождения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618000" y="4096800"/>
            <a:ext cx="1296000" cy="295200"/>
          </a:xfrm>
          <a:prstGeom prst="rect">
            <a:avLst/>
          </a:prstGeom>
          <a:solidFill>
            <a:srgbClr val="C7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618000" y="4161600"/>
            <a:ext cx="129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высокий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238000" y="4096800"/>
            <a:ext cx="1296000" cy="295200"/>
          </a:xfrm>
          <a:prstGeom prst="rect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38000" y="4161600"/>
            <a:ext cx="129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средний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858000" y="4096800"/>
            <a:ext cx="1296000" cy="29520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858000" y="4161600"/>
            <a:ext cx="129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низкий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478000" y="4096800"/>
            <a:ext cx="1296000" cy="295200"/>
          </a:xfrm>
          <a:prstGeom prst="rect">
            <a:avLst/>
          </a:prstGeom>
          <a:solidFill>
            <a:srgbClr val="C7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478000" y="4161600"/>
            <a:ext cx="129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высокий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098000" y="4096800"/>
            <a:ext cx="1296000" cy="295200"/>
          </a:xfrm>
          <a:prstGeom prst="rect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098000" y="4161600"/>
            <a:ext cx="129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средний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0000" y="4500000"/>
            <a:ext cx="11196000" cy="51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50000" y="4644000"/>
            <a:ext cx="295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1" i="0">
                <a:solidFill>
                  <a:srgbClr val="0B1E3D"/>
                </a:solidFill>
                <a:latin typeface="Arial"/>
              </a:rPr>
              <a:t>Реестр российского ПО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18000" y="4608000"/>
            <a:ext cx="1296000" cy="29520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618000" y="4672800"/>
            <a:ext cx="129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да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238000" y="4608000"/>
            <a:ext cx="1296000" cy="29520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238000" y="4672800"/>
            <a:ext cx="129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да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858000" y="4608000"/>
            <a:ext cx="1296000" cy="29520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858000" y="4672800"/>
            <a:ext cx="129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да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478000" y="4608000"/>
            <a:ext cx="1296000" cy="29520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478000" y="4672800"/>
            <a:ext cx="129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да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0098000" y="4608000"/>
            <a:ext cx="1296000" cy="295200"/>
          </a:xfrm>
          <a:prstGeom prst="rect">
            <a:avLst/>
          </a:prstGeom>
          <a:solidFill>
            <a:srgbClr val="C7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098000" y="4672800"/>
            <a:ext cx="129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нет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60000" y="5011200"/>
            <a:ext cx="11196000" cy="5112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50000" y="5155200"/>
            <a:ext cx="295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1" i="0">
                <a:solidFill>
                  <a:srgbClr val="0B1E3D"/>
                </a:solidFill>
                <a:latin typeface="Arial"/>
              </a:rPr>
              <a:t>Стоимость владения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618000" y="5119200"/>
            <a:ext cx="1296000" cy="29520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618000" y="5184000"/>
            <a:ext cx="129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высокая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238000" y="5119200"/>
            <a:ext cx="1296000" cy="295200"/>
          </a:xfrm>
          <a:prstGeom prst="rect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238000" y="5184000"/>
            <a:ext cx="129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средняя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858000" y="5119200"/>
            <a:ext cx="1296000" cy="29520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858000" y="5184000"/>
            <a:ext cx="129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низкая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478000" y="5119200"/>
            <a:ext cx="1296000" cy="29520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478000" y="5184000"/>
            <a:ext cx="129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высокая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098000" y="5119200"/>
            <a:ext cx="1296000" cy="29520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098000" y="5184000"/>
            <a:ext cx="129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высокая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360000" y="5522400"/>
            <a:ext cx="11196000" cy="51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50000" y="5666400"/>
            <a:ext cx="295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1" i="0">
                <a:solidFill>
                  <a:srgbClr val="0B1E3D"/>
                </a:solidFill>
                <a:latin typeface="Arial"/>
              </a:rPr>
              <a:t>Работа офлайн / закрытый контур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18000" y="5630400"/>
            <a:ext cx="1296000" cy="29520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18000" y="5695200"/>
            <a:ext cx="129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да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238000" y="5630400"/>
            <a:ext cx="1296000" cy="29520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238000" y="5695200"/>
            <a:ext cx="129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да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858000" y="5630400"/>
            <a:ext cx="1296000" cy="29520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858000" y="5695200"/>
            <a:ext cx="129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да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8478000" y="5630400"/>
            <a:ext cx="1296000" cy="29520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478000" y="5695200"/>
            <a:ext cx="129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да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0098000" y="5630400"/>
            <a:ext cx="1296000" cy="295200"/>
          </a:xfrm>
          <a:prstGeom prst="rect">
            <a:avLst/>
          </a:prstGeom>
          <a:solidFill>
            <a:srgbClr val="C7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0098000" y="5695200"/>
            <a:ext cx="129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ограничено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60000" y="5903999"/>
            <a:ext cx="1119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1" i="0">
                <a:solidFill>
                  <a:srgbClr val="0B1E3D"/>
                </a:solidFill>
                <a:latin typeface="Arial"/>
              </a:rPr>
              <a:t>Первые две строки — прямое сопоставление с двумя абзацами п. 26. Видно, что полное покрытие даёт только связка продуктов.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17999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7999"/>
            <a:ext cx="12192119" cy="32400"/>
          </a:xfrm>
          <a:prstGeom prst="rect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64800"/>
            <a:ext cx="794809" cy="79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88000" y="1512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5C142"/>
                </a:solidFill>
                <a:latin typeface="Arial"/>
              </a:rPr>
              <a:t>РАЗДЕЛ 9 · ИМПОРТОЗАМЕЩЕНИЕ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000" y="342000"/>
            <a:ext cx="97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100" b="1" i="0">
                <a:solidFill>
                  <a:srgbClr val="FFFFFF"/>
                </a:solidFill>
                <a:latin typeface="Arial"/>
              </a:rPr>
              <a:t>Импортозамещение и требования к ПО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000" y="691200"/>
            <a:ext cx="97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 i="0">
                <a:solidFill>
                  <a:srgbClr val="B9CCE4"/>
                </a:solidFill>
                <a:latin typeface="Arial"/>
              </a:rPr>
              <a:t>Правовые основания выбора отечественных программных решений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8000"/>
            <a:ext cx="12192119" cy="360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2000" y="6577200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00" b="0" i="0">
                <a:solidFill>
                  <a:srgbClr val="8A96A5"/>
                </a:solidFill>
                <a:latin typeface="Arial"/>
              </a:rPr>
              <a:t>ФГУП «Военизированная горноспасательная часть» · Обзор программ для инженерных расчётов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40119" y="6577200"/>
            <a:ext cx="7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1" i="0">
                <a:solidFill>
                  <a:srgbClr val="1B4F91"/>
                </a:solidFill>
                <a:latin typeface="Arial"/>
              </a:rPr>
              <a:t>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6000" y="1548000"/>
            <a:ext cx="5400000" cy="2160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76000" y="1548000"/>
            <a:ext cx="50400" cy="2160000"/>
          </a:xfrm>
          <a:prstGeom prst="rect">
            <a:avLst/>
          </a:prstGeom>
          <a:solidFill>
            <a:srgbClr val="1B4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4000" y="1692000"/>
            <a:ext cx="504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 i="0">
                <a:solidFill>
                  <a:srgbClr val="0B1E3D"/>
                </a:solidFill>
                <a:latin typeface="Arial"/>
              </a:rPr>
              <a:t>Нормативные требования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4000" y="2016000"/>
            <a:ext cx="5040000" cy="15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1B4F91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Постановление Правительства РФ № 1236 — ограничения на допуск иностранного ПО при госзакупках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1B4F91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Указ Президента РФ № 166 от 30.03.2022 — переход субъектов КИИ на отечественное ПО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1B4F91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ФЗ № 187-ФЗ — объекты горной добычи относятся к критической информационной инфраструктуре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1B4F91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Наличие в Едином реестре российских программ (Минцифры России)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999" y="1548000"/>
            <a:ext cx="5400000" cy="2160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999" y="1548000"/>
            <a:ext cx="50400" cy="2160000"/>
          </a:xfrm>
          <a:prstGeom prst="rect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1999" y="1692000"/>
            <a:ext cx="504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 i="0">
                <a:solidFill>
                  <a:srgbClr val="0B1E3D"/>
                </a:solidFill>
                <a:latin typeface="Arial"/>
              </a:rPr>
              <a:t>Практические следствия для ВГСЧ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999" y="2016000"/>
            <a:ext cx="5040000" cy="15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F5C142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Закупка зарубежного ПО требует обоснования отсутствия аналогов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F5C142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Приоритет решений, работающих на Astra Linux / РЕД ОС и российских СУБД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F5C142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Необходима техподдержка на территории РФ и документация на русском языке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00" b="1">
                <a:solidFill>
                  <a:srgbClr val="F5C142"/>
                </a:solidFill>
                <a:latin typeface="Arial"/>
              </a:rPr>
              <a:t>•  </a:t>
            </a:r>
            <a:r>
              <a:rPr sz="1200">
                <a:solidFill>
                  <a:srgbClr val="3A4657"/>
                </a:solidFill>
                <a:latin typeface="Arial"/>
              </a:rPr>
              <a:t>Предпочтительна работа в изолированном контуре без обращения к внешним серверам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6000" y="3960000"/>
            <a:ext cx="11088000" cy="1080000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999" y="4121999"/>
            <a:ext cx="10584000" cy="79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Все рассмотренные отечественные комплексы — АэроСеть, «Вентиляция», ПВ-Система, MineFrame — соответствуют требованиям импортозамещения и могут закупаться подразделениями ФГУП «ВГСЧ» без дополнительных обоснований.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00" y="5256000"/>
            <a:ext cx="11088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 i="0">
                <a:solidFill>
                  <a:srgbClr val="3A4657"/>
                </a:solidFill>
                <a:latin typeface="Arial"/>
              </a:rPr>
              <a:t>Отдельно учитывается требование к методикам: программа должна воспроизводить формулы Приложения № 11 без отступлений, а протокол расчёта — содержать ссылку на применённую методику и пункт нормативного документа.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17999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7999"/>
            <a:ext cx="12192119" cy="32400"/>
          </a:xfrm>
          <a:prstGeom prst="rect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64800"/>
            <a:ext cx="794809" cy="79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88000" y="1512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5C142"/>
                </a:solidFill>
                <a:latin typeface="Arial"/>
              </a:rPr>
              <a:t>РАЗДЕЛ 9 · МЕТОДИКА ВЫБОРА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000" y="342000"/>
            <a:ext cx="97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100" b="1" i="0">
                <a:solidFill>
                  <a:srgbClr val="FFFFFF"/>
                </a:solidFill>
                <a:latin typeface="Arial"/>
              </a:rPr>
              <a:t>Критерии выбора программного комплекса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000" y="691200"/>
            <a:ext cx="97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 i="0">
                <a:solidFill>
                  <a:srgbClr val="B9CCE4"/>
                </a:solidFill>
                <a:latin typeface="Arial"/>
              </a:rPr>
              <a:t>Чек-лист для подразделения при принятии решения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8000"/>
            <a:ext cx="12192119" cy="360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2000" y="6577200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00" b="0" i="0">
                <a:solidFill>
                  <a:srgbClr val="8A96A5"/>
                </a:solidFill>
                <a:latin typeface="Arial"/>
              </a:rPr>
              <a:t>ФГУП «Военизированная горноспасательная часть» · Обзор программ для инженерных расчётов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40119" y="6577200"/>
            <a:ext cx="7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1" i="0">
                <a:solidFill>
                  <a:srgbClr val="1B4F91"/>
                </a:solidFill>
                <a:latin typeface="Arial"/>
              </a:rPr>
              <a:t>17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6000" y="1548000"/>
            <a:ext cx="5400000" cy="936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76000" y="1548000"/>
            <a:ext cx="360000" cy="936000"/>
          </a:xfrm>
          <a:prstGeom prst="rect">
            <a:avLst/>
          </a:prstGeom>
          <a:solidFill>
            <a:srgbClr val="1B4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00" y="1818000"/>
            <a:ext cx="36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9999" y="1710000"/>
            <a:ext cx="475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 i="0">
                <a:solidFill>
                  <a:srgbClr val="0B1E3D"/>
                </a:solidFill>
                <a:latin typeface="Arial"/>
              </a:rPr>
              <a:t>Соответствие абзацу 1 п. 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9999" y="2059200"/>
            <a:ext cx="475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3A4657"/>
                </a:solidFill>
                <a:latin typeface="Arial"/>
              </a:rPr>
              <a:t>Полнота реализации трёх расчётов Приложения № 11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4000" y="1548000"/>
            <a:ext cx="5400000" cy="936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4000" y="1548000"/>
            <a:ext cx="360000" cy="936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4000" y="1818000"/>
            <a:ext cx="36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7999" y="1710000"/>
            <a:ext cx="475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 i="0">
                <a:solidFill>
                  <a:srgbClr val="0B1E3D"/>
                </a:solidFill>
                <a:latin typeface="Arial"/>
              </a:rPr>
              <a:t>Соответствие абзацу 2 п. 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7999" y="2059200"/>
            <a:ext cx="475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3A4657"/>
                </a:solidFill>
                <a:latin typeface="Arial"/>
              </a:rPr>
              <a:t>Наличие расчётов, требующих ЭВМ, и работа с моделью топологии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76000" y="2646000"/>
            <a:ext cx="5400000" cy="936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76000" y="2646000"/>
            <a:ext cx="360000" cy="936000"/>
          </a:xfrm>
          <a:prstGeom prst="rect">
            <a:avLst/>
          </a:prstGeom>
          <a:solidFill>
            <a:srgbClr val="1B4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6000" y="2916000"/>
            <a:ext cx="36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9999" y="2808000"/>
            <a:ext cx="475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 i="0">
                <a:solidFill>
                  <a:srgbClr val="0B1E3D"/>
                </a:solidFill>
                <a:latin typeface="Arial"/>
              </a:rPr>
              <a:t>Верифицируемость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9999" y="3157200"/>
            <a:ext cx="475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3A4657"/>
                </a:solidFill>
                <a:latin typeface="Arial"/>
              </a:rPr>
              <a:t>Возможность проверить результат вручную, прозрачность формул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4000" y="2646000"/>
            <a:ext cx="5400000" cy="936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64000" y="2646000"/>
            <a:ext cx="360000" cy="936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4000" y="2916000"/>
            <a:ext cx="36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7999" y="2808000"/>
            <a:ext cx="475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 i="0">
                <a:solidFill>
                  <a:srgbClr val="0B1E3D"/>
                </a:solidFill>
                <a:latin typeface="Arial"/>
              </a:rPr>
              <a:t>Оперативность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7999" y="3157200"/>
            <a:ext cx="475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3A4657"/>
                </a:solidFill>
                <a:latin typeface="Arial"/>
              </a:rPr>
              <a:t>Время получения результата в условиях аварии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76000" y="3744000"/>
            <a:ext cx="5400000" cy="936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76000" y="3744000"/>
            <a:ext cx="360000" cy="936000"/>
          </a:xfrm>
          <a:prstGeom prst="rect">
            <a:avLst/>
          </a:prstGeom>
          <a:solidFill>
            <a:srgbClr val="1B4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00" y="4014000"/>
            <a:ext cx="36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9999" y="3906000"/>
            <a:ext cx="475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 i="0">
                <a:solidFill>
                  <a:srgbClr val="0B1E3D"/>
                </a:solidFill>
                <a:latin typeface="Arial"/>
              </a:rPr>
              <a:t>Форма выходных документов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9999" y="4255200"/>
            <a:ext cx="475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3A4657"/>
                </a:solidFill>
                <a:latin typeface="Arial"/>
              </a:rPr>
              <a:t>Готовые расчётные листы для приложения к ОП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64000" y="3744000"/>
            <a:ext cx="5400000" cy="936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264000" y="3744000"/>
            <a:ext cx="360000" cy="936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64000" y="4014000"/>
            <a:ext cx="36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67999" y="3906000"/>
            <a:ext cx="475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 i="0">
                <a:solidFill>
                  <a:srgbClr val="0B1E3D"/>
                </a:solidFill>
                <a:latin typeface="Arial"/>
              </a:rPr>
              <a:t>Автономность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7999" y="4255200"/>
            <a:ext cx="475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3A4657"/>
                </a:solidFill>
                <a:latin typeface="Arial"/>
              </a:rPr>
              <a:t>Работа без интернета, на ноутбуке оперативной группы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76000" y="4842000"/>
            <a:ext cx="5400000" cy="936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76000" y="4842000"/>
            <a:ext cx="360000" cy="936000"/>
          </a:xfrm>
          <a:prstGeom prst="rect">
            <a:avLst/>
          </a:prstGeom>
          <a:solidFill>
            <a:srgbClr val="1B4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76000" y="5112000"/>
            <a:ext cx="36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9999" y="5004000"/>
            <a:ext cx="475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 i="0">
                <a:solidFill>
                  <a:srgbClr val="0B1E3D"/>
                </a:solidFill>
                <a:latin typeface="Arial"/>
              </a:rPr>
              <a:t>Стоимость владения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79999" y="5353200"/>
            <a:ext cx="475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3A4657"/>
                </a:solidFill>
                <a:latin typeface="Arial"/>
              </a:rPr>
              <a:t>Лицензия + сопровождение + обучение на горизонте до 2027 г.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64000" y="4842000"/>
            <a:ext cx="5400000" cy="936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264000" y="4842000"/>
            <a:ext cx="360000" cy="936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64000" y="5112000"/>
            <a:ext cx="36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67999" y="5004000"/>
            <a:ext cx="475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 i="0">
                <a:solidFill>
                  <a:srgbClr val="0B1E3D"/>
                </a:solidFill>
                <a:latin typeface="Arial"/>
              </a:rPr>
              <a:t>Поддержка и обновления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67999" y="5353200"/>
            <a:ext cx="475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3A4657"/>
                </a:solidFill>
                <a:latin typeface="Arial"/>
              </a:rPr>
              <a:t>Реакция разработчика на изменения нормативной базы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17999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7999"/>
            <a:ext cx="12192119" cy="32400"/>
          </a:xfrm>
          <a:prstGeom prst="rect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64800"/>
            <a:ext cx="794809" cy="79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88000" y="1512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5C142"/>
                </a:solidFill>
                <a:latin typeface="Arial"/>
              </a:rPr>
              <a:t>РАЗДЕЛ 10 · ВЫВОДЫ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000" y="342000"/>
            <a:ext cx="97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100" b="1" i="0">
                <a:solidFill>
                  <a:srgbClr val="FFFFFF"/>
                </a:solidFill>
                <a:latin typeface="Arial"/>
              </a:rPr>
              <a:t>Рекомендуемая схема комплексирования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000" y="691200"/>
            <a:ext cx="97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 i="0">
                <a:solidFill>
                  <a:srgbClr val="B9CCE4"/>
                </a:solidFill>
                <a:latin typeface="Arial"/>
              </a:rPr>
              <a:t>Структура нормы сама диктует связку продуктов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8000"/>
            <a:ext cx="12192119" cy="360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2000" y="6577200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00" b="0" i="0">
                <a:solidFill>
                  <a:srgbClr val="8A96A5"/>
                </a:solidFill>
                <a:latin typeface="Arial"/>
              </a:rPr>
              <a:t>ФГУП «Военизированная горноспасательная часть» · Обзор программ для инженерных расчётов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40119" y="6577200"/>
            <a:ext cx="7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1" i="0">
                <a:solidFill>
                  <a:srgbClr val="1B4F91"/>
                </a:solidFill>
                <a:latin typeface="Arial"/>
              </a:rPr>
              <a:t>18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6000" y="1584000"/>
            <a:ext cx="11088000" cy="1404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76000" y="1584000"/>
            <a:ext cx="64800" cy="1404000"/>
          </a:xfrm>
          <a:prstGeom prst="rect">
            <a:avLst/>
          </a:prstGeom>
          <a:solidFill>
            <a:srgbClr val="1B4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0000" y="1764000"/>
            <a:ext cx="378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0B1E3D"/>
                </a:solidFill>
                <a:latin typeface="Arial"/>
              </a:rPr>
              <a:t>Уровень предприятия (служба ВТБ)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000" y="2321999"/>
            <a:ext cx="2736000" cy="396000"/>
          </a:xfrm>
          <a:prstGeom prst="rect">
            <a:avLst/>
          </a:prstGeom>
          <a:solidFill>
            <a:srgbClr val="1B4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0000" y="2411999"/>
            <a:ext cx="273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АэроСеть / «Вентиляция»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8000" y="1908000"/>
            <a:ext cx="648000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 i="0">
                <a:solidFill>
                  <a:srgbClr val="3A4657"/>
                </a:solidFill>
                <a:latin typeface="Arial"/>
              </a:rPr>
              <a:t>Ведение цифровой модели вентиляционной сети (передаётся ВГСЧ по п. 26), депрессионные съёмки, разработка ПЛА, вариантные проработки аварийных режимов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6000" y="3096000"/>
            <a:ext cx="11088000" cy="1404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76000" y="3096000"/>
            <a:ext cx="64800" cy="1404000"/>
          </a:xfrm>
          <a:prstGeom prst="rect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000" y="3276000"/>
            <a:ext cx="378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0B1E3D"/>
                </a:solidFill>
                <a:latin typeface="Arial"/>
              </a:rPr>
              <a:t>Уровень командного пункта ВГСЧ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0000" y="3833999"/>
            <a:ext cx="2736000" cy="396000"/>
          </a:xfrm>
          <a:prstGeom prst="rect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0000" y="3923999"/>
            <a:ext cx="273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ПВ-Система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68000" y="3420000"/>
            <a:ext cx="648000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 i="0">
                <a:solidFill>
                  <a:srgbClr val="3A4657"/>
                </a:solidFill>
                <a:latin typeface="Arial"/>
              </a:rPr>
              <a:t>Оперативные расчёты Приложения № 11: взрывоопасность атмосферы, проёмы и параметры перемычек; формирование приложений к оперативному плану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6000" y="4608000"/>
            <a:ext cx="11088000" cy="1404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76000" y="4608000"/>
            <a:ext cx="64800" cy="140400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0000" y="4788000"/>
            <a:ext cx="378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0B1E3D"/>
                </a:solidFill>
                <a:latin typeface="Arial"/>
              </a:rPr>
              <a:t>Уровень анализа и обучения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000" y="5345999"/>
            <a:ext cx="2736000" cy="39600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000" y="5435999"/>
            <a:ext cx="273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MineFrame / 3D-модели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68000" y="4932000"/>
            <a:ext cx="648000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 i="0">
                <a:solidFill>
                  <a:srgbClr val="3A4657"/>
                </a:solidFill>
                <a:latin typeface="Arial"/>
              </a:rPr>
              <a:t>Разбор аварий, тренировки, подготовка респираторщиков и ИТР, наглядная проработка маршрутов движения отделений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6000" y="6156000"/>
            <a:ext cx="11088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 i="0">
                <a:solidFill>
                  <a:srgbClr val="0B1E3D"/>
                </a:solidFill>
                <a:latin typeface="Arial"/>
              </a:rPr>
              <a:t>Ни один продукт не закрывает п. 26 целиком — не по недоработке рынка, а потому что норма содержит две разные группы расчётов.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17999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7999"/>
            <a:ext cx="12192119" cy="32400"/>
          </a:xfrm>
          <a:prstGeom prst="rect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64800"/>
            <a:ext cx="794809" cy="79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88000" y="1512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5C142"/>
                </a:solidFill>
                <a:latin typeface="Arial"/>
              </a:rPr>
              <a:t>РАЗДЕЛ 10 · ВЫВОДЫ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000" y="342000"/>
            <a:ext cx="97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100" b="1" i="0">
                <a:solidFill>
                  <a:srgbClr val="FFFFFF"/>
                </a:solidFill>
                <a:latin typeface="Arial"/>
              </a:rPr>
              <a:t>Выводы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000" y="691200"/>
            <a:ext cx="97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 i="0">
                <a:solidFill>
                  <a:srgbClr val="B9CCE4"/>
                </a:solidFill>
                <a:latin typeface="Arial"/>
              </a:rPr>
              <a:t>Итоги проведённого обзора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8000"/>
            <a:ext cx="12192119" cy="360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2000" y="6577200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00" b="0" i="0">
                <a:solidFill>
                  <a:srgbClr val="8A96A5"/>
                </a:solidFill>
                <a:latin typeface="Arial"/>
              </a:rPr>
              <a:t>ФГУП «Военизированная горноспасательная часть» · Обзор программ для инженерных расчётов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40119" y="6577200"/>
            <a:ext cx="7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1" i="0">
                <a:solidFill>
                  <a:srgbClr val="1B4F91"/>
                </a:solidFill>
                <a:latin typeface="Arial"/>
              </a:rPr>
              <a:t>19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6000" y="1548000"/>
            <a:ext cx="324000" cy="324000"/>
          </a:xfrm>
          <a:prstGeom prst="rect">
            <a:avLst/>
          </a:prstGeom>
          <a:solidFill>
            <a:srgbClr val="1B4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00" y="1605600"/>
            <a:ext cx="32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0000" y="1566000"/>
            <a:ext cx="10512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 i="0">
                <a:solidFill>
                  <a:srgbClr val="3A4657"/>
                </a:solidFill>
                <a:latin typeface="Arial"/>
              </a:rPr>
              <a:t>Пункт 26 Инструкции № 520 содержит два абзаца: первый отсылает к Приложению № 11, второй прямо предписывает выполнять пять видов расчётов на ЭВМ.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6000" y="2214000"/>
            <a:ext cx="324000" cy="324000"/>
          </a:xfrm>
          <a:prstGeom prst="rect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00" y="2271600"/>
            <a:ext cx="32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0000" y="2232000"/>
            <a:ext cx="10512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 i="0">
                <a:solidFill>
                  <a:srgbClr val="3A4657"/>
                </a:solidFill>
                <a:latin typeface="Arial"/>
              </a:rPr>
              <a:t>Приложение № 11 включает ТРИ расчёта: взрывоопасность рудничной атмосферы, проёмы в изоляционных перемычках, параметры водоупорных перемычек.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6000" y="2880000"/>
            <a:ext cx="324000" cy="324000"/>
          </a:xfrm>
          <a:prstGeom prst="rect">
            <a:avLst/>
          </a:prstGeom>
          <a:solidFill>
            <a:srgbClr val="1B4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6000" y="2937600"/>
            <a:ext cx="32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0000" y="2898000"/>
            <a:ext cx="10512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 i="0">
                <a:solidFill>
                  <a:srgbClr val="3A4657"/>
                </a:solidFill>
                <a:latin typeface="Arial"/>
              </a:rPr>
              <a:t>Норма закрепляет обязанность ОПО предоставлять модели топологии горных выработок — это основание требовать их при заключении договора на обслуживание.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6000" y="3546000"/>
            <a:ext cx="324000" cy="324000"/>
          </a:xfrm>
          <a:prstGeom prst="rect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00" y="3603600"/>
            <a:ext cx="32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0000" y="3564000"/>
            <a:ext cx="10512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 i="0">
                <a:solidFill>
                  <a:srgbClr val="3A4657"/>
                </a:solidFill>
                <a:latin typeface="Arial"/>
              </a:rPr>
              <a:t>«АэроСеть» закрывает расчёты абзаца 2, но не реализует методики Приложения № 11; «Вентиляция» экономичнее, но покрывает сценарии частично.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6000" y="4212000"/>
            <a:ext cx="324000" cy="324000"/>
          </a:xfrm>
          <a:prstGeom prst="rect">
            <a:avLst/>
          </a:prstGeom>
          <a:solidFill>
            <a:srgbClr val="1B4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6000" y="4269600"/>
            <a:ext cx="32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0000" y="4230000"/>
            <a:ext cx="10512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 i="0">
                <a:solidFill>
                  <a:srgbClr val="3A4657"/>
                </a:solidFill>
                <a:latin typeface="Arial"/>
              </a:rPr>
              <a:t>«ПВ-Система» напрямую реализует все три расчёта Приложения № 11 в оперативном формате работы командного пункта.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6000" y="4878000"/>
            <a:ext cx="324000" cy="324000"/>
          </a:xfrm>
          <a:prstGeom prst="rect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00" y="4935600"/>
            <a:ext cx="32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0000" y="4896000"/>
            <a:ext cx="10512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 i="0">
                <a:solidFill>
                  <a:srgbClr val="3A4657"/>
                </a:solidFill>
                <a:latin typeface="Arial"/>
              </a:rPr>
              <a:t>Зарубежные комплексы технически сильны, но неприменимы по нормативным, санкционным и методическим причинам.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76000" y="5544000"/>
            <a:ext cx="324000" cy="324000"/>
          </a:xfrm>
          <a:prstGeom prst="rect">
            <a:avLst/>
          </a:prstGeom>
          <a:solidFill>
            <a:srgbClr val="1B4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6000" y="5601600"/>
            <a:ext cx="32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0000" y="5562000"/>
            <a:ext cx="10512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 i="0">
                <a:solidFill>
                  <a:srgbClr val="3A4657"/>
                </a:solidFill>
                <a:latin typeface="Arial"/>
              </a:rPr>
              <a:t>Приказ № 520 действует до 1 января 2027 г. — при планировании закупок следует учитывать предстоящую смену нормативной базы.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17999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7999"/>
            <a:ext cx="12192119" cy="32400"/>
          </a:xfrm>
          <a:prstGeom prst="rect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64800"/>
            <a:ext cx="794809" cy="79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88000" y="1512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1" i="0">
                <a:solidFill>
                  <a:srgbClr val="F5C142"/>
                </a:solidFill>
                <a:latin typeface="Arial"/>
              </a:rPr>
              <a:t>РАЗДЕЛ 10 · РЕКОМЕНДАЦИИ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000" y="342000"/>
            <a:ext cx="97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100" b="1" i="0">
                <a:solidFill>
                  <a:srgbClr val="FFFFFF"/>
                </a:solidFill>
                <a:latin typeface="Arial"/>
              </a:rPr>
              <a:t>Практические рекомендации подразделениям ВГСЧ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000" y="691200"/>
            <a:ext cx="97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 i="0">
                <a:solidFill>
                  <a:srgbClr val="B9CCE4"/>
                </a:solidFill>
                <a:latin typeface="Arial"/>
              </a:rPr>
              <a:t>Предлагаемый план мероприятий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8000"/>
            <a:ext cx="12192119" cy="360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2000" y="6577200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00" b="0" i="0">
                <a:solidFill>
                  <a:srgbClr val="8A96A5"/>
                </a:solidFill>
                <a:latin typeface="Arial"/>
              </a:rPr>
              <a:t>ФГУП «Военизированная горноспасательная часть» · Обзор программ для инженерных расчётов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40119" y="6577200"/>
            <a:ext cx="7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1" i="0">
                <a:solidFill>
                  <a:srgbClr val="1B4F91"/>
                </a:solidFill>
                <a:latin typeface="Arial"/>
              </a:rPr>
              <a:t>20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6000" y="1548000"/>
            <a:ext cx="3546000" cy="1998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76000" y="1548000"/>
            <a:ext cx="3546000" cy="45000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4000" y="1673999"/>
            <a:ext cx="3131999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Инвентаризация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4000" y="2178000"/>
            <a:ext cx="3131999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 i="0">
                <a:solidFill>
                  <a:srgbClr val="3A4657"/>
                </a:solidFill>
                <a:latin typeface="Arial"/>
              </a:rPr>
              <a:t>Провести оценку расчётных средств, применяемых в отряде, на соответствие обоим абзацам п. 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7999" y="1548000"/>
            <a:ext cx="3546000" cy="1998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7999" y="1548000"/>
            <a:ext cx="3546000" cy="450000"/>
          </a:xfrm>
          <a:prstGeom prst="rect">
            <a:avLst/>
          </a:prstGeom>
          <a:solidFill>
            <a:srgbClr val="C7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5999" y="1673999"/>
            <a:ext cx="3131999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Истребование моделей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5999" y="2178000"/>
            <a:ext cx="3131999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 i="0">
                <a:solidFill>
                  <a:srgbClr val="3A4657"/>
                </a:solidFill>
                <a:latin typeface="Arial"/>
              </a:rPr>
              <a:t>Согласовать с обслуживаемыми ОПО передачу моделей топологии горных выработок — прямая обязанность по п. 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9998" y="1548000"/>
            <a:ext cx="3546000" cy="1998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99998" y="1548000"/>
            <a:ext cx="3546000" cy="450000"/>
          </a:xfrm>
          <a:prstGeom prst="rect">
            <a:avLst/>
          </a:prstGeom>
          <a:solidFill>
            <a:srgbClr val="1B4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97998" y="1673999"/>
            <a:ext cx="3131999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Оснащение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7998" y="2178000"/>
            <a:ext cx="3131999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 i="0">
                <a:solidFill>
                  <a:srgbClr val="3A4657"/>
                </a:solidFill>
                <a:latin typeface="Arial"/>
              </a:rPr>
              <a:t>Обеспечить каждый оперативный взвод автономным расчётным комплексом на защищённом ноутбуке командного пункта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6000" y="3744000"/>
            <a:ext cx="3546000" cy="1998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76000" y="3744000"/>
            <a:ext cx="3546000" cy="450000"/>
          </a:xfrm>
          <a:prstGeom prst="rect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4000" y="3869999"/>
            <a:ext cx="3131999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Подготовка кадров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4000" y="4374000"/>
            <a:ext cx="3131999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 i="0">
                <a:solidFill>
                  <a:srgbClr val="3A4657"/>
                </a:solidFill>
                <a:latin typeface="Arial"/>
              </a:rPr>
              <a:t>Включить работу с расчётным ПО в программу подготовки командиров отделений и инженеров технического отделения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37999" y="3744000"/>
            <a:ext cx="3546000" cy="1998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37999" y="3744000"/>
            <a:ext cx="3546000" cy="450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35999" y="3869999"/>
            <a:ext cx="3131999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Тренировки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35999" y="4374000"/>
            <a:ext cx="3131999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 i="0">
                <a:solidFill>
                  <a:srgbClr val="3A4657"/>
                </a:solidFill>
                <a:latin typeface="Arial"/>
              </a:rPr>
              <a:t>Отрабатывать расчёты в ходе учебных тревог и плановых проверок ПЛА на обслуживаемых объектах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99998" y="3744000"/>
            <a:ext cx="3546000" cy="1998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99998" y="3744000"/>
            <a:ext cx="3546000" cy="450000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97998" y="3869999"/>
            <a:ext cx="3131999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Методическое сопровождение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7998" y="4374000"/>
            <a:ext cx="3131999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 i="0">
                <a:solidFill>
                  <a:srgbClr val="3A4657"/>
                </a:solidFill>
                <a:latin typeface="Arial"/>
              </a:rPr>
              <a:t>Вести реестр выполненных расчётов и анализировать расхождения расчёта с фактической обстановкой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57600"/>
          </a:xfrm>
          <a:prstGeom prst="rect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0059" y="864000"/>
            <a:ext cx="2239915" cy="223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40000" y="3384000"/>
            <a:ext cx="9312119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Благодарю за внимание</a:t>
            </a:r>
          </a:p>
        </p:txBody>
      </p:sp>
      <p:sp>
        <p:nvSpPr>
          <p:cNvPr id="6" name="Rectangle 5"/>
          <p:cNvSpPr/>
          <p:nvPr/>
        </p:nvSpPr>
        <p:spPr>
          <a:xfrm>
            <a:off x="5196059" y="4176000"/>
            <a:ext cx="1800000" cy="32400"/>
          </a:xfrm>
          <a:prstGeom prst="rect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40000" y="4464000"/>
            <a:ext cx="9312119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500" b="0" i="0">
                <a:solidFill>
                  <a:srgbClr val="C8D8EE"/>
                </a:solidFill>
                <a:latin typeface="Arial"/>
              </a:rPr>
              <a:t>ФГУП «Военизированная горноспасательная часть»</a:t>
            </a:r>
          </a:p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500" b="0" i="0">
                <a:solidFill>
                  <a:srgbClr val="C8D8EE"/>
                </a:solidFill>
                <a:latin typeface="Arial"/>
              </a:rPr>
              <a:t>Копейский военизированный горноспасательный отряд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0000" y="5616000"/>
            <a:ext cx="93121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1" i="0">
                <a:solidFill>
                  <a:srgbClr val="F5C142"/>
                </a:solidFill>
                <a:latin typeface="Arial"/>
              </a:rPr>
              <a:t>Вопросы и обсуждение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