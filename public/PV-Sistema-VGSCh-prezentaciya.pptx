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2712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05672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28632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868680"/>
            <a:ext cx="1234440" cy="1234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304288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Arial"/>
              </a:rPr>
              <a:t>ПВ-Система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0">
                <a:solidFill>
                  <a:srgbClr val="7CB8FB"/>
                </a:solidFill>
                <a:latin typeface="Arial"/>
              </a:rPr>
              <a:t>Программный комплекс расчёта вентиляции, планов ликвидации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0">
                <a:solidFill>
                  <a:srgbClr val="7CB8FB"/>
                </a:solidFill>
                <a:latin typeface="Arial"/>
              </a:rPr>
              <a:t>аварий и противопожарной защиты рудников и шахт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498848"/>
            <a:ext cx="274320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36592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>
                <a:solidFill>
                  <a:srgbClr val="B8CAE6"/>
                </a:solidFill>
                <a:latin typeface="Arial"/>
              </a:rPr>
              <a:t>Материалы к рассмотрению о применении в структуре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>
                <a:solidFill>
                  <a:srgbClr val="B8CAE6"/>
                </a:solidFill>
                <a:latin typeface="Arial"/>
              </a:rPr>
              <a:t>ФГУП «Военизированная горноспасательная часть» МЧС России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704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8FABD4"/>
                </a:solidFill>
                <a:latin typeface="Arial"/>
              </a:rPr>
              <a:t>Версия 2.129 · сборка 23.08.2026 · отечественная разработка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Задача, которую решает комплекс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Горноспасатель принимает решение по данным, которых в аварии нет под рукой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Постановка задачи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35331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1F1F"/>
                </a:solidFill>
                <a:latin typeface="Arial"/>
              </a:rPr>
              <a:t>В момент аварии вентиляционная обстановка меняется быстрее, чем её успевают пересчитать. План ликвидации аварий свёрстан заранее и на бумаге, модель вентиляции лежит у рудника в отдельной программе, а расчёты пожара и маршрутов выхода делаются вручную.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95728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395728"/>
            <a:ext cx="64008" cy="1874519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569464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Данные разрознены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962656"/>
            <a:ext cx="297180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Схема вентиляции — у рудника, ПЛА — в документах,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расчёт пожара — в отдельных таблицах.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Свести их в аварии некогда.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2395728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2395728"/>
            <a:ext cx="64008" cy="187451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2569464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Обстановка меняется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962656"/>
            <a:ext cx="297180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Пожар меняет тягу, реверс переворачивает потоки.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Позиция, безопасная по плану, может оказаться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на пути дыма.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3" y="2395728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3" y="2395728"/>
            <a:ext cx="64008" cy="187451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569464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Проверка вручную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962656"/>
            <a:ext cx="2971800" cy="1142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Устойчивость проветривания и время выхода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считают на бумаге. Пересчитать десяток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сценариев за смену невозможно.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90288"/>
            <a:ext cx="11055096" cy="1572768"/>
          </a:xfrm>
          <a:prstGeom prst="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64008" cy="157276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731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3A6B"/>
                </a:solidFill>
                <a:latin typeface="Arial"/>
              </a:rPr>
              <a:t>Что предлагает ПВ-Система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3036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5A6372"/>
                </a:solidFill>
                <a:latin typeface="Arial"/>
              </a:rPr>
              <a:t>Одна рабочая модель рудника, в которой вентиляционная сеть, позиции ПЛА, очаг пожара, реверсивные режимы и маршруты выхода отделений считаются вместе. Сценарий проверяется за минуты — и в мирное время при согласовании ПЛА, и на учениях, и в оперативном штабе.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Что такое ПВ-Система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Единая среда расчёта вместо разрозненных инструментов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Назначение комплекса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35331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F1F1F"/>
                </a:solidFill>
                <a:latin typeface="Arial"/>
              </a:rPr>
              <a:t>Комплекс объединяет вентиляционную сеть рудника, противопожарный водопровод и план ликвидации аварий в одной модели. Изменение в схеме сразу отражается на воздухораспределении, устойчивости проветривания при пожаре и времени выхода людей.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95728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395728"/>
            <a:ext cx="64008" cy="1783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569464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Единая модель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962656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Узлы, выработки, вентиляторы, перемычки,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трубопроводы и позиции ПЛА живут в одном проекте.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2395728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2395728"/>
            <a:ext cx="64008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2569464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Расчёты по нормативам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962656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ФНиП № 505 и № 494, РД 15-11-2007,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методики ВНИМИ и ВостНИИ — по правилам,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а не «примерно».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3" y="2395728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3" y="2395728"/>
            <a:ext cx="64008" cy="1783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569464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Готовые документы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962656"/>
            <a:ext cx="2971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Таблицы воздухораспределения, акты устойчивости,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чертежи со штампом — Excel, печать, PDF.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443984"/>
            <a:ext cx="35204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443984"/>
            <a:ext cx="64008" cy="173736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617720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Работает офлайн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010912"/>
            <a:ext cx="297180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Настольная версия считает на рабочем месте.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Интернет не нужен — важно для режимных объектов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 подземных пунктов.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34256" y="4443984"/>
            <a:ext cx="35204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4256" y="4443984"/>
            <a:ext cx="64008" cy="173736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4617720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Российский продукт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5010912"/>
            <a:ext cx="297180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Разработка в РФ, СУБД PostgreSQL,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без иностранных сервисов и шрифтов.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Замещает Ventsim и зарубежные аналоги.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1583" y="4443984"/>
            <a:ext cx="35204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3" y="4443984"/>
            <a:ext cx="64008" cy="173736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4617720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Понятный интерфейс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5010912"/>
            <a:ext cx="297180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Привычная лента вкладок как в офисных программах.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Подготовка специалиста — 5 дней.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Функции комплекса для горноспасательной службы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От согласования ПЛА до оперативного расчёта в ходе ликвидации аварии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Применение в ВГСЧ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371600"/>
            <a:ext cx="11055096" cy="402336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721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Задача ВГСЧ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147218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Что делает ПВ-Система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2912" y="1472184"/>
            <a:ext cx="1911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Когда применяется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73936"/>
            <a:ext cx="11055096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856231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План ликвидации аварий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856231"/>
            <a:ext cx="5394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Позиции ПЛА, вентиляционные режимы, выноски и привязка к выработкам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1856231"/>
            <a:ext cx="19110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Согласование ПЛА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58568"/>
            <a:ext cx="11055096" cy="484632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340863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Реверсирование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2340863"/>
            <a:ext cx="5394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Расчёт сети при реверсе главных вентиляторов, проверка направлений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912" y="2340863"/>
            <a:ext cx="19110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ПЛА, учения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743200"/>
            <a:ext cx="11055096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825496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Пожар в выработке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2825496"/>
            <a:ext cx="5394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Мощность очага, тепловая депрессия, температура, СО и СО₂, задымление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2" y="2825496"/>
            <a:ext cx="19110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ПЛА, авария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227832"/>
            <a:ext cx="11055096" cy="484632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0128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Устойчивость проветривания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13632" y="3310128"/>
            <a:ext cx="5394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Критическая депрессия, опрокидывание струи, параллельные выработки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2" y="3310128"/>
            <a:ext cx="19110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ПЛА, экспертиза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712464"/>
            <a:ext cx="11055096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794760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Маршруты отделений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3632" y="3794760"/>
            <a:ext cx="5394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Расчёт путей с учётом видимости в дыму, время движения, запас О₂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3794760"/>
            <a:ext cx="19110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Авария, учения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197096"/>
            <a:ext cx="11055096" cy="484632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4279392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Вывод людей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3632" y="4279392"/>
            <a:ext cx="5394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Время выхода по маршрутам, зоны задымления и загазирования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4279392"/>
            <a:ext cx="19110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ПЛА, авария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681728"/>
            <a:ext cx="11055096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764024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Взрыв газа или ВВ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13632" y="4764024"/>
            <a:ext cx="5394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Зоны поражения по методике Садовского и ФНиП № 494, расчётное давление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2912" y="4764024"/>
            <a:ext cx="19110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Экспертиза, ПЛА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166360"/>
            <a:ext cx="11055096" cy="484632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248656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Проверка модели рудника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13632" y="5248656"/>
            <a:ext cx="5394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Депрессионная съёмка: сверка замеров с расчётом, поиск расхождений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82912" y="5248656"/>
            <a:ext cx="19110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Обследование объекта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650992"/>
            <a:ext cx="11055096" cy="4846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733288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Противопожарный водопровод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5733288"/>
            <a:ext cx="5394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Гидравлический расчёт сети труб, насосы, брандспойты, время подачи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82912" y="5733288"/>
            <a:ext cx="19110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Проект, проверка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Оперативная часть плана ликвидации аварий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Позиции ПЛА, вентиляционные режимы и виды аварий — на схеме, а не в приложении к тексту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ПЛА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64008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59105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Позиция ПЛА как объект схемы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984248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Номер, наименование, вид аварии и сценарий. Позиция привязана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к одной или нескольким выработкам — координаты выноски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считаются автоматически по привязанным выработкам.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Виды аварий: пожар, взрыв, внезапный выброс, загазирование.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417320"/>
            <a:ext cx="5349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1417320"/>
            <a:ext cx="64008" cy="2286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59105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Вентиляционные режимы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984248"/>
            <a:ext cx="4800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Четыре режима проветривания, включая аварийный.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Для каждого — свой расчёт воздухораспределения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 свой набор позиций.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Реверс главных вентиляторов проверяется расчётом,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а не предположением.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886200"/>
            <a:ext cx="5486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886200"/>
            <a:ext cx="64008" cy="2286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05993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Мероприятия и документы к позиции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453128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К каждой позиции прикрепляется файл: карточка мероприятий,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схема, инструкция. Всё хранится внутри проекта и уходит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вместе с ним — ничего не теряется при передаче.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Справочник типовых мероприятий — в комплекте.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4" y="3886200"/>
            <a:ext cx="53492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72784" y="3886200"/>
            <a:ext cx="64008" cy="22860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40599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Оформление плана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4453128"/>
            <a:ext cx="4800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Цвета и нумерация позиций, выноски, несколько указателей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на одну позицию. Печать плана и отдельных горизонтов,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экспорт в PDF и SVG, штампы по ГОСТ.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Готовый лист ПЛА выходит из программы.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Расчёт пожара в горной выработке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Тепловая депрессия, газовая обстановка и задымление — по двум методикам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Аварийные расчёты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3533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F1F1F"/>
                </a:solidFill>
                <a:latin typeface="Arial"/>
              </a:rPr>
              <a:t>Очаг пожара ставится на выработку как объект схемы. Дальше комплекс пересчитывает всю сеть с учётом теплового воздействия.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011680"/>
            <a:ext cx="3520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011680"/>
            <a:ext cx="64008" cy="2011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18541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Тепловая депрессия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578608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Две методики на выбор: по методике АэроСети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 нормативная по формулам 4.5–4.13 ФНиП.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Расчёт температуры газового потока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по длине выработки.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2011680"/>
            <a:ext cx="3520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2011680"/>
            <a:ext cx="64008" cy="2011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218541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Газовая обстановка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578608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Концентрации СО и СО₂ по выработкам,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оптическая плотность дыма и дальность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видимости — исходные данные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для решения о вводе отделений.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3" y="2011680"/>
            <a:ext cx="35204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3" y="2011680"/>
            <a:ext cx="64008" cy="2011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18541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Влияние на сеть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578608"/>
            <a:ext cx="2971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Пересчёт расходов по всей сети: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видно, куда пойдёт дым и какие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выработки останутся пригодными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для передвижения.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224528"/>
            <a:ext cx="11055096" cy="1938528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0740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3A6B"/>
                </a:solidFill>
                <a:latin typeface="Arial"/>
              </a:rPr>
              <a:t>Что получает горноспасатель на выходе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928616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4846320"/>
            <a:ext cx="10040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Перечень выработок с опрокидыванием струи и потерей устойчивого проветривания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312664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5230368"/>
            <a:ext cx="10040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Карта задымления: где видимость падает ниже допустимой для движения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6967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7008" y="5614416"/>
            <a:ext cx="10040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Расчётное время, за которое дым доходит до конкретной позиции ПЛА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Устойчивость проветривания при пожаре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Критическая депрессия и опрокидывание струи — расчётом, а не оценкой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Аварийные расчёты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35331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F1F1F"/>
                </a:solidFill>
                <a:latin typeface="Arial"/>
              </a:rPr>
              <a:t>Комплекс определяет, выдержит ли вентиляционная схема тепловую депрессию пожара в заданной точке. Расчёт ведётся по нормативным формулам 5.3–5.5, с перебором направлений потока и поиском критического расхода.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103120"/>
            <a:ext cx="11055096" cy="402336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03703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Параметр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203703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Что определяется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203703"/>
            <a:ext cx="2642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Значение для ВГСЧ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05456"/>
            <a:ext cx="1105509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587751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Критическая депрессия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587751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Тепловая депрессия, при которой струя опрокидывается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2587751"/>
            <a:ext cx="26426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Граница безопасного режима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017520"/>
            <a:ext cx="11055096" cy="512064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99815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Опрокидывание струи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099815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Перечень выработок со сменой направления потока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3099815"/>
            <a:ext cx="26426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Куда нельзя вводить отделение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529584"/>
            <a:ext cx="1105509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611879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Параллельные выработки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3611879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Перераспределение воздуха между параллельными ветвями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3611879"/>
            <a:ext cx="26426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Риск загазирования соседей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41648"/>
            <a:ext cx="11055096" cy="512064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12394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Реверсивный режим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4123944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Перебор направлений, поиск критического расхода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2" y="4123944"/>
            <a:ext cx="26426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Обоснование команды на реверс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553712"/>
            <a:ext cx="11055096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63600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Естественная тяга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752" y="463600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Учёт плотности воздуха по температуре и влажности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4636008"/>
            <a:ext cx="26426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Точность в глубоких стволах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257800"/>
            <a:ext cx="11055096" cy="914400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6811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A3A6B"/>
                </a:solidFill>
                <a:latin typeface="Arial"/>
              </a:rPr>
              <a:t>Результат оформляется актом устойчивости проветривания — документом, который прикладывается к плану ликвидации аварий.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Маршруты отделений и вывод людей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Расчёт путей движения с учётом реальной обстановки в выработках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Спасательные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54864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64008" cy="2240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59105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Поиск маршрута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984248"/>
            <a:ext cx="49377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Кратчайший безопасный путь по сети выработок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рассчитывается алгоритмом Дейкстры с учётом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видимости в дыму: задымлённые участки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исключаются или штрафуются.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Маршрут строится по фактической топологии рудника.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417320"/>
            <a:ext cx="53492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1417320"/>
            <a:ext cx="64008" cy="22402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59105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Время и ресурсы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1984248"/>
            <a:ext cx="48006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Время движения по участкам маршрута,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сопоставление с нормативным временем,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оценка расхода кислорода респиратора.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Видно, укладывается ли отделение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 срок защитного действия.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886200"/>
            <a:ext cx="2606040" cy="146304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08736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Дейкстра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4727448"/>
            <a:ext cx="2350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Алгоритм поиска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безопасного пути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886200"/>
            <a:ext cx="2606040" cy="146304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408736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15803D"/>
                </a:solidFill>
                <a:latin typeface="Arial"/>
              </a:rPr>
              <a:t>O₂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4727448"/>
            <a:ext cx="2350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Контроль запаса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кислорода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3886200"/>
            <a:ext cx="2606040" cy="146304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408736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B45309"/>
                </a:solidFill>
                <a:latin typeface="Arial"/>
              </a:rPr>
              <a:t>Норматив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727448"/>
            <a:ext cx="2350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Сверка времени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с нормативным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15984" y="3886200"/>
            <a:ext cx="2606040" cy="146304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5984" y="408736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B91C1C"/>
                </a:solidFill>
                <a:latin typeface="Arial"/>
              </a:rPr>
              <a:t>Дым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727448"/>
            <a:ext cx="2350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Учёт видимости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по участкам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577840"/>
            <a:ext cx="11055096" cy="658368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75157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A6372"/>
                </a:solidFill>
                <a:latin typeface="Arial"/>
              </a:rPr>
              <a:t>Те же маршруты используются для расчёта времени вывода людей из аварийного участка.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Расчёт последствий взрыва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Зоны поражения по признанным методикам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Аварийные расчёты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63040"/>
            <a:ext cx="548640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63040"/>
            <a:ext cx="64008" cy="21488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63677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Источник взрыва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029968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Два варианта задания: взрывоопасная газовоздушная смесь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(объём и концентрация) либо масса взрывчатого вещества.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Источник привязывается к конкретной выработке схемы.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463040"/>
            <a:ext cx="5349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1463040"/>
            <a:ext cx="64008" cy="214884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63677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Методики расчёта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029968"/>
            <a:ext cx="48006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Метод Садовского и методика ФНиП № 494.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Определяются расчётное избыточное давление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 границы зон поражения.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Результат — на схеме рудника.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840480"/>
            <a:ext cx="11055096" cy="233172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4164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3A6B"/>
                </a:solidFill>
                <a:latin typeface="Arial"/>
              </a:rPr>
              <a:t>Что это даёт службе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581144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4498848"/>
            <a:ext cx="10040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Обоснование границ опасной зоны при разработке и экспертизе ПЛА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96519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4882896"/>
            <a:ext cx="10040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Оценка допустимости размещения позиций ПЛА и пунктов сбора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5266944"/>
            <a:ext cx="10040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Проверка достаточности принятых защитных мероприятий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733288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5650992"/>
            <a:ext cx="10040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Материал для разбора учений и служебных расследований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Расчёт вентиляционной 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Ядро комплекса: воздухораспределение по всему руднику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Расчётное ядро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35331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F1F1F"/>
                </a:solidFill>
                <a:latin typeface="Arial"/>
              </a:rPr>
              <a:t>Сеть решается итерационным методом контурных расходов. Сопротивление выработок считается по формуле Аткинсона с учётом формы сечения и типа поверхности крепи.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011680"/>
            <a:ext cx="11055096" cy="402336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1122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Раздел расчёта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11226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Что учитывается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112264"/>
            <a:ext cx="2642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Итог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414016"/>
            <a:ext cx="11055096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496312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Воздухораспределение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2496312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Метод контурных расходов, контроль сходимости по Q и 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2496312"/>
            <a:ext cx="26426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Расходы и депрессии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880360"/>
            <a:ext cx="11055096" cy="466344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962656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Сопротивление выработок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2962656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Формула Аткинсона, 9 типов поверхности по ВНИИГД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1392" y="2962656"/>
            <a:ext cx="26426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R по каждой выработке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46704"/>
            <a:ext cx="11055096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429000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Формы сечения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1" y="3429000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Круглое, прямоугольное, трапециевидное, арочное, произвольное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3429000"/>
            <a:ext cx="26426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Точная площадь и периметр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813048"/>
            <a:ext cx="11055096" cy="466344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895344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Вентиляторы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2191" y="3895344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Характеристики Q-H, КПД, углы лопаток, реверс, каталог моделей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2" y="3895344"/>
            <a:ext cx="26426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Рабочая точка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279392"/>
            <a:ext cx="11055096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361688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Перемычки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2191" y="4361688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Воздухопроницаемость и утечки через вентсооружения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4361688"/>
            <a:ext cx="26426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Реальные утечки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745736"/>
            <a:ext cx="11055096" cy="466344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828031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Вентставы (трубопроводы)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22191" y="4828031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Потери на 100 м, коэффициент доставки воздуха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1392" y="4828031"/>
            <a:ext cx="26426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Расход в забое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212079"/>
            <a:ext cx="11055096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294375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Нормирование воздуха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22191" y="5294375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Потребность по людям, технике, газам и пыли — ФНиП № 505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51392" y="5294375"/>
            <a:ext cx="26426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Проверка достаточности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678423"/>
            <a:ext cx="11055096" cy="466344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760719"/>
            <a:ext cx="28346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Естественная тяга и калориферы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22191" y="5760719"/>
            <a:ext cx="475488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Плотность по температуре и влажности, подогрев в стволе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1392" y="5760719"/>
            <a:ext cx="2642616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Сезонные режимы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Модель рудника не нужно рисовать заново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Комплекс читает проекты, которые уже есть у обслуживаемых предприятий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Импорт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35331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1F1F1F"/>
                </a:solidFill>
                <a:latin typeface="Arial"/>
              </a:rPr>
              <a:t>Это ключевой момент для горноспасательной службы: у каждого обслуживаемого рудника своя программа и своя модель. ПВ-Система принимает их напрямую, без перечерчивания схемы.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011680"/>
            <a:ext cx="11055096" cy="402336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1122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Источник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21122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112264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Что переносится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414016"/>
            <a:ext cx="11055096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496312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АэроСеть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5072" y="2496312"/>
            <a:ext cx="246888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проект .erp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496312"/>
            <a:ext cx="47457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Топология, сечения, сопротивления, расходы, слои, вентиляторы, перемычки, позиции ПЛА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16936"/>
            <a:ext cx="11055096" cy="50292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999232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АэроСеть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2999232"/>
            <a:ext cx="246888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выгрузка 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999232"/>
            <a:ext cx="47457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Выработки, узлы, вентиляторы, перемычки, позиции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419856"/>
            <a:ext cx="11055096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502152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Вентиляция 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3502152"/>
            <a:ext cx="246888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схема .cdf3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3502152"/>
            <a:ext cx="47457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Топология, горизонты, типы выработок, перемычки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922776"/>
            <a:ext cx="11055096" cy="50292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005072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Вентиляция 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4005072"/>
            <a:ext cx="246888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выгрузка .csv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4005072"/>
            <a:ext cx="47457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Выработки, узлы, вентиляторы, перемычки, позиции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425696"/>
            <a:ext cx="11055096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507992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Ventsim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05072" y="4507992"/>
            <a:ext cx="246888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модель .vsm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4507992"/>
            <a:ext cx="47457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Топология, сопротивления и расходы выработок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928616"/>
            <a:ext cx="11055096" cy="50292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010912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Ventsim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05072" y="5010912"/>
            <a:ext cx="246888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Branch Report 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8272" y="5010912"/>
            <a:ext cx="47457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Топология и параметры выработок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5431536"/>
            <a:ext cx="11055096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513831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Маркшейдерский чертёж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05072" y="5513831"/>
            <a:ext cx="246888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.dxf + Excel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5513831"/>
            <a:ext cx="4745736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Геометрия выработок и таблица параметров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742432"/>
            <a:ext cx="11055096" cy="658368"/>
          </a:xfrm>
          <a:prstGeom prst="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9161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A3A6B"/>
                </a:solidFill>
                <a:latin typeface="Arial"/>
              </a:rPr>
              <a:t>При импорте видно, сколько узлов, выработок, вентиляторов, перемычек и позиций ПЛА перенесено — перенос контролируется, а не принимается на веру.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Справочники и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Расчёт опирается на каталоги оборудования, а не на ручной ввод коэффициентов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Справочная база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3520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64008" cy="1920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59105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Вентиляторы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1984248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Каталог отечественных моделей ВЦ, ВОД, ВМП: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характеристики Q-H, КПД, углы лопаток,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реверсивные характеристики.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417320"/>
            <a:ext cx="3520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417320"/>
            <a:ext cx="64008" cy="19202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159105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Вентиляционные сооружения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1984248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Перемычки и их воздухопроницаемость,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окна, шлюзы, двери. Утечки считаются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по типу сооружения.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3" y="1417320"/>
            <a:ext cx="3520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1417320"/>
            <a:ext cx="64008" cy="1920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59105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Типы выработок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984248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Коэффициенты аэродинамического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сопротивления по типам крепи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 состоянию контура (ВНИИГД).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520440"/>
            <a:ext cx="3520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520440"/>
            <a:ext cx="64008" cy="192024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6941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Нормы расхода воздуха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087368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Нормативные потребности по людям,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технике, газовыделению и пыли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для проверки достаточности.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4256" y="3520440"/>
            <a:ext cx="3520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4256" y="3520440"/>
            <a:ext cx="64008" cy="192024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36941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Датчики и мероприятия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4087368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Датчики газа и дыма, справочник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типовых мероприятий ПЛА.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01583" y="3520440"/>
            <a:ext cx="3520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01583" y="3520440"/>
            <a:ext cx="64008" cy="192024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36941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Водоснабжение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087368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Насосы, трубопроводы, потребители воды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 брандспойты для расчёта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противопожарного водопровода.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669280"/>
            <a:ext cx="11055096" cy="658368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84301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372"/>
                </a:solidFill>
                <a:latin typeface="Arial"/>
              </a:rPr>
              <a:t>Справочники пополняются под конкретные объекты обслуживания — состав каталогов настраивается при внедрении.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Документы на выходе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Результат расчёта — не картинка на экране, а готовый к подписи материал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Оформление результатов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63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63040"/>
            <a:ext cx="64008" cy="2194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63677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Чертежи и планы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029968"/>
            <a:ext cx="493776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Печать плана рудника и отдельных горизонтов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 заданном масштабе, с раскладкой на листы.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Экспорт в PDF и SVG. Штампы по ГОСТ.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Виды: план, фронт, профиль, объёмная схема.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463040"/>
            <a:ext cx="53492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1463040"/>
            <a:ext cx="64008" cy="21945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63677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Таблицы и расчёты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029968"/>
            <a:ext cx="480060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Выгрузка в Excel: воздухораспределение,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параметры выработок, результаты расчётов,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перечень позиций ПЛА.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Данные пригодны для включения в отчёт.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886200"/>
            <a:ext cx="11055096" cy="228600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3A6B"/>
                </a:solidFill>
                <a:latin typeface="Arial"/>
              </a:rPr>
              <a:t>Материалы, которые можно готовить в комплексе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626864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4544568"/>
            <a:ext cx="46451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30" b="0">
                <a:solidFill>
                  <a:srgbClr val="1F1F1F"/>
                </a:solidFill>
                <a:latin typeface="Arial"/>
              </a:rPr>
              <a:t>Графическая часть плана ликвидации аварий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0109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4928616"/>
            <a:ext cx="46451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30" b="0">
                <a:solidFill>
                  <a:srgbClr val="1F1F1F"/>
                </a:solidFill>
                <a:latin typeface="Arial"/>
              </a:rPr>
              <a:t>Акт устойчивости проветривания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394959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5312664"/>
            <a:ext cx="46451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30" b="0">
                <a:solidFill>
                  <a:srgbClr val="1F1F1F"/>
                </a:solidFill>
                <a:latin typeface="Arial"/>
              </a:rPr>
              <a:t>Таблица воздухораспределения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4626864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4544568"/>
            <a:ext cx="46451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30" b="0">
                <a:solidFill>
                  <a:srgbClr val="1F1F1F"/>
                </a:solidFill>
                <a:latin typeface="Arial"/>
              </a:rPr>
              <a:t>Материалы депрессионной съёмки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501091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4928616"/>
            <a:ext cx="46451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30" b="0">
                <a:solidFill>
                  <a:srgbClr val="1F1F1F"/>
                </a:solidFill>
                <a:latin typeface="Arial"/>
              </a:rPr>
              <a:t>Расчёт зон поражения при взрыве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394959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5312664"/>
            <a:ext cx="46451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30" b="0">
                <a:solidFill>
                  <a:srgbClr val="1F1F1F"/>
                </a:solidFill>
                <a:latin typeface="Arial"/>
              </a:rPr>
              <a:t>Схема противопожарного водопровода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Нормативная база расчётов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Каждая формула привязана к действующему документу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Нормативное обеспечение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1237976" cy="402336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5179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Документ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517904"/>
            <a:ext cx="7123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Что из него применяется в комплексе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819656"/>
            <a:ext cx="1123797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901952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ФНиП № 505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901952"/>
            <a:ext cx="71231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Нормирование расхода воздуха, требования к проветриванию горных выработок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386584"/>
            <a:ext cx="11237976" cy="566928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468879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ФНиП № 494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68879"/>
            <a:ext cx="71231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Расчёт зон поражения при взрыве, требования промышленной безопасности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53512"/>
            <a:ext cx="1123797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035808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РД 15-11-2007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035808"/>
            <a:ext cx="71231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Методика расчёта устойчивости проветривания и тепловой депрессии пожара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520440"/>
            <a:ext cx="11237976" cy="566928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602736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Методики ВНИМИ и ВостНИИ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602736"/>
            <a:ext cx="71231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Расчётные зависимости по аэродинамике и аварийным режимам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087368"/>
            <a:ext cx="1123797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69663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Справочник ВНИИГД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169663"/>
            <a:ext cx="71231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Коэффициенты аэродинамического сопротивления по типам выработок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654296"/>
            <a:ext cx="11237976" cy="566928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736592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3A6B"/>
                </a:solidFill>
                <a:latin typeface="Arial"/>
              </a:rPr>
              <a:t>Метод Садовского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736592"/>
            <a:ext cx="71231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A6372"/>
                </a:solidFill>
                <a:latin typeface="Arial"/>
              </a:rPr>
              <a:t>Расчёт избыточного давления при взрыве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257800"/>
            <a:ext cx="11055096" cy="914400"/>
          </a:xfrm>
          <a:prstGeom prst="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45896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A3A6B"/>
                </a:solidFill>
                <a:latin typeface="Arial"/>
              </a:rPr>
              <a:t>В расчётных модулях указаны номера применяемых формул. Результат можно проверить вручную по первоисточнику — это снимает вопросы при экспертизе и согласовании.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Информационная безопасность и импортозамещение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Требования к программному обеспечению режимного объекта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Безопасность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63040"/>
            <a:ext cx="35204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63040"/>
            <a:ext cx="64008" cy="21031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6367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Работа без интернета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029968"/>
            <a:ext cx="297180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Настольная версия выполняет все расчёты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локально на рабочем месте.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Данные о руднике не покидают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периметр организации.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35204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463040"/>
            <a:ext cx="64008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16367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Отечественная разработка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029968"/>
            <a:ext cx="297180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Программа разработана в России.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Замещает Ventsim и другие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зарубежные комплексы,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поставка которых ограничена.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3" y="1463040"/>
            <a:ext cx="35204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1463040"/>
            <a:ext cx="64008" cy="210312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6367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Свободный стек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029968"/>
            <a:ext cx="297180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Без иностранных облачных сервисов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 внешних шрифтов. СУБД PostgreSQL.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Возможна установка в закрытом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контуре организации.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794760"/>
            <a:ext cx="11055096" cy="237744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9592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A3A6B"/>
                </a:solidFill>
                <a:latin typeface="Arial"/>
              </a:rPr>
              <a:t>Почему это существенно для ФГУП ВГСЧ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535424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453128"/>
            <a:ext cx="100401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Модели обслуживаемых рудников относятся к сведениям ограниченного распространения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937760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4855464"/>
            <a:ext cx="100401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Отсутствует зависимость от лицензий и обновлений иностранных правообладателей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5340096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5257800"/>
            <a:ext cx="100401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Отсутствует риск отзыва лицензии или прекращения технической поддержки извне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5742432"/>
            <a:ext cx="118872" cy="11887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" y="5660136"/>
            <a:ext cx="100401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1F1F1F"/>
                </a:solidFill>
                <a:latin typeface="Arial"/>
              </a:rPr>
              <a:t>Комплекс работает в подземных и удалённых пунктах, где связи нет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Порядок внедрения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Предлагаемая последовательность работ от пилота до промышленной эксплуатации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Внедрение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17320"/>
            <a:ext cx="1105509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17320"/>
            <a:ext cx="64008" cy="8961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1627632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709928"/>
            <a:ext cx="475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57276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3A6B"/>
                </a:solidFill>
                <a:latin typeface="Arial"/>
              </a:rPr>
              <a:t>Пилот на одном объекте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1920240"/>
            <a:ext cx="9692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Импорт действующей модели обслуживаемого рудника, проверка расчёта на фактических данных депрессионной съёмки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404872"/>
            <a:ext cx="1105509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404872"/>
            <a:ext cx="64008" cy="89611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2615184"/>
            <a:ext cx="475488" cy="47548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697479"/>
            <a:ext cx="475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256032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3A6B"/>
                </a:solidFill>
                <a:latin typeface="Arial"/>
              </a:rPr>
              <a:t>Проверка на ПЛА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2907791"/>
            <a:ext cx="9692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Перенос действующего плана ликвидации аварий, сверка расчётных режимов с утверждёнными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392424"/>
            <a:ext cx="1105509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392424"/>
            <a:ext cx="64008" cy="8961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3602736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685032"/>
            <a:ext cx="475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54787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3A6B"/>
                </a:solidFill>
                <a:latin typeface="Arial"/>
              </a:rPr>
              <a:t>Обучение специалистов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895344"/>
            <a:ext cx="9692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Подготовка расчётной группы — 5 дней. Методические материалы и руководство пользователя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379976"/>
            <a:ext cx="1105509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379976"/>
            <a:ext cx="64008" cy="89611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8680" y="4590288"/>
            <a:ext cx="475488" cy="475488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672584"/>
            <a:ext cx="475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2768" y="453542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3A6B"/>
                </a:solidFill>
                <a:latin typeface="Arial"/>
              </a:rPr>
              <a:t>Развёртывание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4882896"/>
            <a:ext cx="9692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Установка на рабочие места подразделений, настройка справочников под объекты обслуживания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367528"/>
            <a:ext cx="1105509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367528"/>
            <a:ext cx="64008" cy="896112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8680" y="5577840"/>
            <a:ext cx="475488" cy="475488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660136"/>
            <a:ext cx="475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72768" y="55229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A3A6B"/>
                </a:solidFill>
                <a:latin typeface="Arial"/>
              </a:rPr>
              <a:t>Сопровождение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5870448"/>
            <a:ext cx="9692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Техническая поддержка, обновления, доработка под задачи службы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Обучение и сопровождение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Комплекс рассчитан на инженера, а не на программиста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Поддержка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63040"/>
            <a:ext cx="2606040" cy="169164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6420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2563EB"/>
                </a:solidFill>
                <a:latin typeface="Arial"/>
              </a:rPr>
              <a:t>5 дней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304288"/>
            <a:ext cx="23500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Программа подготовки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специалиста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463040"/>
            <a:ext cx="2606040" cy="169164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66420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15803D"/>
                </a:solidFill>
                <a:latin typeface="Arial"/>
              </a:rPr>
              <a:t>Лента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304288"/>
            <a:ext cx="23500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Привычный интерфейс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офисных программ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463040"/>
            <a:ext cx="2606040" cy="169164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166420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B45309"/>
                </a:solidFill>
                <a:latin typeface="Arial"/>
              </a:rPr>
              <a:t>Русский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304288"/>
            <a:ext cx="23500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Интерфейс, документы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и справка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1463040"/>
            <a:ext cx="2606040" cy="169164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15984" y="166420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1A3A6B"/>
                </a:solidFill>
                <a:latin typeface="Arial"/>
              </a:rPr>
              <a:t>F9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304288"/>
            <a:ext cx="235000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Расчёт сети —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050" b="0">
                <a:solidFill>
                  <a:srgbClr val="5A6372"/>
                </a:solidFill>
                <a:latin typeface="Arial"/>
              </a:rPr>
              <a:t>одна клавиша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429000"/>
            <a:ext cx="5486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42900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60273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Что входит в поставку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3995928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Программа обучения на 5 дней, руководство пользователя,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техническая документация, справка по нормативным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методикам расчёта.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2784" y="3429000"/>
            <a:ext cx="5349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2784" y="3429000"/>
            <a:ext cx="64008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6027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Сопровождение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3995928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Обновления версий, консультации расчётной группы,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доработка справочников и форм документов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под требования службы.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029200"/>
            <a:ext cx="11055096" cy="1143000"/>
          </a:xfrm>
          <a:prstGeom prst="rect">
            <a:avLst/>
          </a:prstGeom>
          <a:solidFill>
            <a:srgbClr val="F3F7FC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3036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Кто работает в комплексе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235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372"/>
                </a:solidFill>
                <a:latin typeface="Arial"/>
              </a:rPr>
              <a:t>Инженеры расчётной группы ВГСЧ, специалисты по ПЛА, командный состав при подготовке учений и разборе аварий. Отдельных требований к вычислительной технике комплекс не предъявляет.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116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Предложение о применении в структуре ФГУП ВГСЧ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7CB8FB"/>
                </a:solidFill>
                <a:latin typeface="Arial"/>
              </a:rPr>
              <a:t>Что предлагается рассмотреть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926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A6BA0"/>
                </a:solidFill>
                <a:latin typeface="Arial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92824"/>
            <a:ext cx="7680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A6372"/>
                </a:solidFill>
                <a:latin typeface="Arial"/>
              </a:rPr>
              <a:t>Предложение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2872" y="659282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1A3A6B"/>
                </a:solidFill>
                <a:latin typeface="Arial"/>
              </a:rPr>
              <a:t>ПВ-Система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463040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63040"/>
            <a:ext cx="64008" cy="2194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6367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Пилотное применение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029968"/>
            <a:ext cx="297180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Развернуть комплекс в одном подразделении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на модели действующего обслуживаемого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рудника и оценить результат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на фактических данных.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463040"/>
            <a:ext cx="64008" cy="21945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16367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Оценка специалистами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029968"/>
            <a:ext cx="297180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Сверка расчётов комплекса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с действующими утверждёнными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материалами ПЛА и результатами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депрессионных съёмок.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3" y="1463040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1463040"/>
            <a:ext cx="64008" cy="2194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6367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1A3A6B"/>
                </a:solidFill>
                <a:latin typeface="Arial"/>
              </a:rPr>
              <a:t>Доработка под службу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029968"/>
            <a:ext cx="297180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Формы документов, справочники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и отчёты настраиваются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под требования и регламенты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30" b="0">
                <a:solidFill>
                  <a:srgbClr val="5A6372"/>
                </a:solidFill>
                <a:latin typeface="Arial"/>
              </a:rPr>
              <a:t>горноспасательной службы.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886200"/>
            <a:ext cx="11055096" cy="22860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886200"/>
            <a:ext cx="64008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114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Что получает служба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" y="4672583"/>
            <a:ext cx="118872" cy="118872"/>
          </a:xfrm>
          <a:prstGeom prst="ellipse">
            <a:avLst/>
          </a:prstGeom>
          <a:solidFill>
            <a:srgbClr val="7CB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2728" y="4590288"/>
            <a:ext cx="9948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8CAE6"/>
                </a:solidFill>
                <a:latin typeface="Arial"/>
              </a:rPr>
              <a:t>Единый расчётный инструмент для всех обслуживаемых объектов, независимо от их программ</a:t>
            </a:r>
          </a:p>
        </p:txBody>
      </p:sp>
      <p:sp>
        <p:nvSpPr>
          <p:cNvPr id="28" name="Oval 27"/>
          <p:cNvSpPr/>
          <p:nvPr/>
        </p:nvSpPr>
        <p:spPr>
          <a:xfrm>
            <a:off x="960120" y="5074920"/>
            <a:ext cx="118872" cy="118872"/>
          </a:xfrm>
          <a:prstGeom prst="ellipse">
            <a:avLst/>
          </a:prstGeom>
          <a:solidFill>
            <a:srgbClr val="7CB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52728" y="4992624"/>
            <a:ext cx="9948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8CAE6"/>
                </a:solidFill>
                <a:latin typeface="Arial"/>
              </a:rPr>
              <a:t>Проверяемое обоснование решений по вентиляционным режимам в аварии</a:t>
            </a:r>
          </a:p>
        </p:txBody>
      </p:sp>
      <p:sp>
        <p:nvSpPr>
          <p:cNvPr id="30" name="Oval 29"/>
          <p:cNvSpPr/>
          <p:nvPr/>
        </p:nvSpPr>
        <p:spPr>
          <a:xfrm>
            <a:off x="960120" y="5477256"/>
            <a:ext cx="118872" cy="118872"/>
          </a:xfrm>
          <a:prstGeom prst="ellipse">
            <a:avLst/>
          </a:prstGeom>
          <a:solidFill>
            <a:srgbClr val="7CB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2728" y="5394960"/>
            <a:ext cx="9948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8CAE6"/>
                </a:solidFill>
                <a:latin typeface="Arial"/>
              </a:rPr>
              <a:t>Сокращение сроков подготовки и экспертизы планов ликвидации аварий</a:t>
            </a:r>
          </a:p>
        </p:txBody>
      </p:sp>
      <p:sp>
        <p:nvSpPr>
          <p:cNvPr id="32" name="Oval 31"/>
          <p:cNvSpPr/>
          <p:nvPr/>
        </p:nvSpPr>
        <p:spPr>
          <a:xfrm>
            <a:off x="960120" y="5879592"/>
            <a:ext cx="118872" cy="118872"/>
          </a:xfrm>
          <a:prstGeom prst="ellipse">
            <a:avLst/>
          </a:prstGeom>
          <a:solidFill>
            <a:srgbClr val="7CB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52728" y="5797296"/>
            <a:ext cx="99486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8CAE6"/>
                </a:solidFill>
                <a:latin typeface="Arial"/>
              </a:rPr>
              <a:t>Отечественное программное обеспечение без зависимости от иностранных поставщиков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2712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05672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28632" y="0"/>
            <a:ext cx="457200" cy="6858000"/>
          </a:xfrm>
          <a:prstGeom prst="rect">
            <a:avLst/>
          </a:prstGeom>
          <a:solidFill>
            <a:srgbClr val="21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05840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4688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Готовы к пилотному внедрению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20440"/>
            <a:ext cx="274320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B8CAE6"/>
                </a:solidFill>
                <a:latin typeface="Arial"/>
              </a:rPr>
              <a:t>Предлагаем провести демонстрацию комплекса на модели действующего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>
                <a:solidFill>
                  <a:srgbClr val="B8CAE6"/>
                </a:solidFill>
                <a:latin typeface="Arial"/>
              </a:rPr>
              <a:t>рудника из зоны обслуживания и рассмотреть порядок опытной эксплуатации.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60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8FABD4"/>
                </a:solidFill>
                <a:latin typeface="Arial"/>
              </a:rPr>
              <a:t>ПВ-Система · версия 2.129 · сборка 23.08.2026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