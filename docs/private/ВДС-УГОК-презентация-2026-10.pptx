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t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017520"/>
            <a:ext cx="9326880" cy="36061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8C7D9"/>
                </a:solidFill>
                <a:latin typeface="Arial"/>
              </a:rPr>
              <a:t>МЧС РОССИИ · ФИЛИАЛ «КОПЕЙСКИЙ ВГСО» ФГУП «ВГСЧ» · СЛУЖБА ДЕПРЕССИОННЫХ СЪЁМОК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Воздушно-депрессионная съёмка
и профилактическое обследование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3C08A"/>
                </a:solidFill>
                <a:latin typeface="Arial"/>
              </a:rPr>
              <a:t>Рудник «Учалинское» и «Ново-Учалинское» месторождения АО «Учалинский ГОК» · выводы и рекомендации по улучшению проветривания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8C7D9"/>
                </a:solidFill>
                <a:latin typeface="Arial"/>
              </a:rPr>
              <a:t>Обследования 09, 16 и 23 октября 2026 г. · модель вентиляционной сети «АэроСеть» на 01.10.2026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Исходные данные и объём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Что проанализировано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45920"/>
            <a:ext cx="2651760" cy="1417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1645920"/>
            <a:ext cx="64008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" y="1737360"/>
            <a:ext cx="23774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3A5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" y="2395728"/>
            <a:ext cx="23774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акта профилактического обследования: 09, 16 и 23 октября 2026 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45920"/>
            <a:ext cx="2651760" cy="1417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645920"/>
            <a:ext cx="64008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737360"/>
            <a:ext cx="23774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Arial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395728"/>
            <a:ext cx="23774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нарушений и замечаний выявлено по трём актам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645920"/>
            <a:ext cx="2651760" cy="1417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45920"/>
            <a:ext cx="64008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1737360"/>
            <a:ext cx="23774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3A5F"/>
                </a:solidFill>
                <a:latin typeface="Arial"/>
              </a:rPr>
              <a:t>2 026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395728"/>
            <a:ext cx="23774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ветвей (выработок) в модели «АэроСеть», 32 слоя-горизонта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645920"/>
            <a:ext cx="2651760" cy="1417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1645920"/>
            <a:ext cx="64008" cy="14173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737360"/>
            <a:ext cx="23774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26A12"/>
                </a:solidFill>
                <a:latin typeface="Arial"/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395728"/>
            <a:ext cx="23774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замерных станций с замерами расхода в модели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83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Состав обследования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3794760"/>
            <a:ext cx="548640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Проветривание горных выработок по маршрутам профилактического обследования, 09:00–14:00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Замеры расхода воздуха и утечек через вентиляционные сооружения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Сверка модели «АэроСеть» с фактическим состоянием сети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Анализ модели: баланс воздуха, ГВУ и ВМП, сопоставление расчётных расходов с замерами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Участники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94760"/>
            <a:ext cx="539496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1">
                <a:solidFill>
                  <a:srgbClr val="222B36"/>
                </a:solidFill>
                <a:latin typeface="Arial"/>
              </a:rPr>
              <a:t>С. Г. Ипатов</a:t>
            </a:r>
            <a:r>
              <a:rPr sz="1400" b="0">
                <a:solidFill>
                  <a:srgbClr val="222B36"/>
                </a:solidFill>
                <a:latin typeface="Arial"/>
              </a:rPr>
              <a:t> — командир взвода СДС филиала «Копейский ВГСО»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1">
                <a:solidFill>
                  <a:srgbClr val="222B36"/>
                </a:solidFill>
                <a:latin typeface="Arial"/>
              </a:rPr>
              <a:t>Э. А. Шарипов</a:t>
            </a:r>
            <a:r>
              <a:rPr sz="1400" b="0">
                <a:solidFill>
                  <a:srgbClr val="222B36"/>
                </a:solidFill>
                <a:latin typeface="Arial"/>
              </a:rPr>
              <a:t> — заместитель командира взвода СДС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1">
                <a:solidFill>
                  <a:srgbClr val="222B36"/>
                </a:solidFill>
                <a:latin typeface="Arial"/>
              </a:rPr>
              <a:t>А. О. Старостин</a:t>
            </a:r>
            <a:r>
              <a:rPr sz="1400" b="0">
                <a:solidFill>
                  <a:srgbClr val="222B36"/>
                </a:solidFill>
                <a:latin typeface="Arial"/>
              </a:rPr>
              <a:t> — начальник ПВС рудника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С актами ознакомлен: </a:t>
            </a:r>
            <a:r>
              <a:rPr sz="1400" b="1">
                <a:solidFill>
                  <a:srgbClr val="222B36"/>
                </a:solidFill>
                <a:latin typeface="Arial"/>
              </a:rPr>
              <a:t>М. Г. Алексеев</a:t>
            </a:r>
            <a:r>
              <a:rPr sz="1400" b="0">
                <a:solidFill>
                  <a:srgbClr val="222B36"/>
                </a:solidFill>
                <a:latin typeface="Arial"/>
              </a:rPr>
              <a:t> — главный инженер рудника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Схема проветривания рудника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Модель «АэроСеть» на 01.10.2026 — расход воздуха по выработкам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00200"/>
            <a:ext cx="7589520" cy="4709160"/>
          </a:xfrm>
          <a:prstGeom prst="rect">
            <a:avLst/>
          </a:prstGeom>
          <a:solidFill>
            <a:srgbClr val="0F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t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280"/>
            <a:ext cx="7498079" cy="28990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60" y="1600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Главное по сети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3383280" cy="4389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3 ГВУ:</a:t>
            </a:r>
            <a:r>
              <a:rPr sz="1350" b="0">
                <a:solidFill>
                  <a:srgbClr val="222B36"/>
                </a:solidFill>
                <a:latin typeface="Arial"/>
              </a:rPr>
              <a:t> ВО-30 (ТНС 0–144), ВО-32 (подъездные выработки гор. 180 м), ВОД-40 (канал клетевого ствола, калорифер)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≈577 м³/с</a:t>
            </a:r>
            <a:r>
              <a:rPr sz="1350" b="0">
                <a:solidFill>
                  <a:srgbClr val="222B36"/>
                </a:solidFill>
                <a:latin typeface="Arial"/>
              </a:rPr>
              <a:t> — суммарный расход через рудник по модели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≈35 ВМП</a:t>
            </a:r>
            <a:r>
              <a:rPr sz="1350" b="0">
                <a:solidFill>
                  <a:srgbClr val="222B36"/>
                </a:solidFill>
                <a:latin typeface="Arial"/>
              </a:rPr>
              <a:t> (ВМ-6, ВМ-12, ВМЭВВ-14), часть — «толкачи» в сквозных выработках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0">
                <a:solidFill>
                  <a:srgbClr val="222B36"/>
                </a:solidFill>
                <a:latin typeface="Arial"/>
              </a:rPr>
              <a:t>Горизонты от гор. 120 м до гор. 1170 м; нижняя часть проветривается через ствол «Скипо-клетевой»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Выявленные нарушения по видам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19 пунктов в трёх актах — ПБ, утв. приказом Ростехнадзора № 505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pic>
        <p:nvPicPr>
          <p:cNvPr id="10" name="Picture 9" descr="c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96637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6459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Что это значит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057400"/>
            <a:ext cx="4206240" cy="4297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Треть замечаний — утечки:</a:t>
            </a:r>
            <a:r>
              <a:rPr sz="1350" b="0">
                <a:solidFill>
                  <a:srgbClr val="222B36"/>
                </a:solidFill>
                <a:latin typeface="Arial"/>
              </a:rPr>
              <a:t> воздух уходит мимо рабочих зон через порванный брезент, уплотнители, открытые двери и шлюзы (п. 168)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Тупиковые забои</a:t>
            </a:r>
            <a:r>
              <a:rPr sz="1350" b="0">
                <a:solidFill>
                  <a:srgbClr val="222B36"/>
                </a:solidFill>
                <a:latin typeface="Arial"/>
              </a:rPr>
              <a:t> — рукав отстаёт более чем на 15 м, есть разрывы (п. 182, 168)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Распределение воздуха:</a:t>
            </a:r>
            <a:r>
              <a:rPr sz="1350" b="0">
                <a:solidFill>
                  <a:srgbClr val="222B36"/>
                </a:solidFill>
                <a:latin typeface="Arial"/>
              </a:rPr>
              <a:t> где-то избыток в 5 раз, где-то дефицит до 66 % (п. 151)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Модель «АэроСеть»</a:t>
            </a:r>
            <a:r>
              <a:rPr sz="1350" b="0">
                <a:solidFill>
                  <a:srgbClr val="222B36"/>
                </a:solidFill>
                <a:latin typeface="Arial"/>
              </a:rPr>
              <a:t> не отражает фактическую сеть — на неё нельзя опираться при расчётах и ПЛА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Утечки воздуха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Замеры утечек через вентиляционные сооружения, акт 09.10.2026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pic>
        <p:nvPicPr>
          <p:cNvPr id="10" name="Picture 9" descr="l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206240" cy="1463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645920"/>
            <a:ext cx="64008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73736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Arial"/>
              </a:rPr>
              <a:t>97,9 м³/с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395728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суммарные замеренные утечки — около 17 % всего воздуха рудника по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337560"/>
            <a:ext cx="420624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0">
                <a:solidFill>
                  <a:srgbClr val="222B36"/>
                </a:solidFill>
                <a:latin typeface="Arial"/>
              </a:rPr>
              <a:t>Самые крупные — </a:t>
            </a:r>
            <a:r>
              <a:rPr sz="1350" b="1">
                <a:solidFill>
                  <a:srgbClr val="222B36"/>
                </a:solidFill>
                <a:latin typeface="Arial"/>
              </a:rPr>
              <a:t>шлюз вент. сбойки гор. 740 м</a:t>
            </a:r>
            <a:r>
              <a:rPr sz="1350" b="0">
                <a:solidFill>
                  <a:srgbClr val="222B36"/>
                </a:solidFill>
                <a:latin typeface="Arial"/>
              </a:rPr>
              <a:t> (второй шлюз не работает) и </a:t>
            </a:r>
            <a:r>
              <a:rPr sz="1350" b="1">
                <a:solidFill>
                  <a:srgbClr val="222B36"/>
                </a:solidFill>
                <a:latin typeface="Arial"/>
              </a:rPr>
              <a:t>лифтовый восстающий №2</a:t>
            </a:r>
            <a:r>
              <a:rPr sz="1350" b="0">
                <a:solidFill>
                  <a:srgbClr val="222B36"/>
                </a:solidFill>
                <a:latin typeface="Arial"/>
              </a:rPr>
              <a:t> (порванный брезент)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0">
                <a:solidFill>
                  <a:srgbClr val="222B36"/>
                </a:solidFill>
                <a:latin typeface="Arial"/>
              </a:rPr>
              <a:t>Ещё утечки: двери клетевого ствола, тамбур-шлюз ВО-30, открытая створка двери у ствола СКС гор. 1170 м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0">
                <a:solidFill>
                  <a:srgbClr val="222B36"/>
                </a:solidFill>
                <a:latin typeface="Arial"/>
              </a:rPr>
              <a:t>Устранение утечек — </a:t>
            </a:r>
            <a:r>
              <a:rPr sz="1350" b="1">
                <a:solidFill>
                  <a:srgbClr val="222B36"/>
                </a:solidFill>
                <a:latin typeface="Arial"/>
              </a:rPr>
              <a:t>самый дешёвый резерв воздуха</a:t>
            </a:r>
            <a:r>
              <a:rPr sz="1350" b="0">
                <a:solidFill>
                  <a:srgbClr val="222B36"/>
                </a:solidFill>
                <a:latin typeface="Arial"/>
              </a:rPr>
              <a:t>: его хватает, чтобы закрыть дефициты на нижних горизонтах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Распределение воздуха по участкам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Требуемый (Qр) и фактический (Qф) расход, п. 151 ПБ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pic>
        <p:nvPicPr>
          <p:cNvPr id="10" name="Picture 9" descr="def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645920"/>
            <a:ext cx="4206240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ПОМ гор. 380 м — избыток 520 %:</a:t>
            </a:r>
            <a:r>
              <a:rPr sz="1350" b="0">
                <a:solidFill>
                  <a:srgbClr val="222B36"/>
                </a:solidFill>
                <a:latin typeface="Arial"/>
              </a:rPr>
              <a:t> 57,2 м³/с вместо 11,0. Это воздух, которого не хватает ниже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Наклонный съезд ниже гор. 740 м — дефицит 38 %:</a:t>
            </a:r>
            <a:r>
              <a:rPr sz="1350" b="0">
                <a:solidFill>
                  <a:srgbClr val="222B36"/>
                </a:solidFill>
                <a:latin typeface="Arial"/>
              </a:rPr>
              <a:t> 18,0 м³/с при норме не менее 29,0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1">
                <a:solidFill>
                  <a:srgbClr val="222B36"/>
                </a:solidFill>
                <a:latin typeface="Arial"/>
              </a:rPr>
              <a:t>Вент. наклонный съезд гор. 890–930 м — дефицит 66 %:</a:t>
            </a:r>
            <a:r>
              <a:rPr sz="1350" b="0">
                <a:solidFill>
                  <a:srgbClr val="222B36"/>
                </a:solidFill>
                <a:latin typeface="Arial"/>
              </a:rPr>
              <a:t> 10,0 м³/с при норме не менее 29,0; в модели здесь всего ≈1 м³/с и обратное направление струи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C26A12"/>
                </a:solidFill>
                <a:latin typeface="Arial"/>
              </a:rPr>
              <a:t>▪ </a:t>
            </a:r>
            <a:r>
              <a:rPr sz="1350" b="0">
                <a:solidFill>
                  <a:srgbClr val="222B36"/>
                </a:solidFill>
                <a:latin typeface="Arial"/>
              </a:rPr>
              <a:t>Перераспределение избытка ПОМ гор. 380 м (≈45 м³/с) и устранение утечек покрывают общий дефицит ≈30 м³/с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Тупиковые забои и проветривание после взрывных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Пункты 182 и 168 ПБ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7" y="1645920"/>
          <a:ext cx="11155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480560"/>
                <a:gridCol w="3474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Место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Нарушение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Риск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Вент. наклонный съезд гор. 0–144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Отставание рукава &gt; 15 м, разрыв рукава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Застой газов ВР в призабойной зоне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Тупиковый орт гор. 1010 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Отставание рукава &gt; 15 м, разрыв рукава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Недостаток воздуха у забоя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Гор. 1090 м, проходческий забой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Газы после ВР отводятся не на исходящую струю, </a:t>
                      </a:r>
                      <a:r>
                        <a:rPr sz="1300" b="1">
                          <a:solidFill>
                            <a:srgbClr val="222B36"/>
                          </a:solidFill>
                          <a:latin typeface="Arial"/>
                        </a:rPr>
                        <a:t>CO выше ПДК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Arial"/>
                        </a:rPr>
                        <a:t>Отравление людей на свежей струе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1207" y="4206240"/>
            <a:ext cx="11155680" cy="2057400"/>
          </a:xfrm>
          <a:prstGeom prst="rect">
            <a:avLst/>
          </a:prstGeom>
          <a:solidFill>
            <a:srgbClr val="FB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4206240"/>
            <a:ext cx="64008" cy="2057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15968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Повторяется в двух актах подряд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27448"/>
            <a:ext cx="107899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Отставание и разрывы рукавов отмечены и 09.10 (гор. 0–144 м), и 23.10 (гор. 1010 м) — нарушение носит </a:t>
            </a:r>
            <a:r>
              <a:rPr sz="1400" b="1">
                <a:solidFill>
                  <a:srgbClr val="222B36"/>
                </a:solidFill>
                <a:latin typeface="Arial"/>
              </a:rPr>
              <a:t>системный характер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26A12"/>
                </a:solidFill>
                <a:latin typeface="Arial"/>
              </a:rPr>
              <a:t>▪ </a:t>
            </a:r>
            <a:r>
              <a:rPr sz="1400" b="0">
                <a:solidFill>
                  <a:srgbClr val="222B36"/>
                </a:solidFill>
                <a:latin typeface="Arial"/>
              </a:rPr>
              <a:t>Нужен ежесменный контроль става ВМП горным мастером и утверждённые паспорта проветривания тупиковых забоев с расчётом утечек и предельной длины става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Достоверность модели «АэроСеть»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Сравнение расчётных расходов с журналом замерных станций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pic>
        <p:nvPicPr>
          <p:cNvPr id="10" name="Picture 9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797973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Модель не соответствует руднику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303520" cy="4297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1">
                <a:solidFill>
                  <a:srgbClr val="222B36"/>
                </a:solidFill>
                <a:latin typeface="Arial"/>
              </a:rPr>
              <a:t>Только 8 из 48</a:t>
            </a:r>
            <a:r>
              <a:rPr sz="1300" b="0">
                <a:solidFill>
                  <a:srgbClr val="222B36"/>
                </a:solidFill>
                <a:latin typeface="Arial"/>
              </a:rPr>
              <a:t> замерных станций совпадают с моделью в пределах 20 %; на 24 станциях расхождение больше 50 %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В модель внесены </a:t>
            </a:r>
            <a:r>
              <a:rPr sz="1300" b="1">
                <a:solidFill>
                  <a:srgbClr val="222B36"/>
                </a:solidFill>
                <a:latin typeface="Arial"/>
              </a:rPr>
              <a:t>несуществующие перемычки</a:t>
            </a:r>
            <a:r>
              <a:rPr sz="1300" b="0">
                <a:solidFill>
                  <a:srgbClr val="222B36"/>
                </a:solidFill>
                <a:latin typeface="Arial"/>
              </a:rPr>
              <a:t>, чтобы подогнать расходы; материал перемычек не соответствует фактическому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1">
                <a:solidFill>
                  <a:srgbClr val="222B36"/>
                </a:solidFill>
                <a:latin typeface="Arial"/>
              </a:rPr>
              <a:t>Сечение ствола СВС</a:t>
            </a:r>
            <a:r>
              <a:rPr sz="1300" b="0">
                <a:solidFill>
                  <a:srgbClr val="222B36"/>
                </a:solidFill>
                <a:latin typeface="Arial"/>
              </a:rPr>
              <a:t> и </a:t>
            </a:r>
            <a:r>
              <a:rPr sz="1300" b="1">
                <a:solidFill>
                  <a:srgbClr val="222B36"/>
                </a:solidFill>
                <a:latin typeface="Arial"/>
              </a:rPr>
              <a:t>направление струи</a:t>
            </a:r>
            <a:r>
              <a:rPr sz="1300" b="0">
                <a:solidFill>
                  <a:srgbClr val="222B36"/>
                </a:solidFill>
                <a:latin typeface="Arial"/>
              </a:rPr>
              <a:t> на ВНС гор. 890–930 м не соответствуют факту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39 из 48 замеров — </a:t>
            </a:r>
            <a:r>
              <a:rPr sz="1300" b="1">
                <a:solidFill>
                  <a:srgbClr val="222B36"/>
                </a:solidFill>
                <a:latin typeface="Arial"/>
              </a:rPr>
              <a:t>от 30.04.2026</a:t>
            </a:r>
            <a:r>
              <a:rPr sz="1300" b="0">
                <a:solidFill>
                  <a:srgbClr val="222B36"/>
                </a:solidFill>
                <a:latin typeface="Arial"/>
              </a:rPr>
              <a:t>, данные не обновлялись полгода (п. 189)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У </a:t>
            </a:r>
            <a:r>
              <a:rPr sz="1300" b="1">
                <a:solidFill>
                  <a:srgbClr val="222B36"/>
                </a:solidFill>
                <a:latin typeface="Arial"/>
              </a:rPr>
              <a:t>251 ветви с расходом</a:t>
            </a:r>
            <a:r>
              <a:rPr sz="1300" b="0">
                <a:solidFill>
                  <a:srgbClr val="222B36"/>
                </a:solidFill>
                <a:latin typeface="Arial"/>
              </a:rPr>
              <a:t> не задано сечение — скорость воздуха в них не проверяется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ГВУ заданы </a:t>
            </a:r>
            <a:r>
              <a:rPr sz="1300" b="1">
                <a:solidFill>
                  <a:srgbClr val="222B36"/>
                </a:solidFill>
                <a:latin typeface="Arial"/>
              </a:rPr>
              <a:t>фиксированным расходом</a:t>
            </a:r>
            <a:r>
              <a:rPr sz="1300" b="0">
                <a:solidFill>
                  <a:srgbClr val="222B36"/>
                </a:solidFill>
                <a:latin typeface="Arial"/>
              </a:rPr>
              <a:t>, а не аэродинамической характеристикой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Главные вентиляторы и стволы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ВОД-40, ВМЭВВ-14 и ствол «Скипо-клетевой»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45920"/>
            <a:ext cx="3611880" cy="4617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1645920"/>
            <a:ext cx="3611880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1051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26A12"/>
                </a:solidFill>
                <a:latin typeface="Arial"/>
              </a:rPr>
              <a:t>ГВУ ВОД-40 (клетевой ствол)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60320"/>
            <a:ext cx="32918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Узкие решётки калорифера завышают сопротивление — вентилятор работает с повышенной депрессией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Порванная манжета ляды ствола: утечка </a:t>
            </a:r>
            <a:r>
              <a:rPr sz="1300" b="1">
                <a:solidFill>
                  <a:srgbClr val="222B36"/>
                </a:solidFill>
                <a:latin typeface="Arial"/>
              </a:rPr>
              <a:t>5,10 м³/с</a:t>
            </a:r>
            <a:r>
              <a:rPr sz="1300" b="0">
                <a:solidFill>
                  <a:srgbClr val="222B36"/>
                </a:solidFill>
                <a:latin typeface="Arial"/>
              </a:rPr>
              <a:t> мимо рудника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645920"/>
            <a:ext cx="3611880" cy="4617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645920"/>
            <a:ext cx="361188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81051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Ствол «Скипо-клетевой»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560320"/>
            <a:ext cx="32918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Ствол и канал ШСУ </a:t>
            </a:r>
            <a:r>
              <a:rPr sz="1300" b="1">
                <a:solidFill>
                  <a:srgbClr val="222B36"/>
                </a:solidFill>
                <a:latin typeface="Arial"/>
              </a:rPr>
              <a:t>закрыты</a:t>
            </a:r>
            <a:r>
              <a:rPr sz="1300" b="0">
                <a:solidFill>
                  <a:srgbClr val="222B36"/>
                </a:solidFill>
                <a:latin typeface="Arial"/>
              </a:rPr>
              <a:t> — высокое аэродинамическое сопротивление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Вентиляторы </a:t>
            </a:r>
            <a:r>
              <a:rPr sz="1300" b="1">
                <a:solidFill>
                  <a:srgbClr val="222B36"/>
                </a:solidFill>
                <a:latin typeface="Arial"/>
              </a:rPr>
              <a:t>ВМЭВВ-14 гор. 930/1090 м</a:t>
            </a:r>
            <a:r>
              <a:rPr sz="1300" b="0">
                <a:solidFill>
                  <a:srgbClr val="222B36"/>
                </a:solidFill>
                <a:latin typeface="Arial"/>
              </a:rPr>
              <a:t> работают с перегрузкой и быстро изнашиваются; по модели их напор ≈590 мм вод. ст.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645920"/>
            <a:ext cx="3611880" cy="46177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645920"/>
            <a:ext cx="3611880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81051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Arial"/>
              </a:rPr>
              <a:t>Сооружения у стволов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60320"/>
            <a:ext cx="32918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Гор. 1170 м, ствол СКС: </a:t>
            </a:r>
            <a:r>
              <a:rPr sz="1300" b="1">
                <a:solidFill>
                  <a:srgbClr val="222B36"/>
                </a:solidFill>
                <a:latin typeface="Arial"/>
              </a:rPr>
              <a:t>открыта створка двери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Вент. сбойка гор. 740 м: второй шлюз не работает, утечка </a:t>
            </a:r>
            <a:r>
              <a:rPr sz="1300" b="1">
                <a:solidFill>
                  <a:srgbClr val="222B36"/>
                </a:solidFill>
                <a:latin typeface="Arial"/>
              </a:rPr>
              <a:t>39,7 м³/с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6A12"/>
                </a:solidFill>
                <a:latin typeface="Arial"/>
              </a:rPr>
              <a:t>▪ </a:t>
            </a:r>
            <a:r>
              <a:rPr sz="1300" b="0">
                <a:solidFill>
                  <a:srgbClr val="222B36"/>
                </a:solidFill>
                <a:latin typeface="Arial"/>
              </a:rPr>
              <a:t>Тамбур-шлюз ВО-30 и двери клетевого ствола — утечки по модели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0584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325880"/>
            <a:ext cx="68580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85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325880"/>
            <a:ext cx="102412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222B36"/>
                </a:solidFill>
                <a:latin typeface="Arial"/>
              </a:rPr>
              <a:t>Общего количества воздуха хватает, но оно распределено неэффективно: избыток в ПОМ гор. 380 м при дефиците 38–66 % на гор. 740 м и 890–930 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2331720"/>
            <a:ext cx="68580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331720"/>
            <a:ext cx="685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31720"/>
            <a:ext cx="102412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222B36"/>
                </a:solidFill>
                <a:latin typeface="Arial"/>
              </a:rPr>
              <a:t>Утечки ≈98 м³/с (≈17 % воздуха) — главная причина нехватки воздуха на нижних горизонтах. Основные — шлюз гор. 740 м и лифтовый восстающий №2.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3337560"/>
            <a:ext cx="68580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3337560"/>
            <a:ext cx="685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37560"/>
            <a:ext cx="102412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222B36"/>
                </a:solidFill>
                <a:latin typeface="Arial"/>
              </a:rPr>
              <a:t>Нарушения в тупиковых забоях повторяются (09.10 и 23.10); на гор. 1090 м газы ВР выходят на свежую струю с CO выше ПДК — прямой риск для людей.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4343400"/>
            <a:ext cx="68580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4343400"/>
            <a:ext cx="685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43400"/>
            <a:ext cx="102412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222B36"/>
                </a:solidFill>
                <a:latin typeface="Arial"/>
              </a:rPr>
              <a:t>Закрытый ствол «Скипо-клетевой» и решётки калорифера ВОД-40 создают лишнее сопротивление и перегружают вентиляторы.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5349240"/>
            <a:ext cx="68580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5349240"/>
            <a:ext cx="685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49240"/>
            <a:ext cx="102412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222B36"/>
                </a:solidFill>
                <a:latin typeface="Arial"/>
              </a:rPr>
              <a:t>Модель «АэроСеть» подогнана и устарела: с замерами совпадает 1 станция из 6. Она непригодна для расчёта режимов, аварийного проветривания и ПЛА.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Рекомендации по улучшению проветривания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Три очереди мероприятий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45920"/>
            <a:ext cx="36118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45920"/>
            <a:ext cx="33832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Немедленно · до 7 дней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2148840"/>
            <a:ext cx="3611880" cy="42062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58568"/>
            <a:ext cx="3383280" cy="4069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Гор. 0–144 и 1010 м: подвесить рукав не далее 15 м от забоя, заменить порванные звенья, проверить расход у забоя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Гор. 1090 м: проветривание после ВР — только с отводом газов на исходящую; допуск людей после замера CO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Гор. 1170 м: закрыть двери у ствола СКС, установить доводчики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Заменить манжету ляды ствола ГВУ ВОД-40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645920"/>
            <a:ext cx="3611880" cy="5029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645920"/>
            <a:ext cx="33832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В течение месяца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2148840"/>
            <a:ext cx="3611880" cy="42062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258568"/>
            <a:ext cx="3383280" cy="4069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Восстановить второй шлюз вент. сбойки гор. 740 м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Лифтовый восстающий №2: заменить брезент жёсткой перемычкой; гор. 120 м — уплотнители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ПОМ гор. 380 м: регулятор (окно) до Qр ≈ 11–15 м³/с; воздух — на съезд ниже гор. 740 м и ВНС гор. 890–930 м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Ствол «Скипо-клетевой»: обеспечить проходное сечение ствола и канала по проекту; решётки калорифера ВОД-40 — очистить или расширить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645920"/>
            <a:ext cx="36118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645920"/>
            <a:ext cx="33832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Системно · 1–3 месяца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2148840"/>
            <a:ext cx="3611880" cy="42062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258568"/>
            <a:ext cx="3383280" cy="4069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Актуализировать модель: убрать несуществующие перемычки, материалы перемычек, сечение СВС, направление струи гор. 890–930 м, сечения 251 ветви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ГВУ — по аэродинамическим характеристикам и углам лопаток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Оборудовать замерные станции (п. 189), ежемесячно вносить замеры; цель — расхождение модели ≤ 20 %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26A12"/>
                </a:solidFill>
                <a:latin typeface="Arial"/>
              </a:rPr>
              <a:t>▪ </a:t>
            </a:r>
            <a:r>
              <a:rPr sz="1200" b="0">
                <a:solidFill>
                  <a:srgbClr val="222B36"/>
                </a:solidFill>
                <a:latin typeface="Arial"/>
              </a:rPr>
              <a:t>Провести полную ВДС с замером депрессий по маршрутам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Ожидаемый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После выполнения рекомендаций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32588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45920"/>
            <a:ext cx="3611880" cy="1508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1645920"/>
            <a:ext cx="64008" cy="1508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" y="1737360"/>
            <a:ext cx="33375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Arial"/>
              </a:rPr>
              <a:t>до 98 м³/с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" y="2395728"/>
            <a:ext cx="3337560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возвращается в рудник после устранения замеренных утечек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645920"/>
            <a:ext cx="3611880" cy="1508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645920"/>
            <a:ext cx="64008" cy="1508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737360"/>
            <a:ext cx="33375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Arial"/>
              </a:rPr>
              <a:t>≈45 м³/с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395728"/>
            <a:ext cx="3337560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освобождается при регулировании ПОМ гор. 380 м до расчётного расхода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645920"/>
            <a:ext cx="3611880" cy="1508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645920"/>
            <a:ext cx="64008" cy="1508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737360"/>
            <a:ext cx="33375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Arial"/>
              </a:rPr>
              <a:t>≥ 29 м³/с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395728"/>
            <a:ext cx="3337560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обеспечивается на съезде ниже гор. 740 м и на ВНС гор. 890–930 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34747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Arial"/>
              </a:rPr>
              <a:t>Кроме того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886200"/>
            <a:ext cx="11155680" cy="2468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26A12"/>
                </a:solidFill>
                <a:latin typeface="Arial"/>
              </a:rPr>
              <a:t>▪ </a:t>
            </a:r>
            <a:r>
              <a:rPr sz="1500" b="0">
                <a:solidFill>
                  <a:srgbClr val="222B36"/>
                </a:solidFill>
                <a:latin typeface="Arial"/>
              </a:rPr>
              <a:t>Безопасные условия в тупиковых забоях и после взрывных работ — устранение нарушений п. 182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26A12"/>
                </a:solidFill>
                <a:latin typeface="Arial"/>
              </a:rPr>
              <a:t>▪ </a:t>
            </a:r>
            <a:r>
              <a:rPr sz="1500" b="0">
                <a:solidFill>
                  <a:srgbClr val="222B36"/>
                </a:solidFill>
                <a:latin typeface="Arial"/>
              </a:rPr>
              <a:t>Снижение нагрузки и износа ВМЭВВ-14 гор. 930/1090 м и ГВУ ВОД-40 — меньше затрат на электроэнергию и ремонт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26A12"/>
                </a:solidFill>
                <a:latin typeface="Arial"/>
              </a:rPr>
              <a:t>▪ </a:t>
            </a:r>
            <a:r>
              <a:rPr sz="1500" b="0">
                <a:solidFill>
                  <a:srgbClr val="222B36"/>
                </a:solidFill>
                <a:latin typeface="Arial"/>
              </a:rPr>
              <a:t>Достоверная модель сети — основа для расчёта аварийных режимов, ПЛА и планирования горных работ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26A12"/>
                </a:solidFill>
                <a:latin typeface="Arial"/>
              </a:rPr>
              <a:t>▪ </a:t>
            </a:r>
            <a:r>
              <a:rPr sz="1500" b="0">
                <a:solidFill>
                  <a:srgbClr val="222B36"/>
                </a:solidFill>
                <a:latin typeface="Arial"/>
              </a:rPr>
              <a:t>Повторное профилактическое обследование — через месяц, для контроля выполнения мероприятий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Приложение. Перечень нарушений — акт 09.10.2026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0584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1207" y="123444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704088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Место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Нарушение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Вентиляционный наклонный съезд гор. 0-144м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Отставание рукава более 15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182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Вентиляционный наклонный съезд гор. 0-144м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Разрыв вентиляционного рукава. Утечка воздуха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Лифтовый восстающий №2 гор. 410-725м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Утечки через щели, порванный брезент в количестве 34,3 м³/с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Вент. сбойка гор. 740 м, шлюз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Второй шлюз в нерабочем состоянии; утечки через щели, уплотнители в количестве 39,7 м³/с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Гор. 120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Утечки через щели, уплотнители в количестве 18,8 м³/с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Гор. 1090 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Проветривание проходческого забоя осуществлено без отхода газов после взрывных работ на исходящую струю воздуха (скопление CO выше ПДК)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182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Гор. 1170 м ствол СКС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Открыта одна створка двери, положение дверей должно быть закрыто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Модель «АэроСеть»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Вентиляционная сеть не соответствует фактическому состоянию, модель подогнана до нужных значений установлением в модель не существующих перемычек. Вентиляционные перемычки по руднику не соответствуют их материалу изготовления и воздухопроницаемости, что влияет на аэродинамическое сопротивление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Замерные станции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Указанные замерные станции в топологии модели ПО «Аэросеть» - отсутствуют по руднику, за исключением: ЗС № 91, 97, 68, 94, в которых данные не обновлены и не соответствуют факту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Вентиляционная ляда ствола ГВУ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Утечка воздуха через порванные уплотнители (манжету) ГВУ ВОД-40 в количестве 5,10 м³/с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A5F"/>
                </a:solidFill>
                <a:latin typeface="Arial"/>
              </a:rPr>
              <a:t>Приложение. Перечень нарушений — акты 16.10 и 23.10.2026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C26A12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05840"/>
            <a:ext cx="914400" cy="45720"/>
          </a:xfrm>
          <a:prstGeom prst="rect">
            <a:avLst/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ВДС и профилактическое обследование · Рудник АО «Учалинский ГОК» ·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СДС филиала «Копейский ВГСО»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1207" y="123444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66751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Место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Нарушение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16.10 /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Пункт обслуживания машин гор. 380м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Превышение расчетного количества воздуха: Qр=11,0 м³/с, Qф=57,2 м³/с – 520%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16.10 / 2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Наклонный съезд ниже гор. 740 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Дефицит расчетного количества воздуха, Qр≥ 29,0 м³/с, Qф=18,0 м³/с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151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16.10 / 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Модель «АэроСеть»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Сечение ствола СВС не соответствует фактическому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16.10 / 4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Калорифер ГВУ ВОД-40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Завышено сопротивление через узкие решетки калорифера, что негативно влияет на работу ГВУ ВОД-40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23.10 /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Тупиковый орт гор. 1010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Отставание рукава более 15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182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23.10 / 2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Тупиковый орт гор. 1010 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Разрыв вентиляционного рукава. Утечка воздуха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168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23.10 / 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Вентиляционный наклонный съезд гор. 890-930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Дефицит расчетного количества воздуха, Qр ≥ 29,0 м³/с, Qф = 10,0 м³/с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23.10 / 4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Ствол и канал ствола «Скипо-клетевой» ШСУ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Закрыт, создавая высокое аэродинамическое сопротивление, нагрузку и быстрый износ для вентиляторов ВМЭВВ14 гор. 930/1090 м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п. 151</a:t>
                      </a:r>
                    </a:p>
                  </a:txBody>
                  <a:tcPr marL="64008" marR="64008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23.10 / 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Модель «АэроСеть», ВНС гор. 890–930 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Направление вентиляционной струи воздуха не соответствует фактическому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B3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